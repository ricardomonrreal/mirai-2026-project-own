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82" r:id="rId4"/>
    <p:sldId id="275" r:id="rId5"/>
    <p:sldId id="276" r:id="rId6"/>
    <p:sldId id="277" r:id="rId7"/>
    <p:sldId id="278" r:id="rId8"/>
    <p:sldId id="283" r:id="rId9"/>
    <p:sldId id="266" r:id="rId10"/>
    <p:sldId id="267" r:id="rId11"/>
    <p:sldId id="279" r:id="rId12"/>
    <p:sldId id="280" r:id="rId13"/>
    <p:sldId id="259" r:id="rId14"/>
    <p:sldId id="257" r:id="rId15"/>
    <p:sldId id="274" r:id="rId16"/>
    <p:sldId id="272" r:id="rId17"/>
    <p:sldId id="273" r:id="rId18"/>
    <p:sldId id="268" r:id="rId19"/>
    <p:sldId id="269" r:id="rId20"/>
    <p:sldId id="270" r:id="rId21"/>
    <p:sldId id="271" r:id="rId22"/>
    <p:sldId id="261" r:id="rId23"/>
  </p:sldIdLst>
  <p:sldSz cx="18288000" cy="10287000"/>
  <p:notesSz cx="6858000" cy="9144000"/>
  <p:embeddedFontLst>
    <p:embeddedFont>
      <p:font typeface="Calibri (MS)" panose="020B0604020202020204" charset="0"/>
      <p:regular r:id="rId24"/>
    </p:embeddedFont>
    <p:embeddedFont>
      <p:font typeface="Calibri (MS) Bold" panose="020B0604020202020204" charset="0"/>
      <p:regular r:id="rId25"/>
    </p:embeddedFont>
    <p:embeddedFont>
      <p:font typeface="Calibri (MS) Italics" panose="020B0604020202020204" charset="0"/>
      <p:regular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Cambria Bold" panose="02040803050406030204" pitchFamily="18" charset="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F95"/>
    <a:srgbClr val="E07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22" autoAdjust="0"/>
  </p:normalViewPr>
  <p:slideViewPr>
    <p:cSldViewPr>
      <p:cViewPr varScale="1">
        <p:scale>
          <a:sx n="43" d="100"/>
          <a:sy n="43" d="100"/>
        </p:scale>
        <p:origin x="94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40.jpeg"/><Relationship Id="rId7" Type="http://schemas.openxmlformats.org/officeDocument/2006/relationships/image" Target="../media/image44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3" Type="http://schemas.openxmlformats.org/officeDocument/2006/relationships/image" Target="../media/image47.jpeg"/><Relationship Id="rId7" Type="http://schemas.openxmlformats.org/officeDocument/2006/relationships/image" Target="../media/image51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eg"/><Relationship Id="rId5" Type="http://schemas.openxmlformats.org/officeDocument/2006/relationships/image" Target="../media/image49.svg"/><Relationship Id="rId10" Type="http://schemas.openxmlformats.org/officeDocument/2006/relationships/image" Target="../media/image54.jpeg"/><Relationship Id="rId4" Type="http://schemas.openxmlformats.org/officeDocument/2006/relationships/image" Target="../media/image48.jpeg"/><Relationship Id="rId9" Type="http://schemas.openxmlformats.org/officeDocument/2006/relationships/image" Target="../media/image53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image" Target="../media/image56.jpeg"/><Relationship Id="rId7" Type="http://schemas.openxmlformats.org/officeDocument/2006/relationships/image" Target="../media/image60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10" Type="http://schemas.openxmlformats.org/officeDocument/2006/relationships/image" Target="../media/image63.jpeg"/><Relationship Id="rId4" Type="http://schemas.openxmlformats.org/officeDocument/2006/relationships/image" Target="../media/image57.jpeg"/><Relationship Id="rId9" Type="http://schemas.openxmlformats.org/officeDocument/2006/relationships/image" Target="../media/image6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68.jpeg"/><Relationship Id="rId4" Type="http://schemas.openxmlformats.org/officeDocument/2006/relationships/image" Target="../media/image67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eg"/><Relationship Id="rId3" Type="http://schemas.openxmlformats.org/officeDocument/2006/relationships/image" Target="../media/image70.jpeg"/><Relationship Id="rId7" Type="http://schemas.openxmlformats.org/officeDocument/2006/relationships/image" Target="../media/image74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10" Type="http://schemas.openxmlformats.org/officeDocument/2006/relationships/image" Target="../media/image38.jpeg"/><Relationship Id="rId4" Type="http://schemas.openxmlformats.org/officeDocument/2006/relationships/image" Target="../media/image71.jpeg"/><Relationship Id="rId9" Type="http://schemas.openxmlformats.org/officeDocument/2006/relationships/image" Target="../media/image7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80.jpeg"/><Relationship Id="rId4" Type="http://schemas.openxmlformats.org/officeDocument/2006/relationships/image" Target="../media/image7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84.svg"/><Relationship Id="rId4" Type="http://schemas.openxmlformats.org/officeDocument/2006/relationships/image" Target="../media/image8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F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5458" y="1022985"/>
            <a:ext cx="5192678" cy="548640"/>
            <a:chOff x="0" y="0"/>
            <a:chExt cx="6923570" cy="73152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6923570" cy="731520"/>
              <a:chOff x="0" y="0"/>
              <a:chExt cx="6923570" cy="73152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923532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6923532" h="731520">
                    <a:moveTo>
                      <a:pt x="0" y="0"/>
                    </a:moveTo>
                    <a:lnTo>
                      <a:pt x="6923532" y="0"/>
                    </a:lnTo>
                    <a:lnTo>
                      <a:pt x="6923532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MX"/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3924" y="41910"/>
              <a:ext cx="6919646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en-US" sz="2625" b="1" spc="646">
                  <a:solidFill>
                    <a:srgbClr val="006F9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PROGRESS REPORT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65203" y="2296521"/>
            <a:ext cx="5853292" cy="585329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286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405913" y="3137230"/>
            <a:ext cx="4171873" cy="41718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043109" y="3694760"/>
            <a:ext cx="2897481" cy="2897481"/>
          </a:xfrm>
          <a:custGeom>
            <a:avLst/>
            <a:gdLst/>
            <a:ahLst/>
            <a:cxnLst/>
            <a:rect l="l" t="t" r="r" b="b"/>
            <a:pathLst>
              <a:path w="2897481" h="2897481">
                <a:moveTo>
                  <a:pt x="0" y="0"/>
                </a:moveTo>
                <a:lnTo>
                  <a:pt x="2897481" y="0"/>
                </a:lnTo>
                <a:lnTo>
                  <a:pt x="2897481" y="2897480"/>
                </a:lnTo>
                <a:lnTo>
                  <a:pt x="0" y="2897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3" name="TextBox 13"/>
          <p:cNvSpPr txBox="1"/>
          <p:nvPr/>
        </p:nvSpPr>
        <p:spPr>
          <a:xfrm>
            <a:off x="465687" y="2933700"/>
            <a:ext cx="9651759" cy="330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Closed-Loop  Neuroadaptive AR  Platform for </a:t>
            </a:r>
            <a:r>
              <a:rPr lang="en-US" sz="7200" b="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Scrolling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458" y="8656396"/>
            <a:ext cx="5539978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1" spc="64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RICARDO MONRREAL POOL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917324" y="781926"/>
            <a:ext cx="15500000" cy="981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Scope &amp; Framework</a:t>
            </a:r>
          </a:p>
        </p:txBody>
      </p:sp>
      <p:sp>
        <p:nvSpPr>
          <p:cNvPr id="102" name="Statement"/>
          <p:cNvSpPr txBox="1"/>
          <p:nvPr/>
        </p:nvSpPr>
        <p:spPr>
          <a:xfrm>
            <a:off x="900541" y="1900000"/>
            <a:ext cx="1648968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0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We measure the </a:t>
            </a: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cognitive cost</a:t>
            </a:r>
            <a:r>
              <a:rPr lang="en-US" sz="30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of scrolling</a:t>
            </a:r>
            <a:endParaRPr lang="en-US" sz="3000"/>
          </a:p>
        </p:txBody>
      </p:sp>
      <p:pic>
        <p:nvPicPr>
          <p:cNvPr id="103" name="montage" descr="mont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450" y="2669523"/>
            <a:ext cx="5741101" cy="5300000"/>
          </a:xfrm>
          <a:prstGeom prst="rect">
            <a:avLst/>
          </a:prstGeom>
          <a:ln w="19050">
            <a:solidFill>
              <a:srgbClr val="A8DCEC"/>
            </a:solidFill>
          </a:ln>
        </p:spPr>
      </p:pic>
      <p:sp>
        <p:nvSpPr>
          <p:cNvPr id="104" name="Badge"/>
          <p:cNvSpPr/>
          <p:nvPr/>
        </p:nvSpPr>
        <p:spPr>
          <a:xfrm>
            <a:off x="8423450" y="2794523"/>
            <a:ext cx="1000000" cy="1000000"/>
          </a:xfrm>
          <a:prstGeom prst="ellipse">
            <a:avLst/>
          </a:prstGeom>
          <a:solidFill>
            <a:srgbClr val="006F9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θ ↑</a:t>
            </a:r>
            <a:endParaRPr lang="en-US" sz="2600"/>
          </a:p>
        </p:txBody>
      </p:sp>
      <p:sp>
        <p:nvSpPr>
          <p:cNvPr id="105" name="Marker"/>
          <p:cNvSpPr txBox="1"/>
          <p:nvPr/>
        </p:nvSpPr>
        <p:spPr>
          <a:xfrm>
            <a:off x="9723450" y="2769523"/>
            <a:ext cx="5741101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Tonic theta  →  Fatigue</a:t>
            </a:r>
            <a:endParaRPr lang="en-US" sz="3000" dirty="0"/>
          </a:p>
          <a:p>
            <a:pPr algn="l">
              <a:spcAft>
                <a:spcPts val="0"/>
              </a:spcAft>
              <a:buNone/>
            </a:pPr>
            <a:r>
              <a:rPr lang="en-US" sz="21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Fz · FCz · F3 · F4</a:t>
            </a:r>
            <a:endParaRPr lang="en-US" sz="2100" dirty="0"/>
          </a:p>
        </p:txBody>
      </p:sp>
      <p:sp>
        <p:nvSpPr>
          <p:cNvPr id="106" name="Badge"/>
          <p:cNvSpPr/>
          <p:nvPr/>
        </p:nvSpPr>
        <p:spPr>
          <a:xfrm>
            <a:off x="8423450" y="4144523"/>
            <a:ext cx="1000000" cy="100000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α ↑</a:t>
            </a:r>
            <a:endParaRPr lang="en-US" sz="2600"/>
          </a:p>
        </p:txBody>
      </p:sp>
      <p:sp>
        <p:nvSpPr>
          <p:cNvPr id="107" name="Marker"/>
          <p:cNvSpPr txBox="1"/>
          <p:nvPr/>
        </p:nvSpPr>
        <p:spPr>
          <a:xfrm>
            <a:off x="9723450" y="4119523"/>
            <a:ext cx="5741101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Periodic alpha  →  Disengagement</a:t>
            </a:r>
            <a:endParaRPr lang="en-US" sz="3000" dirty="0"/>
          </a:p>
          <a:p>
            <a:pPr algn="l">
              <a:spcAft>
                <a:spcPts val="0"/>
              </a:spcAft>
              <a:buNone/>
            </a:pPr>
            <a:r>
              <a:rPr lang="en-US" sz="21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Pz · O1 · O2</a:t>
            </a:r>
            <a:endParaRPr lang="en-US" sz="2100" dirty="0"/>
          </a:p>
        </p:txBody>
      </p:sp>
      <p:sp>
        <p:nvSpPr>
          <p:cNvPr id="108" name="Badge"/>
          <p:cNvSpPr/>
          <p:nvPr/>
        </p:nvSpPr>
        <p:spPr>
          <a:xfrm>
            <a:off x="8423450" y="5494523"/>
            <a:ext cx="1000000" cy="1000000"/>
          </a:xfrm>
          <a:prstGeom prst="ellipse">
            <a:avLst/>
          </a:prstGeom>
          <a:solidFill>
            <a:srgbClr val="006F9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θ ↓</a:t>
            </a:r>
            <a:endParaRPr lang="en-US" sz="2600"/>
          </a:p>
        </p:txBody>
      </p:sp>
      <p:sp>
        <p:nvSpPr>
          <p:cNvPr id="109" name="Marker"/>
          <p:cNvSpPr txBox="1"/>
          <p:nvPr/>
        </p:nvSpPr>
        <p:spPr>
          <a:xfrm>
            <a:off x="9723450" y="5469523"/>
            <a:ext cx="681195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NoGo theta  →  Loss of inhibitory control</a:t>
            </a:r>
            <a:endParaRPr lang="en-US" sz="3000" dirty="0"/>
          </a:p>
          <a:p>
            <a:pPr algn="l">
              <a:spcAft>
                <a:spcPts val="0"/>
              </a:spcAft>
              <a:buNone/>
            </a:pPr>
            <a:r>
              <a:rPr lang="en-US" sz="21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Fz · FCz · phasic, after NoGo</a:t>
            </a:r>
            <a:endParaRPr lang="en-US" sz="2100" dirty="0"/>
          </a:p>
        </p:txBody>
      </p:sp>
      <p:sp>
        <p:nvSpPr>
          <p:cNvPr id="110" name="Badge"/>
          <p:cNvSpPr/>
          <p:nvPr/>
        </p:nvSpPr>
        <p:spPr>
          <a:xfrm>
            <a:off x="8423450" y="6844523"/>
            <a:ext cx="1000000" cy="1000000"/>
          </a:xfrm>
          <a:prstGeom prst="ellipse">
            <a:avLst/>
          </a:prstGeom>
          <a:solidFill>
            <a:srgbClr val="9AA5A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Fp1</a:t>
            </a:r>
            <a:endParaRPr lang="en-US" sz="2600"/>
          </a:p>
        </p:txBody>
      </p:sp>
      <p:sp>
        <p:nvSpPr>
          <p:cNvPr id="111" name="Marker"/>
          <p:cNvSpPr txBox="1"/>
          <p:nvPr/>
        </p:nvSpPr>
        <p:spPr>
          <a:xfrm>
            <a:off x="9723450" y="6819523"/>
            <a:ext cx="5741101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Blinks  →  Artifact veto</a:t>
            </a:r>
            <a:endParaRPr lang="en-US" sz="3000" dirty="0"/>
          </a:p>
          <a:p>
            <a:pPr algn="l">
              <a:spcAft>
                <a:spcPts val="0"/>
              </a:spcAft>
              <a:buNone/>
            </a:pPr>
            <a:r>
              <a:rPr lang="en-US" sz="21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Fp1</a:t>
            </a:r>
            <a:endParaRPr lang="en-US" sz="2100" dirty="0"/>
          </a:p>
        </p:txBody>
      </p:sp>
      <p:sp>
        <p:nvSpPr>
          <p:cNvPr id="112" name="Out of scope"/>
          <p:cNvSpPr/>
          <p:nvPr/>
        </p:nvSpPr>
        <p:spPr>
          <a:xfrm>
            <a:off x="900541" y="8250000"/>
            <a:ext cx="16489680" cy="95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250000" tIns="0" rIns="36576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 of scope: dopamine</a:t>
            </a:r>
            <a:r>
              <a:rPr lang="en-US" sz="24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 ·  VTA / striatum are unreachable by scalp EEG</a:t>
            </a:r>
            <a:endParaRPr lang="en-US" sz="2400"/>
          </a:p>
        </p:txBody>
      </p:sp>
      <p:pic>
        <p:nvPicPr>
          <p:cNvPr id="113" name="warn" descr="wa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541" y="8325000"/>
            <a:ext cx="800000" cy="800000"/>
          </a:xfrm>
          <a:prstGeom prst="rect">
            <a:avLst/>
          </a:prstGeom>
        </p:spPr>
      </p:pic>
      <p:sp>
        <p:nvSpPr>
          <p:cNvPr id="114" name="Slide number"/>
          <p:cNvSpPr txBox="1"/>
          <p:nvPr/>
        </p:nvSpPr>
        <p:spPr>
          <a:xfrm>
            <a:off x="17060513" y="9561557"/>
            <a:ext cx="198078" cy="3491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917324" y="781926"/>
            <a:ext cx="15500000" cy="981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Hypotheses</a:t>
            </a:r>
          </a:p>
        </p:txBody>
      </p:sp>
      <p:sp>
        <p:nvSpPr>
          <p:cNvPr id="102" name="Statement"/>
          <p:cNvSpPr txBox="1"/>
          <p:nvPr/>
        </p:nvSpPr>
        <p:spPr>
          <a:xfrm>
            <a:off x="900541" y="1900000"/>
            <a:ext cx="1648968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0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The original </a:t>
            </a: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time-based</a:t>
            </a:r>
            <a:r>
              <a:rPr lang="en-US" sz="30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model</a:t>
            </a:r>
            <a:endParaRPr lang="en-US" sz="3000"/>
          </a:p>
        </p:txBody>
      </p:sp>
      <p:pic>
        <p:nvPicPr>
          <p:cNvPr id="103" name="concept" descr="conce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1" y="3550000"/>
            <a:ext cx="9000000" cy="4500000"/>
          </a:xfrm>
          <a:prstGeom prst="rect">
            <a:avLst/>
          </a:prstGeom>
          <a:ln w="19050">
            <a:solidFill>
              <a:srgbClr val="A8DCEC"/>
            </a:solidFill>
          </a:ln>
        </p:spPr>
      </p:pic>
      <p:sp>
        <p:nvSpPr>
          <p:cNvPr id="104" name="Badge"/>
          <p:cNvSpPr/>
          <p:nvPr/>
        </p:nvSpPr>
        <p:spPr>
          <a:xfrm>
            <a:off x="10300541" y="2850000"/>
            <a:ext cx="1000000" cy="1000000"/>
          </a:xfrm>
          <a:prstGeom prst="ellipse">
            <a:avLst/>
          </a:prstGeom>
          <a:solidFill>
            <a:srgbClr val="006F9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H1</a:t>
            </a:r>
            <a:endParaRPr lang="en-US" sz="2600"/>
          </a:p>
        </p:txBody>
      </p:sp>
      <p:sp>
        <p:nvSpPr>
          <p:cNvPr id="105" name="Hypothesis"/>
          <p:cNvSpPr txBox="1"/>
          <p:nvPr/>
        </p:nvSpPr>
        <p:spPr>
          <a:xfrm>
            <a:off x="11550541" y="2700000"/>
            <a:ext cx="583968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25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Tonic θ / α ↑ more with scrolling than with a documentary</a:t>
            </a:r>
            <a:endParaRPr lang="en-US" sz="2500"/>
          </a:p>
          <a:p>
            <a:pPr algn="l"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Literature ✓ · datasets partial</a:t>
            </a:r>
            <a:endParaRPr lang="en-US" sz="2000"/>
          </a:p>
        </p:txBody>
      </p:sp>
      <p:sp>
        <p:nvSpPr>
          <p:cNvPr id="106" name="Badge"/>
          <p:cNvSpPr/>
          <p:nvPr/>
        </p:nvSpPr>
        <p:spPr>
          <a:xfrm>
            <a:off x="10300541" y="4500000"/>
            <a:ext cx="1000000" cy="1000000"/>
          </a:xfrm>
          <a:prstGeom prst="ellipse">
            <a:avLst/>
          </a:prstGeom>
          <a:solidFill>
            <a:srgbClr val="006F9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H2</a:t>
            </a:r>
            <a:endParaRPr lang="en-US" sz="2600"/>
          </a:p>
        </p:txBody>
      </p:sp>
      <p:sp>
        <p:nvSpPr>
          <p:cNvPr id="107" name="Hypothesis"/>
          <p:cNvSpPr txBox="1"/>
          <p:nvPr/>
        </p:nvSpPr>
        <p:spPr>
          <a:xfrm>
            <a:off x="11550541" y="4350000"/>
            <a:ext cx="583968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25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NoGo FM-θ ↓ and commission errors ↑ after scrolling</a:t>
            </a:r>
            <a:endParaRPr lang="en-US" sz="2500"/>
          </a:p>
          <a:p>
            <a:pPr algn="l"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Pending · own Go/NoGo</a:t>
            </a:r>
            <a:endParaRPr lang="en-US" sz="2000"/>
          </a:p>
        </p:txBody>
      </p:sp>
      <p:sp>
        <p:nvSpPr>
          <p:cNvPr id="108" name="Badge"/>
          <p:cNvSpPr/>
          <p:nvPr/>
        </p:nvSpPr>
        <p:spPr>
          <a:xfrm>
            <a:off x="10300541" y="6150000"/>
            <a:ext cx="1000000" cy="1000000"/>
          </a:xfrm>
          <a:prstGeom prst="ellipse">
            <a:avLst/>
          </a:prstGeom>
          <a:solidFill>
            <a:srgbClr val="006F9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H3</a:t>
            </a:r>
            <a:endParaRPr lang="en-US" sz="2600"/>
          </a:p>
        </p:txBody>
      </p:sp>
      <p:sp>
        <p:nvSpPr>
          <p:cNvPr id="109" name="Hypothesis"/>
          <p:cNvSpPr txBox="1"/>
          <p:nvPr/>
        </p:nvSpPr>
        <p:spPr>
          <a:xfrm>
            <a:off x="11550541" y="6000000"/>
            <a:ext cx="583968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25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Both at once: tonic ↑ / phasic ↓</a:t>
            </a:r>
            <a:endParaRPr lang="en-US" sz="2500"/>
          </a:p>
          <a:p>
            <a:pPr algn="l">
              <a:spcAft>
                <a:spcPts val="0"/>
              </a:spcAft>
              <a:buNone/>
            </a:pPr>
            <a:r>
              <a:rPr lang="en-US" sz="2000" i="1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Precedent: Arnau 2021</a:t>
            </a:r>
            <a:endParaRPr lang="en-US" sz="2000"/>
          </a:p>
        </p:txBody>
      </p:sp>
      <p:sp>
        <p:nvSpPr>
          <p:cNvPr id="4" name="Citation footer">
            <a:extLst>
              <a:ext uri="{FF2B5EF4-FFF2-40B4-BE49-F238E27FC236}">
                <a16:creationId xmlns:a16="http://schemas.microsoft.com/office/drawing/2014/main" id="{62323FC4-3AD7-4987-FC65-D123EC307CF7}"/>
              </a:ext>
            </a:extLst>
          </p:cNvPr>
          <p:cNvSpPr txBox="1"/>
          <p:nvPr/>
        </p:nvSpPr>
        <p:spPr>
          <a:xfrm>
            <a:off x="900430" y="9525000"/>
            <a:ext cx="158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sz="1300" i="1">
                <a:solidFill>
                  <a:srgbClr val="7F8C93"/>
                </a:solidFill>
                <a:latin typeface="Calibri (MS)" panose="020B0604020202020204" charset="0"/>
              </a:rPr>
              <a:t>Source: Arnau, Brümmer, Liegel &amp; Wascher (2021), Psychophysiology, 58(6), e13805</a:t>
            </a:r>
            <a:endParaRPr lang="es-MX" sz="1300" i="1">
              <a:solidFill>
                <a:srgbClr val="7F8C93"/>
              </a:solidFill>
              <a:latin typeface="Calibri (MS)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917324" y="781926"/>
            <a:ext cx="8520025" cy="98103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6375" b="1" dirty="0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Theoretical Grounding</a:t>
            </a:r>
          </a:p>
        </p:txBody>
      </p:sp>
      <p:sp>
        <p:nvSpPr>
          <p:cNvPr id="102" name="Stat tile"/>
          <p:cNvSpPr/>
          <p:nvPr/>
        </p:nvSpPr>
        <p:spPr>
          <a:xfrm>
            <a:off x="900541" y="1950000"/>
            <a:ext cx="5263226" cy="30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spcAft>
                <a:spcPts val="500"/>
              </a:spcAft>
              <a:buNone/>
            </a:pPr>
            <a:r>
              <a:rPr lang="en-US" sz="5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 = 1.03</a:t>
            </a:r>
            <a:endParaRPr lang="en-US" sz="5400"/>
          </a:p>
          <a:p>
            <a:pPr algn="ctr">
              <a:spcAft>
                <a:spcPts val="300"/>
              </a:spcAft>
              <a:buNone/>
            </a:pPr>
            <a:r>
              <a:rPr lang="en-US" sz="24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Theta ↑ with fatigue</a:t>
            </a:r>
            <a:endParaRPr lang="en-US" sz="2400"/>
          </a:p>
          <a:p>
            <a:pPr algn="ctr">
              <a:spcAft>
                <a:spcPts val="0"/>
              </a:spcAft>
              <a:buNone/>
            </a:pPr>
            <a:r>
              <a:rPr lang="en-US" sz="1900" i="1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Tran 2020 · meta-analysis</a:t>
            </a:r>
            <a:endParaRPr lang="en-US" sz="1900"/>
          </a:p>
        </p:txBody>
      </p:sp>
      <p:sp>
        <p:nvSpPr>
          <p:cNvPr id="103" name="Stat tile"/>
          <p:cNvSpPr/>
          <p:nvPr/>
        </p:nvSpPr>
        <p:spPr>
          <a:xfrm>
            <a:off x="6513767" y="1950000"/>
            <a:ext cx="5263226" cy="30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spcAft>
                <a:spcPts val="500"/>
              </a:spcAft>
              <a:buNone/>
            </a:pPr>
            <a:r>
              <a:rPr lang="en-US" sz="5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 = 0.85</a:t>
            </a:r>
            <a:endParaRPr lang="en-US" sz="5400"/>
          </a:p>
          <a:p>
            <a:pPr algn="ctr">
              <a:spcAft>
                <a:spcPts val="300"/>
              </a:spcAft>
              <a:buNone/>
            </a:pPr>
            <a:r>
              <a:rPr lang="en-US" sz="24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Alpha ↑ with fatigue</a:t>
            </a:r>
            <a:endParaRPr lang="en-US" sz="2400"/>
          </a:p>
          <a:p>
            <a:pPr algn="ctr">
              <a:spcAft>
                <a:spcPts val="0"/>
              </a:spcAft>
              <a:buNone/>
            </a:pPr>
            <a:r>
              <a:rPr lang="en-US" sz="1900" i="1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Tran 2020 · meta-analysis</a:t>
            </a:r>
            <a:endParaRPr lang="en-US" sz="1900"/>
          </a:p>
        </p:txBody>
      </p:sp>
      <p:sp>
        <p:nvSpPr>
          <p:cNvPr id="104" name="Stat tile"/>
          <p:cNvSpPr/>
          <p:nvPr/>
        </p:nvSpPr>
        <p:spPr>
          <a:xfrm>
            <a:off x="900430" y="5250180"/>
            <a:ext cx="5263226" cy="30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spcAft>
                <a:spcPts val="500"/>
              </a:spcAft>
              <a:buNone/>
            </a:pPr>
            <a:r>
              <a:rPr lang="en-US" sz="5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~1 h</a:t>
            </a:r>
            <a:endParaRPr lang="en-US" sz="5400"/>
          </a:p>
          <a:p>
            <a:pPr algn="ctr">
              <a:spcAft>
                <a:spcPts val="300"/>
              </a:spcAft>
              <a:buNone/>
            </a:pPr>
            <a:r>
              <a:rPr lang="en-US" sz="24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Alpha peaks, theta keeps rising</a:t>
            </a:r>
            <a:endParaRPr lang="en-US" sz="2400"/>
          </a:p>
          <a:p>
            <a:pPr algn="ctr">
              <a:spcAft>
                <a:spcPts val="0"/>
              </a:spcAft>
              <a:buNone/>
            </a:pPr>
            <a:r>
              <a:rPr lang="en-US" sz="1900" i="1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Wascher 2014</a:t>
            </a:r>
            <a:endParaRPr lang="en-US" sz="1900"/>
          </a:p>
        </p:txBody>
      </p:sp>
      <p:sp>
        <p:nvSpPr>
          <p:cNvPr id="106" name="Stat tile"/>
          <p:cNvSpPr/>
          <p:nvPr/>
        </p:nvSpPr>
        <p:spPr>
          <a:xfrm>
            <a:off x="6513767" y="5250000"/>
            <a:ext cx="5263226" cy="3000000"/>
          </a:xfrm>
          <a:prstGeom prst="roundRect">
            <a:avLst>
              <a:gd name="adj" fmla="val 8000"/>
            </a:avLst>
          </a:prstGeom>
          <a:solidFill>
            <a:srgbClr val="006F95"/>
          </a:solidFill>
          <a:ln>
            <a:noFill/>
          </a:ln>
        </p:spPr>
        <p:txBody>
          <a:bodyPr wrap="square" lIns="137160" tIns="914400" rIns="137160" bIns="127000" rtlCol="0" anchor="ctr">
            <a:noAutofit/>
          </a:bodyPr>
          <a:lstStyle/>
          <a:p>
            <a:pPr algn="ctr">
              <a:spcAft>
                <a:spcPts val="5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Tonic ↑ · Phasic ↓</a:t>
            </a:r>
            <a:endParaRPr lang="en-US" sz="4400"/>
          </a:p>
          <a:p>
            <a:pPr algn="ctr">
              <a:spcAft>
                <a:spcPts val="3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Direct precedent of H3</a:t>
            </a:r>
            <a:endParaRPr lang="en-US" sz="2400"/>
          </a:p>
          <a:p>
            <a:pPr algn="ctr">
              <a:spcAft>
                <a:spcPts val="0"/>
              </a:spcAft>
              <a:buNone/>
            </a:pPr>
            <a:r>
              <a:rPr lang="en-US" sz="1900" i="1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Arnau 2021 · Yu 2022</a:t>
            </a:r>
            <a:endParaRPr lang="en-US" sz="1900"/>
          </a:p>
        </p:txBody>
      </p:sp>
      <p:sp>
        <p:nvSpPr>
          <p:cNvPr id="108" name="Conditions"/>
          <p:cNvSpPr txBox="1"/>
          <p:nvPr/>
        </p:nvSpPr>
        <p:spPr>
          <a:xfrm>
            <a:off x="900541" y="8450000"/>
            <a:ext cx="1648968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Requires </a:t>
            </a:r>
            <a:r>
              <a:rPr lang="en-US" sz="26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≥ 30–60 min</a:t>
            </a:r>
            <a:r>
              <a:rPr lang="en-US" sz="2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· demanding task </a:t>
            </a:r>
            <a:r>
              <a:rPr lang="en-US" sz="26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· </a:t>
            </a:r>
            <a:r>
              <a:rPr lang="en-US" sz="26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never tested with EEG + NoGo during short-video scrolling</a:t>
            </a:r>
            <a:endParaRPr lang="en-US" sz="2600"/>
          </a:p>
        </p:txBody>
      </p:sp>
      <p:sp>
        <p:nvSpPr>
          <p:cNvPr id="5" name="Badge">
            <a:extLst>
              <a:ext uri="{FF2B5EF4-FFF2-40B4-BE49-F238E27FC236}">
                <a16:creationId xmlns:a16="http://schemas.microsoft.com/office/drawing/2014/main" id="{53FBE479-6F51-D2AD-1EDC-087F10666F2D}"/>
              </a:ext>
            </a:extLst>
          </p:cNvPr>
          <p:cNvSpPr/>
          <p:nvPr/>
        </p:nvSpPr>
        <p:spPr>
          <a:xfrm>
            <a:off x="5158286" y="1950000"/>
            <a:ext cx="1000000" cy="1000000"/>
          </a:xfrm>
          <a:prstGeom prst="ellipse">
            <a:avLst/>
          </a:prstGeom>
          <a:solidFill>
            <a:srgbClr val="006F9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H1</a:t>
            </a:r>
            <a:endParaRPr lang="en-US" sz="2600" dirty="0"/>
          </a:p>
        </p:txBody>
      </p:sp>
      <p:sp>
        <p:nvSpPr>
          <p:cNvPr id="7" name="Badge">
            <a:extLst>
              <a:ext uri="{FF2B5EF4-FFF2-40B4-BE49-F238E27FC236}">
                <a16:creationId xmlns:a16="http://schemas.microsoft.com/office/drawing/2014/main" id="{6FB97C02-8089-0D7E-920E-E1F9C1DF319C}"/>
              </a:ext>
            </a:extLst>
          </p:cNvPr>
          <p:cNvSpPr/>
          <p:nvPr/>
        </p:nvSpPr>
        <p:spPr>
          <a:xfrm>
            <a:off x="10776993" y="1950000"/>
            <a:ext cx="1000000" cy="1000000"/>
          </a:xfrm>
          <a:prstGeom prst="ellipse">
            <a:avLst/>
          </a:prstGeom>
          <a:solidFill>
            <a:srgbClr val="006F9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H1</a:t>
            </a:r>
            <a:endParaRPr lang="en-US" sz="2600" dirty="0"/>
          </a:p>
        </p:txBody>
      </p:sp>
      <p:grpSp>
        <p:nvGrpSpPr>
          <p:cNvPr id="26" name="g scale">
            <a:extLst>
              <a:ext uri="{FF2B5EF4-FFF2-40B4-BE49-F238E27FC236}">
                <a16:creationId xmlns:a16="http://schemas.microsoft.com/office/drawing/2014/main" id="{DC71FBA5-FE59-7FA9-0969-B501B9DB78C2}"/>
              </a:ext>
            </a:extLst>
          </p:cNvPr>
          <p:cNvGrpSpPr/>
          <p:nvPr/>
        </p:nvGrpSpPr>
        <p:grpSpPr>
          <a:xfrm>
            <a:off x="12128500" y="5245100"/>
            <a:ext cx="5257800" cy="2997200"/>
            <a:chOff x="12128500" y="5245100"/>
            <a:chExt cx="5257800" cy="2997200"/>
          </a:xfrm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388D8FCB-8EF2-5039-032A-1126C062EFE6}"/>
                </a:ext>
              </a:extLst>
            </p:cNvPr>
            <p:cNvSpPr/>
            <p:nvPr/>
          </p:nvSpPr>
          <p:spPr>
            <a:xfrm>
              <a:off x="12128500" y="5245100"/>
              <a:ext cx="5257800" cy="2997200"/>
            </a:xfrm>
            <a:prstGeom prst="roundRect">
              <a:avLst>
                <a:gd name="adj" fmla="val 8000"/>
              </a:avLst>
            </a:prstGeom>
            <a:solidFill>
              <a:srgbClr val="E3F4FA"/>
            </a:solidFill>
            <a:ln w="19050">
              <a:solidFill>
                <a:srgbClr val="A8DCE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9E62198-B543-7D2C-846A-7F91B81BC09E}"/>
                </a:ext>
              </a:extLst>
            </p:cNvPr>
            <p:cNvSpPr txBox="1"/>
            <p:nvPr/>
          </p:nvSpPr>
          <p:spPr>
            <a:xfrm>
              <a:off x="12319000" y="5422900"/>
              <a:ext cx="48768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900" b="1">
                  <a:solidFill>
                    <a:srgbClr val="006F95"/>
                  </a:solidFill>
                  <a:latin typeface="Calibri (MS) Bold" panose="020B0604020202020204" charset="0"/>
                </a:rPr>
                <a:t>Effect size scale (Hedges' g)</a:t>
              </a:r>
              <a:endParaRPr lang="es-MX" sz="1900" b="1">
                <a:solidFill>
                  <a:srgbClr val="006F95"/>
                </a:solidFill>
                <a:latin typeface="Calibri (MS) Bold" panose="020B0604020202020204" charset="0"/>
              </a:endParaRP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21BD09C2-C3B6-E9BC-F243-E287D2B70263}"/>
                </a:ext>
              </a:extLst>
            </p:cNvPr>
            <p:cNvSpPr/>
            <p:nvPr/>
          </p:nvSpPr>
          <p:spPr>
            <a:xfrm>
              <a:off x="12509500" y="6540500"/>
              <a:ext cx="749300" cy="381000"/>
            </a:xfrm>
            <a:prstGeom prst="rect">
              <a:avLst/>
            </a:prstGeom>
            <a:solidFill>
              <a:srgbClr val="DDE3E6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4D5056D7-BE82-47B8-F4A7-4E25DF255380}"/>
                </a:ext>
              </a:extLst>
            </p:cNvPr>
            <p:cNvSpPr/>
            <p:nvPr/>
          </p:nvSpPr>
          <p:spPr>
            <a:xfrm>
              <a:off x="13258800" y="6540500"/>
              <a:ext cx="1123950" cy="381000"/>
            </a:xfrm>
            <a:prstGeom prst="rect">
              <a:avLst/>
            </a:prstGeom>
            <a:solidFill>
              <a:srgbClr val="B7DCEA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MX" sz="1400" b="1">
                  <a:solidFill>
                    <a:srgbClr val="006F95"/>
                  </a:solidFill>
                  <a:latin typeface="Calibri (MS) Bold" panose="020B0604020202020204" charset="0"/>
                </a:rPr>
                <a:t>small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D8CB766-6562-C4B6-A803-848C01AE1B9C}"/>
                </a:ext>
              </a:extLst>
            </p:cNvPr>
            <p:cNvSpPr/>
            <p:nvPr/>
          </p:nvSpPr>
          <p:spPr>
            <a:xfrm>
              <a:off x="14382750" y="6540500"/>
              <a:ext cx="1123950" cy="381000"/>
            </a:xfrm>
            <a:prstGeom prst="rect">
              <a:avLst/>
            </a:prstGeom>
            <a:solidFill>
              <a:srgbClr val="5FA8C6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MX" sz="1400" b="1">
                  <a:solidFill>
                    <a:srgbClr val="FFFFFF"/>
                  </a:solidFill>
                  <a:latin typeface="Calibri (MS) Bold" panose="020B0604020202020204" charset="0"/>
                </a:rPr>
                <a:t>medium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E108910-FA84-1540-876E-7736D9E0C3FE}"/>
                </a:ext>
              </a:extLst>
            </p:cNvPr>
            <p:cNvSpPr/>
            <p:nvPr/>
          </p:nvSpPr>
          <p:spPr>
            <a:xfrm>
              <a:off x="15506700" y="6540500"/>
              <a:ext cx="1498600" cy="381000"/>
            </a:xfrm>
            <a:prstGeom prst="rect">
              <a:avLst/>
            </a:prstGeom>
            <a:solidFill>
              <a:srgbClr val="006F95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s-MX" sz="1400" b="1">
                  <a:solidFill>
                    <a:srgbClr val="FFFFFF"/>
                  </a:solidFill>
                  <a:latin typeface="Calibri (MS) Bold" panose="020B0604020202020204" charset="0"/>
                </a:rPr>
                <a:t>large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B9119B09-4F7A-A452-FFBA-2E161EC71C07}"/>
                </a:ext>
              </a:extLst>
            </p:cNvPr>
            <p:cNvSpPr txBox="1"/>
            <p:nvPr/>
          </p:nvSpPr>
          <p:spPr>
            <a:xfrm>
              <a:off x="13004800" y="6972300"/>
              <a:ext cx="508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s-MX" sz="1400">
                  <a:solidFill>
                    <a:srgbClr val="4A6572"/>
                  </a:solidFill>
                  <a:latin typeface="Calibri (MS)" panose="020B0604020202020204" charset="0"/>
                </a:rPr>
                <a:t>0.2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677C7FAD-2499-A27B-89F0-8EA508D19232}"/>
                </a:ext>
              </a:extLst>
            </p:cNvPr>
            <p:cNvSpPr txBox="1"/>
            <p:nvPr/>
          </p:nvSpPr>
          <p:spPr>
            <a:xfrm>
              <a:off x="14128750" y="6972300"/>
              <a:ext cx="508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s-MX" sz="1400">
                  <a:solidFill>
                    <a:srgbClr val="4A6572"/>
                  </a:solidFill>
                  <a:latin typeface="Calibri (MS)" panose="020B0604020202020204" charset="0"/>
                </a:rPr>
                <a:t>0.5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440407DB-716A-7ACB-E562-643639B4BEDC}"/>
                </a:ext>
              </a:extLst>
            </p:cNvPr>
            <p:cNvSpPr txBox="1"/>
            <p:nvPr/>
          </p:nvSpPr>
          <p:spPr>
            <a:xfrm>
              <a:off x="15252700" y="6972300"/>
              <a:ext cx="508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s-MX" sz="1400">
                  <a:solidFill>
                    <a:srgbClr val="4A6572"/>
                  </a:solidFill>
                  <a:latin typeface="Calibri (MS)" panose="020B0604020202020204" charset="0"/>
                </a:rPr>
                <a:t>0.8</a:t>
              </a:r>
            </a:p>
          </p:txBody>
        </p:sp>
        <p:sp>
          <p:nvSpPr>
            <p:cNvPr id="21" name="Triángulo isósceles 20">
              <a:extLst>
                <a:ext uri="{FF2B5EF4-FFF2-40B4-BE49-F238E27FC236}">
                  <a16:creationId xmlns:a16="http://schemas.microsoft.com/office/drawing/2014/main" id="{22DB0379-7F20-FAFB-13AA-CCAF231ADAE1}"/>
                </a:ext>
              </a:extLst>
            </p:cNvPr>
            <p:cNvSpPr/>
            <p:nvPr/>
          </p:nvSpPr>
          <p:spPr>
            <a:xfrm rot="10800000">
              <a:off x="15592425" y="6324600"/>
              <a:ext cx="203200" cy="165100"/>
            </a:xfrm>
            <a:prstGeom prst="triangle">
              <a:avLst/>
            </a:prstGeom>
            <a:solidFill>
              <a:srgbClr val="E07A5F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D644612-5DDE-73F8-9DB0-FCD7754A7921}"/>
                </a:ext>
              </a:extLst>
            </p:cNvPr>
            <p:cNvSpPr txBox="1"/>
            <p:nvPr/>
          </p:nvSpPr>
          <p:spPr>
            <a:xfrm>
              <a:off x="14678025" y="5981700"/>
              <a:ext cx="1143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r"/>
              <a:r>
                <a:rPr lang="el-GR" sz="1700" b="1">
                  <a:solidFill>
                    <a:srgbClr val="E07A5F"/>
                  </a:solidFill>
                  <a:latin typeface="Calibri (MS) Bold" panose="020B0604020202020204" charset="0"/>
                </a:rPr>
                <a:t>α 0.85</a:t>
              </a:r>
              <a:endParaRPr lang="es-MX" sz="1700" b="1">
                <a:solidFill>
                  <a:srgbClr val="E07A5F"/>
                </a:solidFill>
                <a:latin typeface="Calibri (MS) Bold" panose="020B0604020202020204" charset="0"/>
              </a:endParaRPr>
            </a:p>
          </p:txBody>
        </p:sp>
        <p:sp>
          <p:nvSpPr>
            <p:cNvPr id="23" name="Triángulo isósceles 22">
              <a:extLst>
                <a:ext uri="{FF2B5EF4-FFF2-40B4-BE49-F238E27FC236}">
                  <a16:creationId xmlns:a16="http://schemas.microsoft.com/office/drawing/2014/main" id="{1F12486A-9F73-43B3-1B93-F3581177CDAF}"/>
                </a:ext>
              </a:extLst>
            </p:cNvPr>
            <p:cNvSpPr/>
            <p:nvPr/>
          </p:nvSpPr>
          <p:spPr>
            <a:xfrm rot="10800000">
              <a:off x="16266795" y="6324600"/>
              <a:ext cx="203200" cy="165100"/>
            </a:xfrm>
            <a:prstGeom prst="triangle">
              <a:avLst/>
            </a:prstGeom>
            <a:solidFill>
              <a:srgbClr val="E07A5F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E7A0E078-5B08-CB2D-252F-C85D6266413E}"/>
                </a:ext>
              </a:extLst>
            </p:cNvPr>
            <p:cNvSpPr txBox="1"/>
            <p:nvPr/>
          </p:nvSpPr>
          <p:spPr>
            <a:xfrm>
              <a:off x="16241395" y="5981700"/>
              <a:ext cx="10160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r>
                <a:rPr lang="el-GR" sz="1700" b="1">
                  <a:solidFill>
                    <a:srgbClr val="E07A5F"/>
                  </a:solidFill>
                  <a:latin typeface="Calibri (MS) Bold" panose="020B0604020202020204" charset="0"/>
                </a:rPr>
                <a:t>θ 1.03</a:t>
              </a:r>
              <a:endParaRPr lang="es-MX" sz="1700" b="1">
                <a:solidFill>
                  <a:srgbClr val="E07A5F"/>
                </a:solidFill>
                <a:latin typeface="Calibri (MS) Bold" panose="020B0604020202020204" charset="0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A4415060-A35D-B365-E15A-7B918A871F50}"/>
                </a:ext>
              </a:extLst>
            </p:cNvPr>
            <p:cNvSpPr txBox="1"/>
            <p:nvPr/>
          </p:nvSpPr>
          <p:spPr>
            <a:xfrm>
              <a:off x="12319000" y="7658100"/>
              <a:ext cx="48768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/>
              <a:r>
                <a:rPr lang="en-US" sz="1700" b="1" i="1">
                  <a:solidFill>
                    <a:srgbClr val="006F95"/>
                  </a:solidFill>
                  <a:latin typeface="Calibri (MS) Bold" panose="020B0604020202020204" charset="0"/>
                </a:rPr>
                <a:t>Both effects are large (≥ 0.8)</a:t>
              </a:r>
              <a:endParaRPr lang="es-MX" sz="1700" b="1" i="1">
                <a:solidFill>
                  <a:srgbClr val="006F95"/>
                </a:solidFill>
                <a:latin typeface="Calibri (MS) Bold" panose="020B0604020202020204" charset="0"/>
              </a:endParaRPr>
            </a:p>
          </p:txBody>
        </p:sp>
      </p:grpSp>
      <p:sp>
        <p:nvSpPr>
          <p:cNvPr id="4" name="Citation footer">
            <a:extLst>
              <a:ext uri="{FF2B5EF4-FFF2-40B4-BE49-F238E27FC236}">
                <a16:creationId xmlns:a16="http://schemas.microsoft.com/office/drawing/2014/main" id="{638457C8-8464-3268-1A07-1621F1CF9FE0}"/>
              </a:ext>
            </a:extLst>
          </p:cNvPr>
          <p:cNvSpPr txBox="1"/>
          <p:nvPr/>
        </p:nvSpPr>
        <p:spPr>
          <a:xfrm>
            <a:off x="900430" y="9525000"/>
            <a:ext cx="158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300" i="1">
                <a:solidFill>
                  <a:srgbClr val="7F8C93"/>
                </a:solidFill>
                <a:latin typeface="Calibri (MS)" panose="020B0604020202020204" charset="0"/>
              </a:rPr>
              <a:t>Sources: Tran et al. (2020), Psychophysiology · Wascher et al. (2014), Biol. Psychol. · Arnau et al. (2021), Psychophysiology · Yu et al. (2022), Sci. Rep. · Jacquet et al. (2023), Sci. Rep.</a:t>
            </a:r>
          </a:p>
        </p:txBody>
      </p:sp>
      <p:sp>
        <p:nvSpPr>
          <p:cNvPr id="6" name="Stat tile Jacquet">
            <a:extLst>
              <a:ext uri="{FF2B5EF4-FFF2-40B4-BE49-F238E27FC236}">
                <a16:creationId xmlns:a16="http://schemas.microsoft.com/office/drawing/2014/main" id="{F531D88D-002F-6CC5-9D4C-CD02A754BA5E}"/>
              </a:ext>
            </a:extLst>
          </p:cNvPr>
          <p:cNvSpPr/>
          <p:nvPr/>
        </p:nvSpPr>
        <p:spPr>
          <a:xfrm>
            <a:off x="12127230" y="1949450"/>
            <a:ext cx="5262880" cy="299974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381000" rIns="137160" bIns="91440" rtlCol="0" anchor="ctr">
            <a:noAutofit/>
          </a:bodyPr>
          <a:lstStyle/>
          <a:p>
            <a:pPr algn="ctr">
              <a:spcAft>
                <a:spcPts val="500"/>
              </a:spcAft>
              <a:buNone/>
            </a:pPr>
            <a:r>
              <a:rPr lang="en-US" sz="4800" b="1" dirty="0" err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NoGo</a:t>
            </a:r>
            <a:r>
              <a:rPr lang="en-US" sz="48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errors ↑</a:t>
            </a:r>
            <a:endParaRPr lang="en-US" sz="4800" dirty="0"/>
          </a:p>
          <a:p>
            <a:pPr algn="ctr">
              <a:spcAft>
                <a:spcPts val="300"/>
              </a:spcAft>
              <a:buNone/>
            </a:pPr>
            <a:r>
              <a:rPr lang="en-US" sz="21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45 min smartphone vs. documentary</a:t>
            </a:r>
            <a:endParaRPr lang="en-US" sz="2100" dirty="0"/>
          </a:p>
          <a:p>
            <a:pPr algn="ctr">
              <a:spcAft>
                <a:spcPts val="0"/>
              </a:spcAft>
              <a:buNone/>
            </a:pPr>
            <a:r>
              <a:rPr lang="en-US" sz="1900" i="1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Jacquet 2023 · behavior, no EEG</a:t>
            </a:r>
            <a:endParaRPr lang="en-US" sz="1900" dirty="0"/>
          </a:p>
        </p:txBody>
      </p:sp>
      <p:sp>
        <p:nvSpPr>
          <p:cNvPr id="8" name="Badge">
            <a:extLst>
              <a:ext uri="{FF2B5EF4-FFF2-40B4-BE49-F238E27FC236}">
                <a16:creationId xmlns:a16="http://schemas.microsoft.com/office/drawing/2014/main" id="{D7B456B8-87BC-891C-7692-E490EC8FEAB8}"/>
              </a:ext>
            </a:extLst>
          </p:cNvPr>
          <p:cNvSpPr/>
          <p:nvPr/>
        </p:nvSpPr>
        <p:spPr>
          <a:xfrm>
            <a:off x="16390110" y="1949450"/>
            <a:ext cx="1000000" cy="1000000"/>
          </a:xfrm>
          <a:prstGeom prst="ellipse">
            <a:avLst/>
          </a:prstGeom>
          <a:solidFill>
            <a:srgbClr val="006F9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H2</a:t>
            </a:r>
            <a:endParaRPr lang="en-US" sz="2600" dirty="0"/>
          </a:p>
        </p:txBody>
      </p:sp>
      <p:sp>
        <p:nvSpPr>
          <p:cNvPr id="9" name="Badge">
            <a:extLst>
              <a:ext uri="{FF2B5EF4-FFF2-40B4-BE49-F238E27FC236}">
                <a16:creationId xmlns:a16="http://schemas.microsoft.com/office/drawing/2014/main" id="{1FD56C5B-CDF6-1862-811D-EBFC9A8AFF22}"/>
              </a:ext>
            </a:extLst>
          </p:cNvPr>
          <p:cNvSpPr/>
          <p:nvPr/>
        </p:nvSpPr>
        <p:spPr>
          <a:xfrm>
            <a:off x="9649709" y="5250180"/>
            <a:ext cx="1000000" cy="1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H2</a:t>
            </a:r>
            <a:endParaRPr lang="en-US" sz="2600" dirty="0">
              <a:solidFill>
                <a:srgbClr val="006F95"/>
              </a:solidFill>
            </a:endParaRPr>
          </a:p>
        </p:txBody>
      </p:sp>
      <p:sp>
        <p:nvSpPr>
          <p:cNvPr id="11" name="Badge">
            <a:extLst>
              <a:ext uri="{FF2B5EF4-FFF2-40B4-BE49-F238E27FC236}">
                <a16:creationId xmlns:a16="http://schemas.microsoft.com/office/drawing/2014/main" id="{99150EF3-9EAB-17AC-A77C-169C523E5680}"/>
              </a:ext>
            </a:extLst>
          </p:cNvPr>
          <p:cNvSpPr/>
          <p:nvPr/>
        </p:nvSpPr>
        <p:spPr>
          <a:xfrm>
            <a:off x="10776710" y="5250180"/>
            <a:ext cx="1000000" cy="100000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H3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917324" y="781926"/>
            <a:ext cx="15500000" cy="981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Practical Validation</a:t>
            </a:r>
          </a:p>
        </p:txBody>
      </p:sp>
      <p:sp>
        <p:nvSpPr>
          <p:cNvPr id="102" name="Chip"/>
          <p:cNvSpPr/>
          <p:nvPr/>
        </p:nvSpPr>
        <p:spPr>
          <a:xfrm>
            <a:off x="900541" y="1950000"/>
            <a:ext cx="5263226" cy="65000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ds007537 · smartphone · 10 min</a:t>
            </a:r>
            <a:endParaRPr lang="en-US" sz="2100"/>
          </a:p>
        </p:txBody>
      </p:sp>
      <p:sp>
        <p:nvSpPr>
          <p:cNvPr id="104" name="Result"/>
          <p:cNvSpPr txBox="1"/>
          <p:nvPr/>
        </p:nvSpPr>
        <p:spPr>
          <a:xfrm>
            <a:off x="900541" y="6950000"/>
            <a:ext cx="5263226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Alpha ↑ +0.43 dB</a:t>
            </a:r>
            <a:endParaRPr lang="en-US" sz="3400"/>
          </a:p>
        </p:txBody>
      </p:sp>
      <p:sp>
        <p:nvSpPr>
          <p:cNvPr id="105" name="Result detail"/>
          <p:cNvSpPr txBox="1"/>
          <p:nvPr/>
        </p:nvSpPr>
        <p:spPr>
          <a:xfrm>
            <a:off x="900541" y="8050000"/>
            <a:ext cx="5263226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2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Short video · 10/12 subjects</a:t>
            </a:r>
            <a:endParaRPr lang="en-US" sz="2200"/>
          </a:p>
        </p:txBody>
      </p:sp>
      <p:sp>
        <p:nvSpPr>
          <p:cNvPr id="106" name="Chip"/>
          <p:cNvSpPr/>
          <p:nvPr/>
        </p:nvSpPr>
        <p:spPr>
          <a:xfrm>
            <a:off x="6513767" y="1950000"/>
            <a:ext cx="5263226" cy="65000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EEG-SVRec · short video · ≤ 30 min</a:t>
            </a:r>
            <a:endParaRPr lang="en-US" sz="2100"/>
          </a:p>
        </p:txBody>
      </p:sp>
      <p:sp>
        <p:nvSpPr>
          <p:cNvPr id="108" name="Result"/>
          <p:cNvSpPr txBox="1"/>
          <p:nvPr/>
        </p:nvSpPr>
        <p:spPr>
          <a:xfrm>
            <a:off x="6513767" y="6950000"/>
            <a:ext cx="5263226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Immersion ↑ → alpha ↓</a:t>
            </a:r>
            <a:endParaRPr lang="en-US" sz="3400"/>
          </a:p>
        </p:txBody>
      </p:sp>
      <p:sp>
        <p:nvSpPr>
          <p:cNvPr id="109" name="Result detail"/>
          <p:cNvSpPr txBox="1"/>
          <p:nvPr/>
        </p:nvSpPr>
        <p:spPr>
          <a:xfrm>
            <a:off x="6513767" y="8050000"/>
            <a:ext cx="5263226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2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20/25 subjects</a:t>
            </a:r>
            <a:endParaRPr lang="en-US" sz="2200"/>
          </a:p>
        </p:txBody>
      </p:sp>
      <p:sp>
        <p:nvSpPr>
          <p:cNvPr id="110" name="Chip"/>
          <p:cNvSpPr/>
          <p:nvPr/>
        </p:nvSpPr>
        <p:spPr>
          <a:xfrm>
            <a:off x="12126993" y="1950000"/>
            <a:ext cx="5263226" cy="65000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Cao 2019 · driving · 60–90 min</a:t>
            </a:r>
            <a:endParaRPr lang="en-US" sz="2100"/>
          </a:p>
        </p:txBody>
      </p:sp>
      <p:pic>
        <p:nvPicPr>
          <p:cNvPr id="111" name="cao_phasic" descr="cao_phas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381" y="2800000"/>
            <a:ext cx="5210449" cy="3950000"/>
          </a:xfrm>
          <a:prstGeom prst="rect">
            <a:avLst/>
          </a:prstGeom>
          <a:ln w="19050">
            <a:solidFill>
              <a:srgbClr val="A8DCEC"/>
            </a:solidFill>
          </a:ln>
        </p:spPr>
      </p:pic>
      <p:sp>
        <p:nvSpPr>
          <p:cNvPr id="112" name="Result"/>
          <p:cNvSpPr txBox="1"/>
          <p:nvPr/>
        </p:nvSpPr>
        <p:spPr>
          <a:xfrm>
            <a:off x="12126993" y="6950000"/>
            <a:ext cx="5263226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3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Tonic θ ↑ → slow RT</a:t>
            </a:r>
            <a:endParaRPr lang="en-US" sz="3400"/>
          </a:p>
        </p:txBody>
      </p:sp>
      <p:sp>
        <p:nvSpPr>
          <p:cNvPr id="113" name="Result detail"/>
          <p:cNvSpPr txBox="1"/>
          <p:nvPr/>
        </p:nvSpPr>
        <p:spPr>
          <a:xfrm>
            <a:off x="12126993" y="8050000"/>
            <a:ext cx="5263226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2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27/27 · phasic preserved</a:t>
            </a:r>
            <a:endParaRPr lang="en-US" sz="2200"/>
          </a:p>
        </p:txBody>
      </p:sp>
      <p:pic>
        <p:nvPicPr>
          <p:cNvPr id="5" name="ds007537_alpha" descr="ds007537 periodic alpha, short video, with linear trend">
            <a:extLst>
              <a:ext uri="{FF2B5EF4-FFF2-40B4-BE49-F238E27FC236}">
                <a16:creationId xmlns:a16="http://schemas.microsoft.com/office/drawing/2014/main" id="{F7CA815C-DC49-DB01-0B03-C1956F597B8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30" y="2849228"/>
            <a:ext cx="5262880" cy="3851944"/>
          </a:xfrm>
          <a:prstGeom prst="rect">
            <a:avLst/>
          </a:prstGeom>
          <a:ln w="19050">
            <a:solidFill>
              <a:srgbClr val="A8DCEC"/>
            </a:solidFill>
          </a:ln>
        </p:spPr>
      </p:pic>
      <p:sp>
        <p:nvSpPr>
          <p:cNvPr id="4" name="Citation footer">
            <a:extLst>
              <a:ext uri="{FF2B5EF4-FFF2-40B4-BE49-F238E27FC236}">
                <a16:creationId xmlns:a16="http://schemas.microsoft.com/office/drawing/2014/main" id="{4DE012D4-814F-ED9F-AE09-5E0E5CCC79EF}"/>
              </a:ext>
            </a:extLst>
          </p:cNvPr>
          <p:cNvSpPr txBox="1"/>
          <p:nvPr/>
        </p:nvSpPr>
        <p:spPr>
          <a:xfrm>
            <a:off x="900430" y="9525000"/>
            <a:ext cx="158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300" i="1">
                <a:solidFill>
                  <a:srgbClr val="7F8C93"/>
                </a:solidFill>
                <a:latin typeface="Calibri (MS)" panose="020B0604020202020204" charset="0"/>
              </a:rPr>
              <a:t>Sources: Mishra et al. (2026), OpenNeuro ds007537 · Zhang et al. (2024), EEG-SVRec, SIGIR '24 · Cao et al. (2019), Scientific Data, 6, 19</a:t>
            </a:r>
          </a:p>
        </p:txBody>
      </p:sp>
      <p:pic>
        <p:nvPicPr>
          <p:cNvPr id="8" name="svrec_rho" descr="EEG-SVRec per-subject correlation of periodic alpha with immersion">
            <a:extLst>
              <a:ext uri="{FF2B5EF4-FFF2-40B4-BE49-F238E27FC236}">
                <a16:creationId xmlns:a16="http://schemas.microsoft.com/office/drawing/2014/main" id="{3401240C-F956-9654-137A-322B47237CAD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54" y="2815240"/>
            <a:ext cx="4317892" cy="3949700"/>
          </a:xfrm>
          <a:prstGeom prst="rect">
            <a:avLst/>
          </a:prstGeom>
          <a:ln w="19050">
            <a:solidFill>
              <a:srgbClr val="A8DCEC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917324" y="781926"/>
            <a:ext cx="15500000" cy="981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Why the Datasets Could Not Confirm It</a:t>
            </a:r>
          </a:p>
        </p:txBody>
      </p:sp>
      <p:sp>
        <p:nvSpPr>
          <p:cNvPr id="102" name="Chip"/>
          <p:cNvSpPr/>
          <p:nvPr/>
        </p:nvSpPr>
        <p:spPr>
          <a:xfrm>
            <a:off x="5960541" y="1950000"/>
            <a:ext cx="2752420" cy="7000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3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ds007537</a:t>
            </a:r>
            <a:endParaRPr lang="en-US" sz="2300"/>
          </a:p>
        </p:txBody>
      </p:sp>
      <p:sp>
        <p:nvSpPr>
          <p:cNvPr id="103" name="Chip"/>
          <p:cNvSpPr/>
          <p:nvPr/>
        </p:nvSpPr>
        <p:spPr>
          <a:xfrm>
            <a:off x="8832961" y="1950000"/>
            <a:ext cx="2752420" cy="7000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3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EEG-SVRec</a:t>
            </a:r>
            <a:endParaRPr lang="en-US" sz="2300"/>
          </a:p>
        </p:txBody>
      </p:sp>
      <p:sp>
        <p:nvSpPr>
          <p:cNvPr id="104" name="Chip"/>
          <p:cNvSpPr/>
          <p:nvPr/>
        </p:nvSpPr>
        <p:spPr>
          <a:xfrm>
            <a:off x="11705381" y="1950000"/>
            <a:ext cx="2752420" cy="7000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3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Cao 2019</a:t>
            </a:r>
            <a:endParaRPr lang="en-US" sz="2300"/>
          </a:p>
        </p:txBody>
      </p:sp>
      <p:sp>
        <p:nvSpPr>
          <p:cNvPr id="105" name="Chip"/>
          <p:cNvSpPr/>
          <p:nvPr/>
        </p:nvSpPr>
        <p:spPr>
          <a:xfrm>
            <a:off x="14577801" y="1950000"/>
            <a:ext cx="2752420" cy="70000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 study</a:t>
            </a:r>
            <a:endParaRPr lang="en-US" sz="2300" dirty="0"/>
          </a:p>
        </p:txBody>
      </p:sp>
      <p:sp>
        <p:nvSpPr>
          <p:cNvPr id="106" name="Row band"/>
          <p:cNvSpPr/>
          <p:nvPr/>
        </p:nvSpPr>
        <p:spPr>
          <a:xfrm>
            <a:off x="900541" y="2800000"/>
            <a:ext cx="16489680" cy="1080000"/>
          </a:xfrm>
          <a:prstGeom prst="rect">
            <a:avLst/>
          </a:prstGeom>
          <a:solidFill>
            <a:srgbClr val="E3F4FA"/>
          </a:solidFill>
          <a:ln>
            <a:noFill/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07" name="clock" descr="clo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541" y="3025000"/>
            <a:ext cx="700000" cy="700000"/>
          </a:xfrm>
          <a:prstGeom prst="rect">
            <a:avLst/>
          </a:prstGeom>
        </p:spPr>
      </p:pic>
      <p:sp>
        <p:nvSpPr>
          <p:cNvPr id="108" name="Row label"/>
          <p:cNvSpPr txBox="1"/>
          <p:nvPr/>
        </p:nvSpPr>
        <p:spPr>
          <a:xfrm>
            <a:off x="1850541" y="2800000"/>
            <a:ext cx="4050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Duration ≥ 30 min</a:t>
            </a:r>
            <a:endParaRPr lang="en-US" sz="2400" dirty="0"/>
          </a:p>
        </p:txBody>
      </p:sp>
      <p:pic>
        <p:nvPicPr>
          <p:cNvPr id="109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751" y="2890000"/>
            <a:ext cx="600000" cy="600000"/>
          </a:xfrm>
          <a:prstGeom prst="rect">
            <a:avLst/>
          </a:prstGeom>
        </p:spPr>
      </p:pic>
      <p:sp>
        <p:nvSpPr>
          <p:cNvPr id="110" name="Cell caption"/>
          <p:cNvSpPr txBox="1"/>
          <p:nvPr/>
        </p:nvSpPr>
        <p:spPr>
          <a:xfrm>
            <a:off x="5900541" y="352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10 min</a:t>
            </a:r>
            <a:endParaRPr lang="en-US" sz="1800"/>
          </a:p>
        </p:txBody>
      </p:sp>
      <p:pic>
        <p:nvPicPr>
          <p:cNvPr id="111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171" y="2890000"/>
            <a:ext cx="600000" cy="600000"/>
          </a:xfrm>
          <a:prstGeom prst="rect">
            <a:avLst/>
          </a:prstGeom>
        </p:spPr>
      </p:pic>
      <p:sp>
        <p:nvSpPr>
          <p:cNvPr id="112" name="Cell caption"/>
          <p:cNvSpPr txBox="1"/>
          <p:nvPr/>
        </p:nvSpPr>
        <p:spPr>
          <a:xfrm>
            <a:off x="8772961" y="352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≤ 30 min</a:t>
            </a:r>
            <a:endParaRPr lang="en-US" sz="1800"/>
          </a:p>
        </p:txBody>
      </p:sp>
      <p:pic>
        <p:nvPicPr>
          <p:cNvPr id="113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591" y="2890000"/>
            <a:ext cx="600000" cy="600000"/>
          </a:xfrm>
          <a:prstGeom prst="rect">
            <a:avLst/>
          </a:prstGeom>
        </p:spPr>
      </p:pic>
      <p:sp>
        <p:nvSpPr>
          <p:cNvPr id="114" name="Cell caption"/>
          <p:cNvSpPr txBox="1"/>
          <p:nvPr/>
        </p:nvSpPr>
        <p:spPr>
          <a:xfrm>
            <a:off x="11645381" y="352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60–90 min</a:t>
            </a:r>
            <a:endParaRPr lang="en-US" sz="1800"/>
          </a:p>
        </p:txBody>
      </p:sp>
      <p:pic>
        <p:nvPicPr>
          <p:cNvPr id="115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4011" y="2890000"/>
            <a:ext cx="600000" cy="600000"/>
          </a:xfrm>
          <a:prstGeom prst="rect">
            <a:avLst/>
          </a:prstGeom>
        </p:spPr>
      </p:pic>
      <p:sp>
        <p:nvSpPr>
          <p:cNvPr id="116" name="Cell caption"/>
          <p:cNvSpPr txBox="1"/>
          <p:nvPr/>
        </p:nvSpPr>
        <p:spPr>
          <a:xfrm>
            <a:off x="14517801" y="352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45–60 min</a:t>
            </a:r>
            <a:endParaRPr lang="en-US" sz="1800" dirty="0"/>
          </a:p>
        </p:txBody>
      </p:sp>
      <p:pic>
        <p:nvPicPr>
          <p:cNvPr id="117" name="stop" descr="st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541" y="4105000"/>
            <a:ext cx="700000" cy="700000"/>
          </a:xfrm>
          <a:prstGeom prst="rect">
            <a:avLst/>
          </a:prstGeom>
        </p:spPr>
      </p:pic>
      <p:sp>
        <p:nvSpPr>
          <p:cNvPr id="118" name="Row label"/>
          <p:cNvSpPr txBox="1"/>
          <p:nvPr/>
        </p:nvSpPr>
        <p:spPr>
          <a:xfrm>
            <a:off x="1850541" y="3880000"/>
            <a:ext cx="4050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NoGo</a:t>
            </a: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test</a:t>
            </a:r>
            <a:endParaRPr lang="en-US" sz="2400" dirty="0"/>
          </a:p>
        </p:txBody>
      </p:sp>
      <p:pic>
        <p:nvPicPr>
          <p:cNvPr id="119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751" y="3970000"/>
            <a:ext cx="600000" cy="600000"/>
          </a:xfrm>
          <a:prstGeom prst="rect">
            <a:avLst/>
          </a:prstGeom>
        </p:spPr>
      </p:pic>
      <p:sp>
        <p:nvSpPr>
          <p:cNvPr id="120" name="Cell caption"/>
          <p:cNvSpPr txBox="1"/>
          <p:nvPr/>
        </p:nvSpPr>
        <p:spPr>
          <a:xfrm>
            <a:off x="5900541" y="460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free use</a:t>
            </a:r>
            <a:endParaRPr lang="en-US" sz="1800"/>
          </a:p>
        </p:txBody>
      </p:sp>
      <p:pic>
        <p:nvPicPr>
          <p:cNvPr id="121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171" y="3970000"/>
            <a:ext cx="600000" cy="600000"/>
          </a:xfrm>
          <a:prstGeom prst="rect">
            <a:avLst/>
          </a:prstGeom>
        </p:spPr>
      </p:pic>
      <p:sp>
        <p:nvSpPr>
          <p:cNvPr id="122" name="Cell caption"/>
          <p:cNvSpPr txBox="1"/>
          <p:nvPr/>
        </p:nvSpPr>
        <p:spPr>
          <a:xfrm>
            <a:off x="8772961" y="460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passive</a:t>
            </a:r>
            <a:endParaRPr lang="en-US" sz="1800"/>
          </a:p>
        </p:txBody>
      </p:sp>
      <p:pic>
        <p:nvPicPr>
          <p:cNvPr id="123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591" y="3970000"/>
            <a:ext cx="600000" cy="600000"/>
          </a:xfrm>
          <a:prstGeom prst="rect">
            <a:avLst/>
          </a:prstGeom>
        </p:spPr>
      </p:pic>
      <p:sp>
        <p:nvSpPr>
          <p:cNvPr id="124" name="Cell caption"/>
          <p:cNvSpPr txBox="1"/>
          <p:nvPr/>
        </p:nvSpPr>
        <p:spPr>
          <a:xfrm>
            <a:off x="11645381" y="460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lane deviation</a:t>
            </a:r>
            <a:endParaRPr lang="en-US" sz="1800"/>
          </a:p>
        </p:txBody>
      </p:sp>
      <p:pic>
        <p:nvPicPr>
          <p:cNvPr id="125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4011" y="3970000"/>
            <a:ext cx="600000" cy="600000"/>
          </a:xfrm>
          <a:prstGeom prst="rect">
            <a:avLst/>
          </a:prstGeom>
        </p:spPr>
      </p:pic>
      <p:sp>
        <p:nvSpPr>
          <p:cNvPr id="126" name="Cell caption"/>
          <p:cNvSpPr txBox="1"/>
          <p:nvPr/>
        </p:nvSpPr>
        <p:spPr>
          <a:xfrm>
            <a:off x="14517801" y="460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in-feed + pre/post</a:t>
            </a:r>
            <a:endParaRPr lang="en-US" sz="1800"/>
          </a:p>
        </p:txBody>
      </p:sp>
      <p:sp>
        <p:nvSpPr>
          <p:cNvPr id="127" name="Row band"/>
          <p:cNvSpPr/>
          <p:nvPr/>
        </p:nvSpPr>
        <p:spPr>
          <a:xfrm>
            <a:off x="900541" y="4960000"/>
            <a:ext cx="16489680" cy="1080000"/>
          </a:xfrm>
          <a:prstGeom prst="rect">
            <a:avLst/>
          </a:prstGeom>
          <a:solidFill>
            <a:srgbClr val="E3F4FA"/>
          </a:solidFill>
          <a:ln>
            <a:noFill/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28" name="people" descr="peop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541" y="5185000"/>
            <a:ext cx="700000" cy="700000"/>
          </a:xfrm>
          <a:prstGeom prst="rect">
            <a:avLst/>
          </a:prstGeom>
        </p:spPr>
      </p:pic>
      <p:sp>
        <p:nvSpPr>
          <p:cNvPr id="129" name="Row label"/>
          <p:cNvSpPr txBox="1"/>
          <p:nvPr/>
        </p:nvSpPr>
        <p:spPr>
          <a:xfrm>
            <a:off x="1850541" y="4960000"/>
            <a:ext cx="4050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 condition</a:t>
            </a:r>
            <a:endParaRPr lang="en-US" sz="2400"/>
          </a:p>
        </p:txBody>
      </p:sp>
      <p:pic>
        <p:nvPicPr>
          <p:cNvPr id="130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751" y="5050000"/>
            <a:ext cx="600000" cy="600000"/>
          </a:xfrm>
          <a:prstGeom prst="rect">
            <a:avLst/>
          </a:prstGeom>
        </p:spPr>
      </p:pic>
      <p:sp>
        <p:nvSpPr>
          <p:cNvPr id="131" name="Cell caption"/>
          <p:cNvSpPr txBox="1"/>
          <p:nvPr/>
        </p:nvSpPr>
        <p:spPr>
          <a:xfrm>
            <a:off x="5900541" y="568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fixed order</a:t>
            </a:r>
            <a:endParaRPr lang="en-US" sz="1800"/>
          </a:p>
        </p:txBody>
      </p:sp>
      <p:pic>
        <p:nvPicPr>
          <p:cNvPr id="132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171" y="5050000"/>
            <a:ext cx="600000" cy="600000"/>
          </a:xfrm>
          <a:prstGeom prst="rect">
            <a:avLst/>
          </a:prstGeom>
        </p:spPr>
      </p:pic>
      <p:sp>
        <p:nvSpPr>
          <p:cNvPr id="133" name="Cell caption"/>
          <p:cNvSpPr txBox="1"/>
          <p:nvPr/>
        </p:nvSpPr>
        <p:spPr>
          <a:xfrm>
            <a:off x="8772961" y="568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fixed order</a:t>
            </a:r>
            <a:endParaRPr lang="en-US" sz="1800"/>
          </a:p>
        </p:txBody>
      </p:sp>
      <p:pic>
        <p:nvPicPr>
          <p:cNvPr id="134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591" y="5050000"/>
            <a:ext cx="600000" cy="600000"/>
          </a:xfrm>
          <a:prstGeom prst="rect">
            <a:avLst/>
          </a:prstGeom>
        </p:spPr>
      </p:pic>
      <p:sp>
        <p:nvSpPr>
          <p:cNvPr id="135" name="Cell caption"/>
          <p:cNvSpPr txBox="1"/>
          <p:nvPr/>
        </p:nvSpPr>
        <p:spPr>
          <a:xfrm>
            <a:off x="11645381" y="568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none</a:t>
            </a:r>
            <a:endParaRPr lang="en-US" sz="1800"/>
          </a:p>
        </p:txBody>
      </p:sp>
      <p:pic>
        <p:nvPicPr>
          <p:cNvPr id="136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4011" y="5050000"/>
            <a:ext cx="600000" cy="600000"/>
          </a:xfrm>
          <a:prstGeom prst="rect">
            <a:avLst/>
          </a:prstGeom>
        </p:spPr>
      </p:pic>
      <p:sp>
        <p:nvSpPr>
          <p:cNvPr id="137" name="Cell caption"/>
          <p:cNvSpPr txBox="1"/>
          <p:nvPr/>
        </p:nvSpPr>
        <p:spPr>
          <a:xfrm>
            <a:off x="14517801" y="568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documentary</a:t>
            </a:r>
            <a:endParaRPr lang="en-US" sz="1800"/>
          </a:p>
        </p:txBody>
      </p:sp>
      <p:pic>
        <p:nvPicPr>
          <p:cNvPr id="138" name="battery" descr="batter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541" y="6265000"/>
            <a:ext cx="700000" cy="700000"/>
          </a:xfrm>
          <a:prstGeom prst="rect">
            <a:avLst/>
          </a:prstGeom>
        </p:spPr>
      </p:pic>
      <p:sp>
        <p:nvSpPr>
          <p:cNvPr id="139" name="Row label"/>
          <p:cNvSpPr txBox="1"/>
          <p:nvPr/>
        </p:nvSpPr>
        <p:spPr>
          <a:xfrm>
            <a:off x="1850541" y="6040000"/>
            <a:ext cx="4050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Fatigue anchor</a:t>
            </a:r>
            <a:endParaRPr lang="en-US" sz="2400"/>
          </a:p>
        </p:txBody>
      </p:sp>
      <p:pic>
        <p:nvPicPr>
          <p:cNvPr id="140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751" y="6130000"/>
            <a:ext cx="600000" cy="600000"/>
          </a:xfrm>
          <a:prstGeom prst="rect">
            <a:avLst/>
          </a:prstGeom>
        </p:spPr>
      </p:pic>
      <p:sp>
        <p:nvSpPr>
          <p:cNvPr id="141" name="Cell caption"/>
          <p:cNvSpPr txBox="1"/>
          <p:nvPr/>
        </p:nvSpPr>
        <p:spPr>
          <a:xfrm>
            <a:off x="5900541" y="676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none</a:t>
            </a:r>
            <a:endParaRPr lang="en-US" sz="1800"/>
          </a:p>
        </p:txBody>
      </p:sp>
      <p:pic>
        <p:nvPicPr>
          <p:cNvPr id="142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171" y="6130000"/>
            <a:ext cx="600000" cy="600000"/>
          </a:xfrm>
          <a:prstGeom prst="rect">
            <a:avLst/>
          </a:prstGeom>
        </p:spPr>
      </p:pic>
      <p:sp>
        <p:nvSpPr>
          <p:cNvPr id="143" name="Cell caption"/>
          <p:cNvSpPr txBox="1"/>
          <p:nvPr/>
        </p:nvSpPr>
        <p:spPr>
          <a:xfrm>
            <a:off x="8772961" y="676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immersion only</a:t>
            </a:r>
            <a:endParaRPr lang="en-US" sz="1800"/>
          </a:p>
        </p:txBody>
      </p:sp>
      <p:pic>
        <p:nvPicPr>
          <p:cNvPr id="144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591" y="6130000"/>
            <a:ext cx="600000" cy="600000"/>
          </a:xfrm>
          <a:prstGeom prst="rect">
            <a:avLst/>
          </a:prstGeom>
        </p:spPr>
      </p:pic>
      <p:sp>
        <p:nvSpPr>
          <p:cNvPr id="145" name="Cell caption"/>
          <p:cNvSpPr txBox="1"/>
          <p:nvPr/>
        </p:nvSpPr>
        <p:spPr>
          <a:xfrm>
            <a:off x="11645381" y="676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RT, lapses</a:t>
            </a:r>
            <a:endParaRPr lang="en-US" sz="1800"/>
          </a:p>
        </p:txBody>
      </p:sp>
      <p:pic>
        <p:nvPicPr>
          <p:cNvPr id="146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4011" y="6130000"/>
            <a:ext cx="600000" cy="600000"/>
          </a:xfrm>
          <a:prstGeom prst="rect">
            <a:avLst/>
          </a:prstGeom>
        </p:spPr>
      </p:pic>
      <p:sp>
        <p:nvSpPr>
          <p:cNvPr id="147" name="Cell caption"/>
          <p:cNvSpPr txBox="1"/>
          <p:nvPr/>
        </p:nvSpPr>
        <p:spPr>
          <a:xfrm>
            <a:off x="14517801" y="676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KSS + RT</a:t>
            </a:r>
            <a:endParaRPr lang="en-US" sz="1800"/>
          </a:p>
        </p:txBody>
      </p:sp>
      <p:sp>
        <p:nvSpPr>
          <p:cNvPr id="148" name="Row band"/>
          <p:cNvSpPr/>
          <p:nvPr/>
        </p:nvSpPr>
        <p:spPr>
          <a:xfrm>
            <a:off x="900541" y="7120000"/>
            <a:ext cx="16489680" cy="1080000"/>
          </a:xfrm>
          <a:prstGeom prst="rect">
            <a:avLst/>
          </a:prstGeom>
          <a:solidFill>
            <a:srgbClr val="E3F4FA"/>
          </a:solidFill>
          <a:ln>
            <a:noFill/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49" name="phone" descr="pho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541" y="7345000"/>
            <a:ext cx="700000" cy="700000"/>
          </a:xfrm>
          <a:prstGeom prst="rect">
            <a:avLst/>
          </a:prstGeom>
        </p:spPr>
      </p:pic>
      <p:sp>
        <p:nvSpPr>
          <p:cNvPr id="150" name="Row label"/>
          <p:cNvSpPr txBox="1"/>
          <p:nvPr/>
        </p:nvSpPr>
        <p:spPr>
          <a:xfrm>
            <a:off x="1850541" y="7120000"/>
            <a:ext cx="4050000" cy="1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Scrolling paradigm</a:t>
            </a:r>
            <a:endParaRPr lang="en-US" sz="2400"/>
          </a:p>
        </p:txBody>
      </p:sp>
      <p:pic>
        <p:nvPicPr>
          <p:cNvPr id="151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751" y="7210000"/>
            <a:ext cx="600000" cy="600000"/>
          </a:xfrm>
          <a:prstGeom prst="rect">
            <a:avLst/>
          </a:prstGeom>
        </p:spPr>
      </p:pic>
      <p:sp>
        <p:nvSpPr>
          <p:cNvPr id="152" name="Cell caption"/>
          <p:cNvSpPr txBox="1"/>
          <p:nvPr/>
        </p:nvSpPr>
        <p:spPr>
          <a:xfrm>
            <a:off x="5900541" y="784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smartphone</a:t>
            </a:r>
            <a:endParaRPr lang="en-US" sz="1800"/>
          </a:p>
        </p:txBody>
      </p:sp>
      <p:pic>
        <p:nvPicPr>
          <p:cNvPr id="153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9171" y="7210000"/>
            <a:ext cx="600000" cy="600000"/>
          </a:xfrm>
          <a:prstGeom prst="rect">
            <a:avLst/>
          </a:prstGeom>
        </p:spPr>
      </p:pic>
      <p:sp>
        <p:nvSpPr>
          <p:cNvPr id="154" name="Cell caption"/>
          <p:cNvSpPr txBox="1"/>
          <p:nvPr/>
        </p:nvSpPr>
        <p:spPr>
          <a:xfrm>
            <a:off x="8772961" y="784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short video</a:t>
            </a:r>
            <a:endParaRPr lang="en-US" sz="1800"/>
          </a:p>
        </p:txBody>
      </p:sp>
      <p:pic>
        <p:nvPicPr>
          <p:cNvPr id="155" name="cross" descr="cro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591" y="7210000"/>
            <a:ext cx="600000" cy="600000"/>
          </a:xfrm>
          <a:prstGeom prst="rect">
            <a:avLst/>
          </a:prstGeom>
        </p:spPr>
      </p:pic>
      <p:sp>
        <p:nvSpPr>
          <p:cNvPr id="156" name="Cell caption"/>
          <p:cNvSpPr txBox="1"/>
          <p:nvPr/>
        </p:nvSpPr>
        <p:spPr>
          <a:xfrm>
            <a:off x="11645381" y="784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driving</a:t>
            </a:r>
            <a:endParaRPr lang="en-US" sz="1800"/>
          </a:p>
        </p:txBody>
      </p:sp>
      <p:pic>
        <p:nvPicPr>
          <p:cNvPr id="157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4011" y="7210000"/>
            <a:ext cx="600000" cy="600000"/>
          </a:xfrm>
          <a:prstGeom prst="rect">
            <a:avLst/>
          </a:prstGeom>
        </p:spPr>
      </p:pic>
      <p:sp>
        <p:nvSpPr>
          <p:cNvPr id="158" name="Cell caption"/>
          <p:cNvSpPr txBox="1"/>
          <p:nvPr/>
        </p:nvSpPr>
        <p:spPr>
          <a:xfrm>
            <a:off x="14517801" y="7840000"/>
            <a:ext cx="287242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8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short video</a:t>
            </a:r>
            <a:endParaRPr lang="en-US" sz="1800"/>
          </a:p>
        </p:txBody>
      </p:sp>
      <p:sp>
        <p:nvSpPr>
          <p:cNvPr id="159" name="Key sentence"/>
          <p:cNvSpPr/>
          <p:nvPr/>
        </p:nvSpPr>
        <p:spPr>
          <a:xfrm>
            <a:off x="900541" y="8400000"/>
            <a:ext cx="16489680" cy="900000"/>
          </a:xfrm>
          <a:prstGeom prst="roundRect">
            <a:avLst>
              <a:gd name="adj" fmla="val 8000"/>
            </a:avLst>
          </a:prstGeom>
          <a:solidFill>
            <a:srgbClr val="006F95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my knowledge, no public dataset has all five</a:t>
            </a:r>
            <a:endParaRPr lang="en-US" sz="2600" dirty="0"/>
          </a:p>
        </p:txBody>
      </p:sp>
      <p:sp>
        <p:nvSpPr>
          <p:cNvPr id="4" name="Citation footer">
            <a:extLst>
              <a:ext uri="{FF2B5EF4-FFF2-40B4-BE49-F238E27FC236}">
                <a16:creationId xmlns:a16="http://schemas.microsoft.com/office/drawing/2014/main" id="{C18C572A-83C0-8AD4-EF6B-3768D4F5D2D7}"/>
              </a:ext>
            </a:extLst>
          </p:cNvPr>
          <p:cNvSpPr txBox="1"/>
          <p:nvPr/>
        </p:nvSpPr>
        <p:spPr>
          <a:xfrm>
            <a:off x="900430" y="9525000"/>
            <a:ext cx="158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300" i="1">
                <a:solidFill>
                  <a:srgbClr val="7F8C93"/>
                </a:solidFill>
                <a:latin typeface="Calibri (MS)" panose="020B0604020202020204" charset="0"/>
              </a:rPr>
              <a:t>Sources: Mishra et al. (2026), OpenNeuro ds007537 · Zhang et al. (2024), EEG-SVRec, SIGIR '24 · Cao et al. (2019), Scientific Data, 6,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ntage tile">
            <a:extLst>
              <a:ext uri="{FF2B5EF4-FFF2-40B4-BE49-F238E27FC236}">
                <a16:creationId xmlns:a16="http://schemas.microsoft.com/office/drawing/2014/main" id="{FDF019C8-863E-35C5-D847-81995C41FBC9}"/>
              </a:ext>
            </a:extLst>
          </p:cNvPr>
          <p:cNvSpPr/>
          <p:nvPr/>
        </p:nvSpPr>
        <p:spPr>
          <a:xfrm>
            <a:off x="900430" y="4649470"/>
            <a:ext cx="8128000" cy="445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8DC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1" name="Title"/>
          <p:cNvSpPr txBox="1"/>
          <p:nvPr/>
        </p:nvSpPr>
        <p:spPr>
          <a:xfrm>
            <a:off x="917324" y="781926"/>
            <a:ext cx="15500000" cy="981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Experimental Plan</a:t>
            </a:r>
          </a:p>
        </p:txBody>
      </p:sp>
      <p:sp>
        <p:nvSpPr>
          <p:cNvPr id="102" name="Session step"/>
          <p:cNvSpPr/>
          <p:nvPr/>
        </p:nvSpPr>
        <p:spPr>
          <a:xfrm>
            <a:off x="900541" y="1950000"/>
            <a:ext cx="2350000" cy="235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03" name="eye" descr="ey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41" y="2150000"/>
            <a:ext cx="800000" cy="800000"/>
          </a:xfrm>
          <a:prstGeom prst="rect">
            <a:avLst/>
          </a:prstGeom>
        </p:spPr>
      </p:pic>
      <p:sp>
        <p:nvSpPr>
          <p:cNvPr id="104" name="Step text"/>
          <p:cNvSpPr txBox="1"/>
          <p:nvPr/>
        </p:nvSpPr>
        <p:spPr>
          <a:xfrm>
            <a:off x="950541" y="3050000"/>
            <a:ext cx="225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Baseline</a:t>
            </a:r>
            <a:endParaRPr lang="en-US" sz="2400" dirty="0"/>
          </a:p>
          <a:p>
            <a:pPr algn="ctr">
              <a:spcAft>
                <a:spcPts val="0"/>
              </a:spcAft>
              <a:buNone/>
            </a:pPr>
            <a:r>
              <a:rPr lang="en-US" sz="19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1 min</a:t>
            </a:r>
            <a:endParaRPr lang="en-US" sz="1900" dirty="0"/>
          </a:p>
        </p:txBody>
      </p:sp>
      <p:sp>
        <p:nvSpPr>
          <p:cNvPr id="105" name="Arrow"/>
          <p:cNvSpPr/>
          <p:nvPr/>
        </p:nvSpPr>
        <p:spPr>
          <a:xfrm>
            <a:off x="3310541" y="2950000"/>
            <a:ext cx="230000" cy="350000"/>
          </a:xfrm>
          <a:prstGeom prst="rightArrow">
            <a:avLst/>
          </a:prstGeom>
          <a:solidFill>
            <a:srgbClr val="A8DCE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06" name="Session step"/>
          <p:cNvSpPr/>
          <p:nvPr/>
        </p:nvSpPr>
        <p:spPr>
          <a:xfrm>
            <a:off x="3600541" y="1950000"/>
            <a:ext cx="2350000" cy="235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07" name="stop" descr="s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541" y="2150000"/>
            <a:ext cx="800000" cy="800000"/>
          </a:xfrm>
          <a:prstGeom prst="rect">
            <a:avLst/>
          </a:prstGeom>
        </p:spPr>
      </p:pic>
      <p:sp>
        <p:nvSpPr>
          <p:cNvPr id="108" name="Step text"/>
          <p:cNvSpPr txBox="1"/>
          <p:nvPr/>
        </p:nvSpPr>
        <p:spPr>
          <a:xfrm>
            <a:off x="3650541" y="3050000"/>
            <a:ext cx="225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Go/NoGo</a:t>
            </a:r>
            <a:endParaRPr lang="en-US" sz="2400" dirty="0"/>
          </a:p>
          <a:p>
            <a:pPr algn="ctr">
              <a:spcAft>
                <a:spcPts val="0"/>
              </a:spcAft>
              <a:buNone/>
            </a:pPr>
            <a:r>
              <a:rPr lang="en-US" sz="19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pre · 3 min</a:t>
            </a:r>
            <a:endParaRPr lang="en-US" sz="1900" dirty="0"/>
          </a:p>
        </p:txBody>
      </p:sp>
      <p:sp>
        <p:nvSpPr>
          <p:cNvPr id="109" name="Arrow"/>
          <p:cNvSpPr/>
          <p:nvPr/>
        </p:nvSpPr>
        <p:spPr>
          <a:xfrm>
            <a:off x="6010541" y="2950000"/>
            <a:ext cx="230000" cy="350000"/>
          </a:xfrm>
          <a:prstGeom prst="rightArrow">
            <a:avLst/>
          </a:prstGeom>
          <a:solidFill>
            <a:srgbClr val="A8DCE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0" name="Session step"/>
          <p:cNvSpPr/>
          <p:nvPr/>
        </p:nvSpPr>
        <p:spPr>
          <a:xfrm>
            <a:off x="6300541" y="1950000"/>
            <a:ext cx="4750000" cy="2350000"/>
          </a:xfrm>
          <a:prstGeom prst="roundRect">
            <a:avLst>
              <a:gd name="adj" fmla="val 8000"/>
            </a:avLst>
          </a:prstGeom>
          <a:solidFill>
            <a:srgbClr val="006F95"/>
          </a:solidFill>
          <a:ln>
            <a:noFill/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1" name="phone" descr="ph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541" y="2150000"/>
            <a:ext cx="800000" cy="800000"/>
          </a:xfrm>
          <a:prstGeom prst="rect">
            <a:avLst/>
          </a:prstGeom>
        </p:spPr>
      </p:pic>
      <p:sp>
        <p:nvSpPr>
          <p:cNvPr id="112" name="Step text"/>
          <p:cNvSpPr txBox="1"/>
          <p:nvPr/>
        </p:nvSpPr>
        <p:spPr>
          <a:xfrm>
            <a:off x="6350541" y="3050000"/>
            <a:ext cx="465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Scrolling | documentary</a:t>
            </a:r>
            <a:endParaRPr lang="en-US" sz="2400"/>
          </a:p>
          <a:p>
            <a:pPr algn="ctr">
              <a:spcAft>
                <a:spcPts val="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45–60 min · in-feed NoGo</a:t>
            </a:r>
            <a:endParaRPr lang="en-US" sz="1900"/>
          </a:p>
        </p:txBody>
      </p:sp>
      <p:sp>
        <p:nvSpPr>
          <p:cNvPr id="113" name="Arrow"/>
          <p:cNvSpPr/>
          <p:nvPr/>
        </p:nvSpPr>
        <p:spPr>
          <a:xfrm>
            <a:off x="11110541" y="2950000"/>
            <a:ext cx="230000" cy="350000"/>
          </a:xfrm>
          <a:prstGeom prst="rightArrow">
            <a:avLst/>
          </a:prstGeom>
          <a:solidFill>
            <a:srgbClr val="A8DCE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4" name="Session step"/>
          <p:cNvSpPr/>
          <p:nvPr/>
        </p:nvSpPr>
        <p:spPr>
          <a:xfrm>
            <a:off x="11400541" y="1950000"/>
            <a:ext cx="2350000" cy="235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5" name="stop" descr="s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541" y="2150000"/>
            <a:ext cx="800000" cy="800000"/>
          </a:xfrm>
          <a:prstGeom prst="rect">
            <a:avLst/>
          </a:prstGeom>
        </p:spPr>
      </p:pic>
      <p:sp>
        <p:nvSpPr>
          <p:cNvPr id="116" name="Step text"/>
          <p:cNvSpPr txBox="1"/>
          <p:nvPr/>
        </p:nvSpPr>
        <p:spPr>
          <a:xfrm>
            <a:off x="11450541" y="3050000"/>
            <a:ext cx="225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Go/NoGo</a:t>
            </a:r>
            <a:endParaRPr lang="en-US" sz="2400" dirty="0"/>
          </a:p>
          <a:p>
            <a:pPr algn="ctr">
              <a:spcAft>
                <a:spcPts val="0"/>
              </a:spcAft>
              <a:buNone/>
            </a:pPr>
            <a:r>
              <a:rPr lang="en-US" sz="19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post · 3 min</a:t>
            </a:r>
            <a:endParaRPr lang="en-US" sz="1900" dirty="0"/>
          </a:p>
        </p:txBody>
      </p:sp>
      <p:sp>
        <p:nvSpPr>
          <p:cNvPr id="117" name="Arrow"/>
          <p:cNvSpPr/>
          <p:nvPr/>
        </p:nvSpPr>
        <p:spPr>
          <a:xfrm>
            <a:off x="13810541" y="2950000"/>
            <a:ext cx="230000" cy="350000"/>
          </a:xfrm>
          <a:prstGeom prst="rightArrow">
            <a:avLst/>
          </a:prstGeom>
          <a:solidFill>
            <a:srgbClr val="A8DCE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8" name="Session step"/>
          <p:cNvSpPr/>
          <p:nvPr/>
        </p:nvSpPr>
        <p:spPr>
          <a:xfrm>
            <a:off x="14100541" y="1950000"/>
            <a:ext cx="3289680" cy="235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9" name="checklist" descr="checkli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5381" y="2150000"/>
            <a:ext cx="800000" cy="800000"/>
          </a:xfrm>
          <a:prstGeom prst="rect">
            <a:avLst/>
          </a:prstGeom>
        </p:spPr>
      </p:pic>
      <p:sp>
        <p:nvSpPr>
          <p:cNvPr id="120" name="Step text"/>
          <p:cNvSpPr txBox="1"/>
          <p:nvPr/>
        </p:nvSpPr>
        <p:spPr>
          <a:xfrm>
            <a:off x="14150541" y="3050000"/>
            <a:ext cx="318968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Self-report</a:t>
            </a:r>
            <a:endParaRPr lang="en-US" sz="2400" dirty="0"/>
          </a:p>
          <a:p>
            <a:pPr algn="ctr">
              <a:spcAft>
                <a:spcPts val="0"/>
              </a:spcAft>
              <a:buNone/>
            </a:pPr>
            <a:r>
              <a:rPr lang="en-US" sz="19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KSS · RT</a:t>
            </a:r>
            <a:endParaRPr lang="en-US" sz="1900" dirty="0"/>
          </a:p>
        </p:txBody>
      </p:sp>
      <p:pic>
        <p:nvPicPr>
          <p:cNvPr id="121" name="montage" descr="mont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030" y="4839970"/>
            <a:ext cx="4407737" cy="4069080"/>
          </a:xfrm>
          <a:prstGeom prst="rect">
            <a:avLst/>
          </a:prstGeom>
          <a:ln w="19050"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A8DCEC"/>
                </a:solidFill>
              </a14:hiddenLine>
            </a:ext>
          </a:extLst>
        </p:spPr>
      </p:pic>
      <p:sp>
        <p:nvSpPr>
          <p:cNvPr id="122" name="Montage label"/>
          <p:cNvSpPr txBox="1"/>
          <p:nvPr/>
        </p:nvSpPr>
        <p:spPr>
          <a:xfrm>
            <a:off x="5790768" y="5157470"/>
            <a:ext cx="298366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AURA · 8 channels</a:t>
            </a:r>
            <a:endParaRPr lang="en-US" sz="2600"/>
          </a:p>
        </p:txBody>
      </p:sp>
      <p:sp>
        <p:nvSpPr>
          <p:cNvPr id="129" name="Simulation"/>
          <p:cNvSpPr/>
          <p:nvPr/>
        </p:nvSpPr>
        <p:spPr>
          <a:xfrm>
            <a:off x="9384030" y="4649470"/>
            <a:ext cx="8006080" cy="4450080"/>
          </a:xfrm>
          <a:prstGeom prst="roundRect">
            <a:avLst>
              <a:gd name="adj" fmla="val 8000"/>
            </a:avLst>
          </a:prstGeom>
          <a:solidFill>
            <a:srgbClr val="006F95"/>
          </a:solidFill>
          <a:ln>
            <a:noFill/>
          </a:ln>
        </p:spPr>
        <p:txBody>
          <a:bodyPr wrap="square" lIns="320040" tIns="1450000" rIns="320040" bIns="182880" rtlCol="0" anchor="t">
            <a:no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Simulation first</a:t>
            </a:r>
            <a:endParaRPr lang="en-US" sz="2900" dirty="0"/>
          </a:p>
          <a:p>
            <a:pPr marL="342900" indent="-342900" algn="l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LSL replay of recorded EEG</a:t>
            </a:r>
            <a:endParaRPr lang="en-US" sz="2300" dirty="0"/>
          </a:p>
          <a:p>
            <a:pPr marL="342900" indent="-342900" algn="l">
              <a:spcAft>
                <a:spcPts val="700"/>
              </a:spcAft>
              <a:buClr>
                <a:srgbClr val="FFFFFF"/>
              </a:buClr>
              <a:buFont typeface="Arial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Tests features + latency</a:t>
            </a:r>
            <a:endParaRPr lang="en-US" sz="2300" dirty="0"/>
          </a:p>
        </p:txBody>
      </p:sp>
      <p:pic>
        <p:nvPicPr>
          <p:cNvPr id="130" name="play" descr="pla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1530" y="4954270"/>
            <a:ext cx="900000" cy="900000"/>
          </a:xfrm>
          <a:prstGeom prst="rect">
            <a:avLst/>
          </a:prstGeom>
        </p:spPr>
      </p:pic>
      <p:sp>
        <p:nvSpPr>
          <p:cNvPr id="5" name="Legend dot">
            <a:extLst>
              <a:ext uri="{FF2B5EF4-FFF2-40B4-BE49-F238E27FC236}">
                <a16:creationId xmlns:a16="http://schemas.microsoft.com/office/drawing/2014/main" id="{B7E71F14-DCD9-C678-EF7A-1355980295B1}"/>
              </a:ext>
            </a:extLst>
          </p:cNvPr>
          <p:cNvSpPr/>
          <p:nvPr/>
        </p:nvSpPr>
        <p:spPr>
          <a:xfrm>
            <a:off x="5790767" y="6122670"/>
            <a:ext cx="330200" cy="330200"/>
          </a:xfrm>
          <a:prstGeom prst="ellipse">
            <a:avLst/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Legend label">
            <a:extLst>
              <a:ext uri="{FF2B5EF4-FFF2-40B4-BE49-F238E27FC236}">
                <a16:creationId xmlns:a16="http://schemas.microsoft.com/office/drawing/2014/main" id="{D80F8385-5685-4442-7287-25B9DE498F0F}"/>
              </a:ext>
            </a:extLst>
          </p:cNvPr>
          <p:cNvSpPr txBox="1"/>
          <p:nvPr/>
        </p:nvSpPr>
        <p:spPr>
          <a:xfrm>
            <a:off x="6273367" y="6046470"/>
            <a:ext cx="250106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2200" b="1">
                <a:solidFill>
                  <a:srgbClr val="006F95"/>
                </a:solidFill>
                <a:latin typeface="Calibri (MS) Bold" panose="020B0604020202020204" charset="0"/>
              </a:rPr>
              <a:t>Frontal theta</a:t>
            </a:r>
          </a:p>
        </p:txBody>
      </p:sp>
      <p:sp>
        <p:nvSpPr>
          <p:cNvPr id="7" name="Legend channels">
            <a:extLst>
              <a:ext uri="{FF2B5EF4-FFF2-40B4-BE49-F238E27FC236}">
                <a16:creationId xmlns:a16="http://schemas.microsoft.com/office/drawing/2014/main" id="{3DC1F9BA-8D44-889C-5C0E-5FCD63697B9E}"/>
              </a:ext>
            </a:extLst>
          </p:cNvPr>
          <p:cNvSpPr txBox="1"/>
          <p:nvPr/>
        </p:nvSpPr>
        <p:spPr>
          <a:xfrm>
            <a:off x="6273367" y="6427470"/>
            <a:ext cx="250106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>
                <a:solidFill>
                  <a:srgbClr val="4A6572"/>
                </a:solidFill>
                <a:latin typeface="Calibri (MS)" panose="020B0604020202020204" charset="0"/>
              </a:rPr>
              <a:t>Fz · FCz · F3 · F4</a:t>
            </a:r>
          </a:p>
        </p:txBody>
      </p:sp>
      <p:sp>
        <p:nvSpPr>
          <p:cNvPr id="8" name="Legend dot">
            <a:extLst>
              <a:ext uri="{FF2B5EF4-FFF2-40B4-BE49-F238E27FC236}">
                <a16:creationId xmlns:a16="http://schemas.microsoft.com/office/drawing/2014/main" id="{F52F6BEA-C761-A8F1-4753-5CC6DACB231E}"/>
              </a:ext>
            </a:extLst>
          </p:cNvPr>
          <p:cNvSpPr/>
          <p:nvPr/>
        </p:nvSpPr>
        <p:spPr>
          <a:xfrm>
            <a:off x="5790767" y="7037070"/>
            <a:ext cx="330200" cy="330200"/>
          </a:xfrm>
          <a:prstGeom prst="ellipse">
            <a:avLst/>
          </a:prstGeom>
          <a:solidFill>
            <a:srgbClr val="E07A5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Legend label">
            <a:extLst>
              <a:ext uri="{FF2B5EF4-FFF2-40B4-BE49-F238E27FC236}">
                <a16:creationId xmlns:a16="http://schemas.microsoft.com/office/drawing/2014/main" id="{9FC5629B-0285-E638-FE81-459A36017192}"/>
              </a:ext>
            </a:extLst>
          </p:cNvPr>
          <p:cNvSpPr txBox="1"/>
          <p:nvPr/>
        </p:nvSpPr>
        <p:spPr>
          <a:xfrm>
            <a:off x="6273367" y="6960870"/>
            <a:ext cx="250106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2200" b="1">
                <a:solidFill>
                  <a:srgbClr val="006F95"/>
                </a:solidFill>
                <a:latin typeface="Calibri (MS) Bold" panose="020B0604020202020204" charset="0"/>
              </a:rPr>
              <a:t>Posterior alpha</a:t>
            </a:r>
          </a:p>
        </p:txBody>
      </p:sp>
      <p:sp>
        <p:nvSpPr>
          <p:cNvPr id="10" name="Legend channels">
            <a:extLst>
              <a:ext uri="{FF2B5EF4-FFF2-40B4-BE49-F238E27FC236}">
                <a16:creationId xmlns:a16="http://schemas.microsoft.com/office/drawing/2014/main" id="{1F46636E-323D-B1C7-5149-AAC338CD3F8D}"/>
              </a:ext>
            </a:extLst>
          </p:cNvPr>
          <p:cNvSpPr txBox="1"/>
          <p:nvPr/>
        </p:nvSpPr>
        <p:spPr>
          <a:xfrm>
            <a:off x="6273367" y="7341870"/>
            <a:ext cx="250106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>
                <a:solidFill>
                  <a:srgbClr val="4A6572"/>
                </a:solidFill>
                <a:latin typeface="Calibri (MS)" panose="020B0604020202020204" charset="0"/>
              </a:rPr>
              <a:t>Pz · O1 · O2</a:t>
            </a:r>
          </a:p>
        </p:txBody>
      </p:sp>
      <p:sp>
        <p:nvSpPr>
          <p:cNvPr id="11" name="Legend dot">
            <a:extLst>
              <a:ext uri="{FF2B5EF4-FFF2-40B4-BE49-F238E27FC236}">
                <a16:creationId xmlns:a16="http://schemas.microsoft.com/office/drawing/2014/main" id="{8851F00A-3C2D-4D64-D536-375B47DFD439}"/>
              </a:ext>
            </a:extLst>
          </p:cNvPr>
          <p:cNvSpPr/>
          <p:nvPr/>
        </p:nvSpPr>
        <p:spPr>
          <a:xfrm>
            <a:off x="5790767" y="7951470"/>
            <a:ext cx="330200" cy="330200"/>
          </a:xfrm>
          <a:prstGeom prst="ellipse">
            <a:avLst/>
          </a:prstGeom>
          <a:solidFill>
            <a:srgbClr val="9AA5A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Legend label">
            <a:extLst>
              <a:ext uri="{FF2B5EF4-FFF2-40B4-BE49-F238E27FC236}">
                <a16:creationId xmlns:a16="http://schemas.microsoft.com/office/drawing/2014/main" id="{D435F0B7-990F-9739-B2C1-C069DC63AEF7}"/>
              </a:ext>
            </a:extLst>
          </p:cNvPr>
          <p:cNvSpPr txBox="1"/>
          <p:nvPr/>
        </p:nvSpPr>
        <p:spPr>
          <a:xfrm>
            <a:off x="6273367" y="7875270"/>
            <a:ext cx="250106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2200" b="1">
                <a:solidFill>
                  <a:srgbClr val="006F95"/>
                </a:solidFill>
                <a:latin typeface="Calibri (MS) Bold" panose="020B0604020202020204" charset="0"/>
              </a:rPr>
              <a:t>Blinks</a:t>
            </a:r>
          </a:p>
        </p:txBody>
      </p:sp>
      <p:sp>
        <p:nvSpPr>
          <p:cNvPr id="13" name="Legend channels">
            <a:extLst>
              <a:ext uri="{FF2B5EF4-FFF2-40B4-BE49-F238E27FC236}">
                <a16:creationId xmlns:a16="http://schemas.microsoft.com/office/drawing/2014/main" id="{29083EE4-2966-A09A-F15D-4D539BED2418}"/>
              </a:ext>
            </a:extLst>
          </p:cNvPr>
          <p:cNvSpPr txBox="1"/>
          <p:nvPr/>
        </p:nvSpPr>
        <p:spPr>
          <a:xfrm>
            <a:off x="6273367" y="8256270"/>
            <a:ext cx="250106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>
                <a:solidFill>
                  <a:srgbClr val="4A6572"/>
                </a:solidFill>
                <a:latin typeface="Calibri (MS)" panose="020B0604020202020204" charset="0"/>
              </a:rPr>
              <a:t>Fp1</a:t>
            </a:r>
          </a:p>
        </p:txBody>
      </p:sp>
      <p:sp>
        <p:nvSpPr>
          <p:cNvPr id="14" name="Sim flow step">
            <a:extLst>
              <a:ext uri="{FF2B5EF4-FFF2-40B4-BE49-F238E27FC236}">
                <a16:creationId xmlns:a16="http://schemas.microsoft.com/office/drawing/2014/main" id="{7EA2D76D-5F55-01A8-3E2D-65ED1208BF32}"/>
              </a:ext>
            </a:extLst>
          </p:cNvPr>
          <p:cNvSpPr/>
          <p:nvPr/>
        </p:nvSpPr>
        <p:spPr>
          <a:xfrm>
            <a:off x="9688830" y="8210550"/>
            <a:ext cx="1563370" cy="5842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MX" sz="1700" b="1">
                <a:solidFill>
                  <a:srgbClr val="006F95"/>
                </a:solidFill>
                <a:latin typeface="Calibri (MS) Bold" panose="020B0604020202020204" charset="0"/>
              </a:rPr>
              <a:t>EEG file</a:t>
            </a:r>
          </a:p>
        </p:txBody>
      </p:sp>
      <p:sp>
        <p:nvSpPr>
          <p:cNvPr id="15" name="Sim flow arrow">
            <a:extLst>
              <a:ext uri="{FF2B5EF4-FFF2-40B4-BE49-F238E27FC236}">
                <a16:creationId xmlns:a16="http://schemas.microsoft.com/office/drawing/2014/main" id="{33DC7B48-730A-1F6E-FF25-6B1D8FBDC713}"/>
              </a:ext>
            </a:extLst>
          </p:cNvPr>
          <p:cNvSpPr/>
          <p:nvPr/>
        </p:nvSpPr>
        <p:spPr>
          <a:xfrm>
            <a:off x="11303000" y="8388350"/>
            <a:ext cx="279400" cy="228600"/>
          </a:xfrm>
          <a:prstGeom prst="rightArrow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Sim flow step">
            <a:extLst>
              <a:ext uri="{FF2B5EF4-FFF2-40B4-BE49-F238E27FC236}">
                <a16:creationId xmlns:a16="http://schemas.microsoft.com/office/drawing/2014/main" id="{8F33CD89-CB1B-F377-978F-F9F9D1CFD001}"/>
              </a:ext>
            </a:extLst>
          </p:cNvPr>
          <p:cNvSpPr/>
          <p:nvPr/>
        </p:nvSpPr>
        <p:spPr>
          <a:xfrm>
            <a:off x="11633200" y="8210550"/>
            <a:ext cx="1563370" cy="5842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MX" sz="1700" b="1">
                <a:solidFill>
                  <a:srgbClr val="006F95"/>
                </a:solidFill>
                <a:latin typeface="Calibri (MS) Bold" panose="020B0604020202020204" charset="0"/>
              </a:rPr>
              <a:t>LSL replay</a:t>
            </a:r>
          </a:p>
        </p:txBody>
      </p:sp>
      <p:sp>
        <p:nvSpPr>
          <p:cNvPr id="17" name="Sim flow arrow">
            <a:extLst>
              <a:ext uri="{FF2B5EF4-FFF2-40B4-BE49-F238E27FC236}">
                <a16:creationId xmlns:a16="http://schemas.microsoft.com/office/drawing/2014/main" id="{80061FC4-4A4E-AFCE-C933-9ADEC43AFF95}"/>
              </a:ext>
            </a:extLst>
          </p:cNvPr>
          <p:cNvSpPr/>
          <p:nvPr/>
        </p:nvSpPr>
        <p:spPr>
          <a:xfrm>
            <a:off x="13247370" y="8388350"/>
            <a:ext cx="279400" cy="228600"/>
          </a:xfrm>
          <a:prstGeom prst="rightArrow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Sim flow step">
            <a:extLst>
              <a:ext uri="{FF2B5EF4-FFF2-40B4-BE49-F238E27FC236}">
                <a16:creationId xmlns:a16="http://schemas.microsoft.com/office/drawing/2014/main" id="{7A61ECCE-6F6A-F525-F3AA-08CD520A80BF}"/>
              </a:ext>
            </a:extLst>
          </p:cNvPr>
          <p:cNvSpPr/>
          <p:nvPr/>
        </p:nvSpPr>
        <p:spPr>
          <a:xfrm>
            <a:off x="13577570" y="8210550"/>
            <a:ext cx="1563369" cy="5842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MX" sz="1700" b="1">
                <a:solidFill>
                  <a:srgbClr val="006F95"/>
                </a:solidFill>
                <a:latin typeface="Calibri (MS) Bold" panose="020B0604020202020204" charset="0"/>
              </a:rPr>
              <a:t>Pipeline</a:t>
            </a:r>
          </a:p>
        </p:txBody>
      </p:sp>
      <p:sp>
        <p:nvSpPr>
          <p:cNvPr id="19" name="Sim flow arrow">
            <a:extLst>
              <a:ext uri="{FF2B5EF4-FFF2-40B4-BE49-F238E27FC236}">
                <a16:creationId xmlns:a16="http://schemas.microsoft.com/office/drawing/2014/main" id="{350FCAAD-8F90-8FBD-3B9A-4DC6B390974E}"/>
              </a:ext>
            </a:extLst>
          </p:cNvPr>
          <p:cNvSpPr/>
          <p:nvPr/>
        </p:nvSpPr>
        <p:spPr>
          <a:xfrm>
            <a:off x="15191739" y="8388350"/>
            <a:ext cx="279400" cy="228600"/>
          </a:xfrm>
          <a:prstGeom prst="rightArrow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Sim flow step">
            <a:extLst>
              <a:ext uri="{FF2B5EF4-FFF2-40B4-BE49-F238E27FC236}">
                <a16:creationId xmlns:a16="http://schemas.microsoft.com/office/drawing/2014/main" id="{41F97592-DF9D-FFC9-1947-9D87697D8369}"/>
              </a:ext>
            </a:extLst>
          </p:cNvPr>
          <p:cNvSpPr/>
          <p:nvPr/>
        </p:nvSpPr>
        <p:spPr>
          <a:xfrm>
            <a:off x="15521939" y="8210550"/>
            <a:ext cx="1563370" cy="5842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s-MX" sz="1700" b="1">
                <a:solidFill>
                  <a:srgbClr val="006F95"/>
                </a:solidFill>
                <a:latin typeface="Calibri (MS) Bold" panose="020B0604020202020204" charset="0"/>
              </a:rPr>
              <a:t>AR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1B01-D75C-4886-ED84-55A42102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919E5166-EFB8-623B-1D10-C5E9B9D5A071}"/>
              </a:ext>
            </a:extLst>
          </p:cNvPr>
          <p:cNvGrpSpPr/>
          <p:nvPr/>
        </p:nvGrpSpPr>
        <p:grpSpPr>
          <a:xfrm>
            <a:off x="914400" y="2103120"/>
            <a:ext cx="16459200" cy="587435"/>
            <a:chOff x="0" y="0"/>
            <a:chExt cx="21945600" cy="783247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0DE11A4F-A1FE-9413-8A0F-E710C058CC8A}"/>
                </a:ext>
              </a:extLst>
            </p:cNvPr>
            <p:cNvSpPr/>
            <p:nvPr/>
          </p:nvSpPr>
          <p:spPr>
            <a:xfrm>
              <a:off x="0" y="0"/>
              <a:ext cx="21945600" cy="783209"/>
            </a:xfrm>
            <a:custGeom>
              <a:avLst/>
              <a:gdLst/>
              <a:ahLst/>
              <a:cxnLst/>
              <a:rect l="l" t="t" r="r" b="b"/>
              <a:pathLst>
                <a:path w="21945600" h="783209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21749765" y="0"/>
                  </a:lnTo>
                  <a:cubicBezTo>
                    <a:pt x="21857970" y="0"/>
                    <a:pt x="21945600" y="87630"/>
                    <a:pt x="21945600" y="195834"/>
                  </a:cubicBezTo>
                  <a:lnTo>
                    <a:pt x="21945600" y="587375"/>
                  </a:lnTo>
                  <a:cubicBezTo>
                    <a:pt x="21945600" y="695579"/>
                    <a:pt x="21857970" y="783209"/>
                    <a:pt x="21749765" y="783209"/>
                  </a:cubicBezTo>
                  <a:lnTo>
                    <a:pt x="195834" y="783209"/>
                  </a:lnTo>
                  <a:cubicBezTo>
                    <a:pt x="87630" y="783209"/>
                    <a:pt x="0" y="695579"/>
                    <a:pt x="0" y="587375"/>
                  </a:cubicBezTo>
                  <a:close/>
                </a:path>
              </a:pathLst>
            </a:custGeom>
            <a:solidFill>
              <a:srgbClr val="006F9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72" name="TextBox 230">
            <a:extLst>
              <a:ext uri="{FF2B5EF4-FFF2-40B4-BE49-F238E27FC236}">
                <a16:creationId xmlns:a16="http://schemas.microsoft.com/office/drawing/2014/main" id="{FFC2319E-B3EE-878E-13DE-BB4FA44127A1}"/>
              </a:ext>
            </a:extLst>
          </p:cNvPr>
          <p:cNvSpPr txBox="1"/>
          <p:nvPr/>
        </p:nvSpPr>
        <p:spPr>
          <a:xfrm>
            <a:off x="917324" y="781926"/>
            <a:ext cx="5546827" cy="961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Gantt Diagram</a:t>
            </a:r>
          </a:p>
        </p:txBody>
      </p:sp>
      <p:sp>
        <p:nvSpPr>
          <p:cNvPr id="273" name="TextBox 231">
            <a:extLst>
              <a:ext uri="{FF2B5EF4-FFF2-40B4-BE49-F238E27FC236}">
                <a16:creationId xmlns:a16="http://schemas.microsoft.com/office/drawing/2014/main" id="{273B178D-3AE2-D35B-C973-65245413DE20}"/>
              </a:ext>
            </a:extLst>
          </p:cNvPr>
          <p:cNvSpPr txBox="1"/>
          <p:nvPr/>
        </p:nvSpPr>
        <p:spPr>
          <a:xfrm>
            <a:off x="1100033" y="2177005"/>
            <a:ext cx="1933030" cy="3334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 /  Process</a:t>
            </a:r>
          </a:p>
        </p:txBody>
      </p:sp>
      <p:sp>
        <p:nvSpPr>
          <p:cNvPr id="274" name="TextBox 232">
            <a:extLst>
              <a:ext uri="{FF2B5EF4-FFF2-40B4-BE49-F238E27FC236}">
                <a16:creationId xmlns:a16="http://schemas.microsoft.com/office/drawing/2014/main" id="{7C086774-5314-5913-A75A-F4A360AD3B08}"/>
              </a:ext>
            </a:extLst>
          </p:cNvPr>
          <p:cNvSpPr txBox="1"/>
          <p:nvPr/>
        </p:nvSpPr>
        <p:spPr>
          <a:xfrm>
            <a:off x="6907854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W1</a:t>
            </a:r>
          </a:p>
        </p:txBody>
      </p:sp>
      <p:sp>
        <p:nvSpPr>
          <p:cNvPr id="275" name="TextBox 233">
            <a:extLst>
              <a:ext uri="{FF2B5EF4-FFF2-40B4-BE49-F238E27FC236}">
                <a16:creationId xmlns:a16="http://schemas.microsoft.com/office/drawing/2014/main" id="{A5A1776E-0E51-3E81-2D5C-3AB3A491FBD0}"/>
              </a:ext>
            </a:extLst>
          </p:cNvPr>
          <p:cNvSpPr txBox="1"/>
          <p:nvPr/>
        </p:nvSpPr>
        <p:spPr>
          <a:xfrm>
            <a:off x="7889310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W2</a:t>
            </a:r>
          </a:p>
        </p:txBody>
      </p:sp>
      <p:sp>
        <p:nvSpPr>
          <p:cNvPr id="276" name="TextBox 234">
            <a:extLst>
              <a:ext uri="{FF2B5EF4-FFF2-40B4-BE49-F238E27FC236}">
                <a16:creationId xmlns:a16="http://schemas.microsoft.com/office/drawing/2014/main" id="{5FC3725D-A4C8-0C8F-2B74-8757606CE5AE}"/>
              </a:ext>
            </a:extLst>
          </p:cNvPr>
          <p:cNvSpPr txBox="1"/>
          <p:nvPr/>
        </p:nvSpPr>
        <p:spPr>
          <a:xfrm>
            <a:off x="8868223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W3</a:t>
            </a:r>
          </a:p>
        </p:txBody>
      </p:sp>
      <p:sp>
        <p:nvSpPr>
          <p:cNvPr id="277" name="TextBox 235">
            <a:extLst>
              <a:ext uri="{FF2B5EF4-FFF2-40B4-BE49-F238E27FC236}">
                <a16:creationId xmlns:a16="http://schemas.microsoft.com/office/drawing/2014/main" id="{A3B5F724-1BD0-F257-0594-B504467AC32B}"/>
              </a:ext>
            </a:extLst>
          </p:cNvPr>
          <p:cNvSpPr txBox="1"/>
          <p:nvPr/>
        </p:nvSpPr>
        <p:spPr>
          <a:xfrm>
            <a:off x="9847126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W4</a:t>
            </a:r>
          </a:p>
        </p:txBody>
      </p:sp>
      <p:sp>
        <p:nvSpPr>
          <p:cNvPr id="278" name="TextBox 236">
            <a:extLst>
              <a:ext uri="{FF2B5EF4-FFF2-40B4-BE49-F238E27FC236}">
                <a16:creationId xmlns:a16="http://schemas.microsoft.com/office/drawing/2014/main" id="{405CFA6A-FD49-E8A4-50B3-B22E5802922B}"/>
              </a:ext>
            </a:extLst>
          </p:cNvPr>
          <p:cNvSpPr txBox="1"/>
          <p:nvPr/>
        </p:nvSpPr>
        <p:spPr>
          <a:xfrm>
            <a:off x="10828592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W5</a:t>
            </a:r>
          </a:p>
        </p:txBody>
      </p:sp>
      <p:sp>
        <p:nvSpPr>
          <p:cNvPr id="279" name="TextBox 237">
            <a:extLst>
              <a:ext uri="{FF2B5EF4-FFF2-40B4-BE49-F238E27FC236}">
                <a16:creationId xmlns:a16="http://schemas.microsoft.com/office/drawing/2014/main" id="{21784A2F-E10E-3AFA-7A63-BF4D899DC8A4}"/>
              </a:ext>
            </a:extLst>
          </p:cNvPr>
          <p:cNvSpPr txBox="1"/>
          <p:nvPr/>
        </p:nvSpPr>
        <p:spPr>
          <a:xfrm>
            <a:off x="11807495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W6</a:t>
            </a:r>
          </a:p>
        </p:txBody>
      </p:sp>
      <p:sp>
        <p:nvSpPr>
          <p:cNvPr id="280" name="TextBox 238">
            <a:extLst>
              <a:ext uri="{FF2B5EF4-FFF2-40B4-BE49-F238E27FC236}">
                <a16:creationId xmlns:a16="http://schemas.microsoft.com/office/drawing/2014/main" id="{A95015E4-6079-5094-69C4-17963B366833}"/>
              </a:ext>
            </a:extLst>
          </p:cNvPr>
          <p:cNvSpPr txBox="1"/>
          <p:nvPr/>
        </p:nvSpPr>
        <p:spPr>
          <a:xfrm>
            <a:off x="12788960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W7</a:t>
            </a:r>
          </a:p>
        </p:txBody>
      </p:sp>
      <p:sp>
        <p:nvSpPr>
          <p:cNvPr id="281" name="TextBox 239">
            <a:extLst>
              <a:ext uri="{FF2B5EF4-FFF2-40B4-BE49-F238E27FC236}">
                <a16:creationId xmlns:a16="http://schemas.microsoft.com/office/drawing/2014/main" id="{DEF8F656-86E6-C013-1DC9-C9763C7F020F}"/>
              </a:ext>
            </a:extLst>
          </p:cNvPr>
          <p:cNvSpPr txBox="1"/>
          <p:nvPr/>
        </p:nvSpPr>
        <p:spPr>
          <a:xfrm>
            <a:off x="13767864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W8</a:t>
            </a:r>
          </a:p>
        </p:txBody>
      </p:sp>
      <p:sp>
        <p:nvSpPr>
          <p:cNvPr id="282" name="TextBox 240">
            <a:extLst>
              <a:ext uri="{FF2B5EF4-FFF2-40B4-BE49-F238E27FC236}">
                <a16:creationId xmlns:a16="http://schemas.microsoft.com/office/drawing/2014/main" id="{1D4A1829-CF91-B8F4-BE4D-71DC858ACC93}"/>
              </a:ext>
            </a:extLst>
          </p:cNvPr>
          <p:cNvSpPr txBox="1"/>
          <p:nvPr/>
        </p:nvSpPr>
        <p:spPr>
          <a:xfrm>
            <a:off x="14746776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W9</a:t>
            </a:r>
          </a:p>
        </p:txBody>
      </p:sp>
      <p:sp>
        <p:nvSpPr>
          <p:cNvPr id="283" name="TextBox 241">
            <a:extLst>
              <a:ext uri="{FF2B5EF4-FFF2-40B4-BE49-F238E27FC236}">
                <a16:creationId xmlns:a16="http://schemas.microsoft.com/office/drawing/2014/main" id="{9D192926-4FF1-E483-5D5B-0BCEAD4397E5}"/>
              </a:ext>
            </a:extLst>
          </p:cNvPr>
          <p:cNvSpPr txBox="1"/>
          <p:nvPr/>
        </p:nvSpPr>
        <p:spPr>
          <a:xfrm>
            <a:off x="15661957" y="2201990"/>
            <a:ext cx="574586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W10</a:t>
            </a:r>
          </a:p>
        </p:txBody>
      </p:sp>
      <p:sp>
        <p:nvSpPr>
          <p:cNvPr id="284" name="TextBox 242">
            <a:extLst>
              <a:ext uri="{FF2B5EF4-FFF2-40B4-BE49-F238E27FC236}">
                <a16:creationId xmlns:a16="http://schemas.microsoft.com/office/drawing/2014/main" id="{F8087805-E53F-39CB-C965-9CCA1F686B5A}"/>
              </a:ext>
            </a:extLst>
          </p:cNvPr>
          <p:cNvSpPr txBox="1"/>
          <p:nvPr/>
        </p:nvSpPr>
        <p:spPr>
          <a:xfrm>
            <a:off x="16643413" y="2201990"/>
            <a:ext cx="574596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W11</a:t>
            </a:r>
          </a:p>
        </p:txBody>
      </p:sp>
      <p:sp>
        <p:nvSpPr>
          <p:cNvPr id="308" name="TextBox 266">
            <a:extLst>
              <a:ext uri="{FF2B5EF4-FFF2-40B4-BE49-F238E27FC236}">
                <a16:creationId xmlns:a16="http://schemas.microsoft.com/office/drawing/2014/main" id="{FB5D049B-06DD-6DAA-EDD8-3A2D8C863F8E}"/>
              </a:ext>
            </a:extLst>
          </p:cNvPr>
          <p:cNvSpPr txBox="1"/>
          <p:nvPr/>
        </p:nvSpPr>
        <p:spPr>
          <a:xfrm>
            <a:off x="16930278" y="9561557"/>
            <a:ext cx="330860" cy="34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sp>
        <p:nvSpPr>
          <p:cNvPr id="309" name="Gantt band">
            <a:extLst>
              <a:ext uri="{FF2B5EF4-FFF2-40B4-BE49-F238E27FC236}">
                <a16:creationId xmlns:a16="http://schemas.microsoft.com/office/drawing/2014/main" id="{B67F1E50-9312-4FC4-A738-7BBE3F89EFBA}"/>
              </a:ext>
            </a:extLst>
          </p:cNvPr>
          <p:cNvSpPr/>
          <p:nvPr/>
        </p:nvSpPr>
        <p:spPr>
          <a:xfrm>
            <a:off x="909320" y="2825750"/>
            <a:ext cx="16473169" cy="530860"/>
          </a:xfrm>
          <a:prstGeom prst="rect">
            <a:avLst/>
          </a:prstGeom>
          <a:solidFill>
            <a:srgbClr val="E3F4F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0" name="Gantt band">
            <a:extLst>
              <a:ext uri="{FF2B5EF4-FFF2-40B4-BE49-F238E27FC236}">
                <a16:creationId xmlns:a16="http://schemas.microsoft.com/office/drawing/2014/main" id="{9C8AF571-EC80-5897-0145-B1C0E867950F}"/>
              </a:ext>
            </a:extLst>
          </p:cNvPr>
          <p:cNvSpPr/>
          <p:nvPr/>
        </p:nvSpPr>
        <p:spPr>
          <a:xfrm>
            <a:off x="909320" y="3356610"/>
            <a:ext cx="16473169" cy="530860"/>
          </a:xfrm>
          <a:prstGeom prst="rect">
            <a:avLst/>
          </a:prstGeom>
          <a:solidFill>
            <a:srgbClr val="E3F4F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1" name="Gantt band">
            <a:extLst>
              <a:ext uri="{FF2B5EF4-FFF2-40B4-BE49-F238E27FC236}">
                <a16:creationId xmlns:a16="http://schemas.microsoft.com/office/drawing/2014/main" id="{9DEF7EE0-CDB1-EE61-4A9D-7F83DC13D1C3}"/>
              </a:ext>
            </a:extLst>
          </p:cNvPr>
          <p:cNvSpPr/>
          <p:nvPr/>
        </p:nvSpPr>
        <p:spPr>
          <a:xfrm>
            <a:off x="909320" y="4949190"/>
            <a:ext cx="16473169" cy="530860"/>
          </a:xfrm>
          <a:prstGeom prst="rect">
            <a:avLst/>
          </a:prstGeom>
          <a:solidFill>
            <a:srgbClr val="E3F4F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2" name="Gantt band">
            <a:extLst>
              <a:ext uri="{FF2B5EF4-FFF2-40B4-BE49-F238E27FC236}">
                <a16:creationId xmlns:a16="http://schemas.microsoft.com/office/drawing/2014/main" id="{868625E1-E4E8-DE1B-A4B4-4A5B5DDBFA26}"/>
              </a:ext>
            </a:extLst>
          </p:cNvPr>
          <p:cNvSpPr/>
          <p:nvPr/>
        </p:nvSpPr>
        <p:spPr>
          <a:xfrm>
            <a:off x="909320" y="5480050"/>
            <a:ext cx="16473169" cy="530860"/>
          </a:xfrm>
          <a:prstGeom prst="rect">
            <a:avLst/>
          </a:prstGeom>
          <a:solidFill>
            <a:srgbClr val="E3F4F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3" name="Gantt band">
            <a:extLst>
              <a:ext uri="{FF2B5EF4-FFF2-40B4-BE49-F238E27FC236}">
                <a16:creationId xmlns:a16="http://schemas.microsoft.com/office/drawing/2014/main" id="{8F1EBA11-6B76-8634-7270-8B7D81A330D3}"/>
              </a:ext>
            </a:extLst>
          </p:cNvPr>
          <p:cNvSpPr/>
          <p:nvPr/>
        </p:nvSpPr>
        <p:spPr>
          <a:xfrm>
            <a:off x="909320" y="6010910"/>
            <a:ext cx="16473169" cy="530860"/>
          </a:xfrm>
          <a:prstGeom prst="rect">
            <a:avLst/>
          </a:prstGeom>
          <a:solidFill>
            <a:srgbClr val="E3F4F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14" name="Gantt gridline">
            <a:extLst>
              <a:ext uri="{FF2B5EF4-FFF2-40B4-BE49-F238E27FC236}">
                <a16:creationId xmlns:a16="http://schemas.microsoft.com/office/drawing/2014/main" id="{46C42495-3C33-1A81-C0B8-51FC2155EA36}"/>
              </a:ext>
            </a:extLst>
          </p:cNvPr>
          <p:cNvCxnSpPr/>
          <p:nvPr/>
        </p:nvCxnSpPr>
        <p:spPr>
          <a:xfrm>
            <a:off x="6588760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Gantt gridline">
            <a:extLst>
              <a:ext uri="{FF2B5EF4-FFF2-40B4-BE49-F238E27FC236}">
                <a16:creationId xmlns:a16="http://schemas.microsoft.com/office/drawing/2014/main" id="{D35CB6EA-3A29-227E-A687-578AB64870F9}"/>
              </a:ext>
            </a:extLst>
          </p:cNvPr>
          <p:cNvCxnSpPr/>
          <p:nvPr/>
        </p:nvCxnSpPr>
        <p:spPr>
          <a:xfrm>
            <a:off x="7567930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Gantt gridline">
            <a:extLst>
              <a:ext uri="{FF2B5EF4-FFF2-40B4-BE49-F238E27FC236}">
                <a16:creationId xmlns:a16="http://schemas.microsoft.com/office/drawing/2014/main" id="{0BA8021F-5CC5-B384-AFC8-5561A30E8B5C}"/>
              </a:ext>
            </a:extLst>
          </p:cNvPr>
          <p:cNvCxnSpPr/>
          <p:nvPr/>
        </p:nvCxnSpPr>
        <p:spPr>
          <a:xfrm>
            <a:off x="8548370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Gantt gridline">
            <a:extLst>
              <a:ext uri="{FF2B5EF4-FFF2-40B4-BE49-F238E27FC236}">
                <a16:creationId xmlns:a16="http://schemas.microsoft.com/office/drawing/2014/main" id="{521B4CC4-D84D-ADB2-150A-0DD985E28607}"/>
              </a:ext>
            </a:extLst>
          </p:cNvPr>
          <p:cNvCxnSpPr/>
          <p:nvPr/>
        </p:nvCxnSpPr>
        <p:spPr>
          <a:xfrm>
            <a:off x="9528810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Gantt gridline">
            <a:extLst>
              <a:ext uri="{FF2B5EF4-FFF2-40B4-BE49-F238E27FC236}">
                <a16:creationId xmlns:a16="http://schemas.microsoft.com/office/drawing/2014/main" id="{C3F4384B-9C4A-6F2C-E8B9-5A5906280E19}"/>
              </a:ext>
            </a:extLst>
          </p:cNvPr>
          <p:cNvCxnSpPr/>
          <p:nvPr/>
        </p:nvCxnSpPr>
        <p:spPr>
          <a:xfrm>
            <a:off x="10506710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Gantt gridline">
            <a:extLst>
              <a:ext uri="{FF2B5EF4-FFF2-40B4-BE49-F238E27FC236}">
                <a16:creationId xmlns:a16="http://schemas.microsoft.com/office/drawing/2014/main" id="{685EFEC7-377E-D5B2-4719-31EA418DDBF3}"/>
              </a:ext>
            </a:extLst>
          </p:cNvPr>
          <p:cNvCxnSpPr/>
          <p:nvPr/>
        </p:nvCxnSpPr>
        <p:spPr>
          <a:xfrm>
            <a:off x="11488420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Gantt gridline">
            <a:extLst>
              <a:ext uri="{FF2B5EF4-FFF2-40B4-BE49-F238E27FC236}">
                <a16:creationId xmlns:a16="http://schemas.microsoft.com/office/drawing/2014/main" id="{A1C32766-6A0A-B6D2-F2E3-59E22162421E}"/>
              </a:ext>
            </a:extLst>
          </p:cNvPr>
          <p:cNvCxnSpPr/>
          <p:nvPr/>
        </p:nvCxnSpPr>
        <p:spPr>
          <a:xfrm>
            <a:off x="12468860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Gantt gridline">
            <a:extLst>
              <a:ext uri="{FF2B5EF4-FFF2-40B4-BE49-F238E27FC236}">
                <a16:creationId xmlns:a16="http://schemas.microsoft.com/office/drawing/2014/main" id="{3E452936-5089-4AC5-4C34-B3C1D5E79C35}"/>
              </a:ext>
            </a:extLst>
          </p:cNvPr>
          <p:cNvCxnSpPr/>
          <p:nvPr/>
        </p:nvCxnSpPr>
        <p:spPr>
          <a:xfrm>
            <a:off x="13446761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Gantt gridline">
            <a:extLst>
              <a:ext uri="{FF2B5EF4-FFF2-40B4-BE49-F238E27FC236}">
                <a16:creationId xmlns:a16="http://schemas.microsoft.com/office/drawing/2014/main" id="{8232CFF0-DD45-94BE-8556-097AE583A42E}"/>
              </a:ext>
            </a:extLst>
          </p:cNvPr>
          <p:cNvCxnSpPr/>
          <p:nvPr/>
        </p:nvCxnSpPr>
        <p:spPr>
          <a:xfrm>
            <a:off x="14428470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Gantt gridline">
            <a:extLst>
              <a:ext uri="{FF2B5EF4-FFF2-40B4-BE49-F238E27FC236}">
                <a16:creationId xmlns:a16="http://schemas.microsoft.com/office/drawing/2014/main" id="{F2E2F4F9-201B-DB34-5918-F9D135597474}"/>
              </a:ext>
            </a:extLst>
          </p:cNvPr>
          <p:cNvCxnSpPr/>
          <p:nvPr/>
        </p:nvCxnSpPr>
        <p:spPr>
          <a:xfrm>
            <a:off x="15408911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Gantt gridline">
            <a:extLst>
              <a:ext uri="{FF2B5EF4-FFF2-40B4-BE49-F238E27FC236}">
                <a16:creationId xmlns:a16="http://schemas.microsoft.com/office/drawing/2014/main" id="{A25151BA-FF3C-B24C-DFBC-05B95DF1DB6F}"/>
              </a:ext>
            </a:extLst>
          </p:cNvPr>
          <p:cNvCxnSpPr/>
          <p:nvPr/>
        </p:nvCxnSpPr>
        <p:spPr>
          <a:xfrm>
            <a:off x="16389350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Gantt gridline">
            <a:extLst>
              <a:ext uri="{FF2B5EF4-FFF2-40B4-BE49-F238E27FC236}">
                <a16:creationId xmlns:a16="http://schemas.microsoft.com/office/drawing/2014/main" id="{7795FA9A-A495-6460-AE31-EB2AA7071C43}"/>
              </a:ext>
            </a:extLst>
          </p:cNvPr>
          <p:cNvCxnSpPr/>
          <p:nvPr/>
        </p:nvCxnSpPr>
        <p:spPr>
          <a:xfrm>
            <a:off x="17368520" y="2825750"/>
            <a:ext cx="0" cy="5839460"/>
          </a:xfrm>
          <a:prstGeom prst="line">
            <a:avLst/>
          </a:prstGeom>
          <a:ln w="12700">
            <a:solidFill>
              <a:srgbClr val="A8DCE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Gantt phase">
            <a:extLst>
              <a:ext uri="{FF2B5EF4-FFF2-40B4-BE49-F238E27FC236}">
                <a16:creationId xmlns:a16="http://schemas.microsoft.com/office/drawing/2014/main" id="{59845043-24FD-419F-330C-0FB63D307F15}"/>
              </a:ext>
            </a:extLst>
          </p:cNvPr>
          <p:cNvSpPr/>
          <p:nvPr/>
        </p:nvSpPr>
        <p:spPr>
          <a:xfrm>
            <a:off x="1097280" y="292735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1</a:t>
            </a:r>
          </a:p>
        </p:txBody>
      </p:sp>
      <p:sp>
        <p:nvSpPr>
          <p:cNvPr id="327" name="Gantt task">
            <a:extLst>
              <a:ext uri="{FF2B5EF4-FFF2-40B4-BE49-F238E27FC236}">
                <a16:creationId xmlns:a16="http://schemas.microsoft.com/office/drawing/2014/main" id="{6334A801-616C-E5D5-3717-0E2FCD2DC79F}"/>
              </a:ext>
            </a:extLst>
          </p:cNvPr>
          <p:cNvSpPr txBox="1"/>
          <p:nvPr/>
        </p:nvSpPr>
        <p:spPr>
          <a:xfrm>
            <a:off x="2527300" y="282574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 b="1">
                <a:solidFill>
                  <a:srgbClr val="006F95"/>
                </a:solidFill>
                <a:latin typeface="Calibri (MS) Bold" panose="020B0604020202020204" charset="0"/>
              </a:rPr>
              <a:t>Software &amp; hardware familiarization</a:t>
            </a:r>
          </a:p>
        </p:txBody>
      </p:sp>
      <p:sp>
        <p:nvSpPr>
          <p:cNvPr id="328" name="Gantt bar">
            <a:extLst>
              <a:ext uri="{FF2B5EF4-FFF2-40B4-BE49-F238E27FC236}">
                <a16:creationId xmlns:a16="http://schemas.microsoft.com/office/drawing/2014/main" id="{5B146322-D898-F2D0-69D9-1D6E64DA356F}"/>
              </a:ext>
            </a:extLst>
          </p:cNvPr>
          <p:cNvSpPr/>
          <p:nvPr/>
        </p:nvSpPr>
        <p:spPr>
          <a:xfrm>
            <a:off x="6626860" y="2940050"/>
            <a:ext cx="939799" cy="3022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9" name="Gantt phase">
            <a:extLst>
              <a:ext uri="{FF2B5EF4-FFF2-40B4-BE49-F238E27FC236}">
                <a16:creationId xmlns:a16="http://schemas.microsoft.com/office/drawing/2014/main" id="{FE3F8B2B-F274-CD48-440C-8FE15C1633A7}"/>
              </a:ext>
            </a:extLst>
          </p:cNvPr>
          <p:cNvSpPr/>
          <p:nvPr/>
        </p:nvSpPr>
        <p:spPr>
          <a:xfrm>
            <a:off x="1097280" y="345821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1</a:t>
            </a:r>
          </a:p>
        </p:txBody>
      </p:sp>
      <p:sp>
        <p:nvSpPr>
          <p:cNvPr id="330" name="Gantt task">
            <a:extLst>
              <a:ext uri="{FF2B5EF4-FFF2-40B4-BE49-F238E27FC236}">
                <a16:creationId xmlns:a16="http://schemas.microsoft.com/office/drawing/2014/main" id="{146F61F1-0136-ACC1-6EC8-A035AE6DF469}"/>
              </a:ext>
            </a:extLst>
          </p:cNvPr>
          <p:cNvSpPr txBox="1"/>
          <p:nvPr/>
        </p:nvSpPr>
        <p:spPr>
          <a:xfrm>
            <a:off x="2527300" y="335660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 b="1">
                <a:solidFill>
                  <a:srgbClr val="006F95"/>
                </a:solidFill>
                <a:latin typeface="Calibri (MS) Bold" panose="020B0604020202020204" charset="0"/>
              </a:rPr>
              <a:t>Ideation, prototyping &amp; asset mapping</a:t>
            </a:r>
          </a:p>
        </p:txBody>
      </p:sp>
      <p:sp>
        <p:nvSpPr>
          <p:cNvPr id="331" name="Gantt bar">
            <a:extLst>
              <a:ext uri="{FF2B5EF4-FFF2-40B4-BE49-F238E27FC236}">
                <a16:creationId xmlns:a16="http://schemas.microsoft.com/office/drawing/2014/main" id="{A8D8F0CE-4B87-BCEB-B910-2FCBA6E7DA03}"/>
              </a:ext>
            </a:extLst>
          </p:cNvPr>
          <p:cNvSpPr/>
          <p:nvPr/>
        </p:nvSpPr>
        <p:spPr>
          <a:xfrm>
            <a:off x="7606030" y="3470910"/>
            <a:ext cx="1884681" cy="3022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2" name="Gantt phase">
            <a:extLst>
              <a:ext uri="{FF2B5EF4-FFF2-40B4-BE49-F238E27FC236}">
                <a16:creationId xmlns:a16="http://schemas.microsoft.com/office/drawing/2014/main" id="{04CF1834-3099-15BC-662D-7867EAB189C3}"/>
              </a:ext>
            </a:extLst>
          </p:cNvPr>
          <p:cNvSpPr/>
          <p:nvPr/>
        </p:nvSpPr>
        <p:spPr>
          <a:xfrm>
            <a:off x="1097280" y="398907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2</a:t>
            </a:r>
          </a:p>
        </p:txBody>
      </p:sp>
      <p:sp>
        <p:nvSpPr>
          <p:cNvPr id="333" name="Gantt task">
            <a:extLst>
              <a:ext uri="{FF2B5EF4-FFF2-40B4-BE49-F238E27FC236}">
                <a16:creationId xmlns:a16="http://schemas.microsoft.com/office/drawing/2014/main" id="{B4A487CC-F566-6EBA-144C-772BA04979F1}"/>
              </a:ext>
            </a:extLst>
          </p:cNvPr>
          <p:cNvSpPr txBox="1"/>
          <p:nvPr/>
        </p:nvSpPr>
        <p:spPr>
          <a:xfrm>
            <a:off x="2527300" y="388746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 b="1">
                <a:solidFill>
                  <a:srgbClr val="006F95"/>
                </a:solidFill>
                <a:latin typeface="Calibri (MS) Bold" panose="020B0604020202020204" charset="0"/>
              </a:rPr>
              <a:t>Documentary research (feedback)</a:t>
            </a:r>
          </a:p>
        </p:txBody>
      </p:sp>
      <p:sp>
        <p:nvSpPr>
          <p:cNvPr id="334" name="Gantt bar">
            <a:extLst>
              <a:ext uri="{FF2B5EF4-FFF2-40B4-BE49-F238E27FC236}">
                <a16:creationId xmlns:a16="http://schemas.microsoft.com/office/drawing/2014/main" id="{5A0D6ECA-9A36-89FC-1553-7A6F7D04AC49}"/>
              </a:ext>
            </a:extLst>
          </p:cNvPr>
          <p:cNvSpPr/>
          <p:nvPr/>
        </p:nvSpPr>
        <p:spPr>
          <a:xfrm>
            <a:off x="8586470" y="4001770"/>
            <a:ext cx="1882140" cy="3022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5" name="Gantt phase">
            <a:extLst>
              <a:ext uri="{FF2B5EF4-FFF2-40B4-BE49-F238E27FC236}">
                <a16:creationId xmlns:a16="http://schemas.microsoft.com/office/drawing/2014/main" id="{52C1DAA3-2D47-EACA-F0FE-1A111B4DA6ED}"/>
              </a:ext>
            </a:extLst>
          </p:cNvPr>
          <p:cNvSpPr/>
          <p:nvPr/>
        </p:nvSpPr>
        <p:spPr>
          <a:xfrm>
            <a:off x="1097280" y="451993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2</a:t>
            </a:r>
          </a:p>
        </p:txBody>
      </p:sp>
      <p:sp>
        <p:nvSpPr>
          <p:cNvPr id="336" name="Gantt task">
            <a:extLst>
              <a:ext uri="{FF2B5EF4-FFF2-40B4-BE49-F238E27FC236}">
                <a16:creationId xmlns:a16="http://schemas.microsoft.com/office/drawing/2014/main" id="{614ECDD7-02DF-E212-A039-FEC8B994F359}"/>
              </a:ext>
            </a:extLst>
          </p:cNvPr>
          <p:cNvSpPr txBox="1"/>
          <p:nvPr/>
        </p:nvSpPr>
        <p:spPr>
          <a:xfrm>
            <a:off x="2527300" y="441832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 b="1">
                <a:solidFill>
                  <a:srgbClr val="006F95"/>
                </a:solidFill>
                <a:latin typeface="Calibri (MS) Bold" panose="020B0604020202020204" charset="0"/>
              </a:rPr>
              <a:t>Dataset analysis &amp; data exploration</a:t>
            </a:r>
          </a:p>
        </p:txBody>
      </p:sp>
      <p:sp>
        <p:nvSpPr>
          <p:cNvPr id="337" name="Gantt bar">
            <a:extLst>
              <a:ext uri="{FF2B5EF4-FFF2-40B4-BE49-F238E27FC236}">
                <a16:creationId xmlns:a16="http://schemas.microsoft.com/office/drawing/2014/main" id="{3C0CBB77-2C47-B116-A3E1-2AC003A3AECD}"/>
              </a:ext>
            </a:extLst>
          </p:cNvPr>
          <p:cNvSpPr/>
          <p:nvPr/>
        </p:nvSpPr>
        <p:spPr>
          <a:xfrm>
            <a:off x="9566910" y="4532630"/>
            <a:ext cx="1883410" cy="3022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8" name="Gantt phase">
            <a:extLst>
              <a:ext uri="{FF2B5EF4-FFF2-40B4-BE49-F238E27FC236}">
                <a16:creationId xmlns:a16="http://schemas.microsoft.com/office/drawing/2014/main" id="{AFB2EC03-4DFA-6212-932F-77707F8D2DE2}"/>
              </a:ext>
            </a:extLst>
          </p:cNvPr>
          <p:cNvSpPr/>
          <p:nvPr/>
        </p:nvSpPr>
        <p:spPr>
          <a:xfrm>
            <a:off x="1097280" y="505079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3</a:t>
            </a:r>
          </a:p>
        </p:txBody>
      </p:sp>
      <p:sp>
        <p:nvSpPr>
          <p:cNvPr id="339" name="Gantt task">
            <a:extLst>
              <a:ext uri="{FF2B5EF4-FFF2-40B4-BE49-F238E27FC236}">
                <a16:creationId xmlns:a16="http://schemas.microsoft.com/office/drawing/2014/main" id="{D1B3C86F-6413-03DF-7431-5137FB4AC02B}"/>
              </a:ext>
            </a:extLst>
          </p:cNvPr>
          <p:cNvSpPr txBox="1"/>
          <p:nvPr/>
        </p:nvSpPr>
        <p:spPr>
          <a:xfrm>
            <a:off x="2527300" y="494918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>
                <a:solidFill>
                  <a:srgbClr val="006F95"/>
                </a:solidFill>
                <a:latin typeface="Calibri (MS)" panose="020B0604020202020204" charset="0"/>
              </a:rPr>
              <a:t>LSL simulation</a:t>
            </a:r>
          </a:p>
        </p:txBody>
      </p:sp>
      <p:sp>
        <p:nvSpPr>
          <p:cNvPr id="340" name="Gantt bar">
            <a:extLst>
              <a:ext uri="{FF2B5EF4-FFF2-40B4-BE49-F238E27FC236}">
                <a16:creationId xmlns:a16="http://schemas.microsoft.com/office/drawing/2014/main" id="{A024DD7A-74D6-B44B-8130-DFC685E4E49D}"/>
              </a:ext>
            </a:extLst>
          </p:cNvPr>
          <p:cNvSpPr/>
          <p:nvPr/>
        </p:nvSpPr>
        <p:spPr>
          <a:xfrm>
            <a:off x="11526520" y="5063490"/>
            <a:ext cx="904240" cy="302260"/>
          </a:xfrm>
          <a:prstGeom prst="roundRect">
            <a:avLst>
              <a:gd name="adj" fmla="val 50000"/>
            </a:avLst>
          </a:prstGeom>
          <a:solidFill>
            <a:srgbClr val="66CCE9"/>
          </a:solidFill>
          <a:ln w="15875">
            <a:solidFill>
              <a:srgbClr val="006F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1" name="Gantt phase">
            <a:extLst>
              <a:ext uri="{FF2B5EF4-FFF2-40B4-BE49-F238E27FC236}">
                <a16:creationId xmlns:a16="http://schemas.microsoft.com/office/drawing/2014/main" id="{FD2A1E2D-AEE5-6671-B207-7AAADC65F992}"/>
              </a:ext>
            </a:extLst>
          </p:cNvPr>
          <p:cNvSpPr/>
          <p:nvPr/>
        </p:nvSpPr>
        <p:spPr>
          <a:xfrm>
            <a:off x="1097280" y="558165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3</a:t>
            </a:r>
          </a:p>
        </p:txBody>
      </p:sp>
      <p:sp>
        <p:nvSpPr>
          <p:cNvPr id="342" name="Gantt task">
            <a:extLst>
              <a:ext uri="{FF2B5EF4-FFF2-40B4-BE49-F238E27FC236}">
                <a16:creationId xmlns:a16="http://schemas.microsoft.com/office/drawing/2014/main" id="{506A8947-C531-A642-4114-78A590C029E6}"/>
              </a:ext>
            </a:extLst>
          </p:cNvPr>
          <p:cNvSpPr txBox="1"/>
          <p:nvPr/>
        </p:nvSpPr>
        <p:spPr>
          <a:xfrm>
            <a:off x="2527300" y="548004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>
                <a:solidFill>
                  <a:srgbClr val="006F95"/>
                </a:solidFill>
                <a:latin typeface="Calibri (MS)" panose="020B0604020202020204" charset="0"/>
              </a:rPr>
              <a:t>Subject testing (pilot)</a:t>
            </a:r>
          </a:p>
        </p:txBody>
      </p:sp>
      <p:sp>
        <p:nvSpPr>
          <p:cNvPr id="343" name="Gantt bar">
            <a:extLst>
              <a:ext uri="{FF2B5EF4-FFF2-40B4-BE49-F238E27FC236}">
                <a16:creationId xmlns:a16="http://schemas.microsoft.com/office/drawing/2014/main" id="{748C90A3-17AF-BB2B-8367-35C708D86FDB}"/>
              </a:ext>
            </a:extLst>
          </p:cNvPr>
          <p:cNvSpPr/>
          <p:nvPr/>
        </p:nvSpPr>
        <p:spPr>
          <a:xfrm>
            <a:off x="11526520" y="5594350"/>
            <a:ext cx="1882139" cy="302260"/>
          </a:xfrm>
          <a:prstGeom prst="roundRect">
            <a:avLst>
              <a:gd name="adj" fmla="val 50000"/>
            </a:avLst>
          </a:prstGeom>
          <a:solidFill>
            <a:srgbClr val="66CCE9"/>
          </a:solidFill>
          <a:ln w="15875">
            <a:solidFill>
              <a:srgbClr val="006F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4" name="Gantt phase">
            <a:extLst>
              <a:ext uri="{FF2B5EF4-FFF2-40B4-BE49-F238E27FC236}">
                <a16:creationId xmlns:a16="http://schemas.microsoft.com/office/drawing/2014/main" id="{7820F0FF-C750-E2E4-72FA-DFF63823CB0D}"/>
              </a:ext>
            </a:extLst>
          </p:cNvPr>
          <p:cNvSpPr/>
          <p:nvPr/>
        </p:nvSpPr>
        <p:spPr>
          <a:xfrm>
            <a:off x="1097280" y="611251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3</a:t>
            </a:r>
          </a:p>
        </p:txBody>
      </p:sp>
      <p:sp>
        <p:nvSpPr>
          <p:cNvPr id="345" name="Gantt task">
            <a:extLst>
              <a:ext uri="{FF2B5EF4-FFF2-40B4-BE49-F238E27FC236}">
                <a16:creationId xmlns:a16="http://schemas.microsoft.com/office/drawing/2014/main" id="{5D0EA364-15F8-1951-6327-B67FF51D9E0C}"/>
              </a:ext>
            </a:extLst>
          </p:cNvPr>
          <p:cNvSpPr txBox="1"/>
          <p:nvPr/>
        </p:nvSpPr>
        <p:spPr>
          <a:xfrm>
            <a:off x="2527300" y="601090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>
                <a:solidFill>
                  <a:srgbClr val="006F95"/>
                </a:solidFill>
                <a:latin typeface="Calibri (MS)" panose="020B0604020202020204" charset="0"/>
              </a:rPr>
              <a:t>Results collection &amp; interpretation</a:t>
            </a:r>
          </a:p>
        </p:txBody>
      </p:sp>
      <p:sp>
        <p:nvSpPr>
          <p:cNvPr id="346" name="Gantt bar">
            <a:extLst>
              <a:ext uri="{FF2B5EF4-FFF2-40B4-BE49-F238E27FC236}">
                <a16:creationId xmlns:a16="http://schemas.microsoft.com/office/drawing/2014/main" id="{F2F3D898-3D37-3834-EA53-AD66CE5F3FA7}"/>
              </a:ext>
            </a:extLst>
          </p:cNvPr>
          <p:cNvSpPr/>
          <p:nvPr/>
        </p:nvSpPr>
        <p:spPr>
          <a:xfrm>
            <a:off x="13484861" y="6125210"/>
            <a:ext cx="905510" cy="302260"/>
          </a:xfrm>
          <a:prstGeom prst="roundRect">
            <a:avLst>
              <a:gd name="adj" fmla="val 50000"/>
            </a:avLst>
          </a:prstGeom>
          <a:solidFill>
            <a:srgbClr val="66CCE9"/>
          </a:solidFill>
          <a:ln w="15875">
            <a:solidFill>
              <a:srgbClr val="006F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7" name="Gantt phase">
            <a:extLst>
              <a:ext uri="{FF2B5EF4-FFF2-40B4-BE49-F238E27FC236}">
                <a16:creationId xmlns:a16="http://schemas.microsoft.com/office/drawing/2014/main" id="{0E5EE94E-C5FB-D7C1-CADA-102C46DE8D9E}"/>
              </a:ext>
            </a:extLst>
          </p:cNvPr>
          <p:cNvSpPr/>
          <p:nvPr/>
        </p:nvSpPr>
        <p:spPr>
          <a:xfrm>
            <a:off x="1097280" y="664337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4</a:t>
            </a:r>
          </a:p>
        </p:txBody>
      </p:sp>
      <p:sp>
        <p:nvSpPr>
          <p:cNvPr id="348" name="Gantt task">
            <a:extLst>
              <a:ext uri="{FF2B5EF4-FFF2-40B4-BE49-F238E27FC236}">
                <a16:creationId xmlns:a16="http://schemas.microsoft.com/office/drawing/2014/main" id="{A92ACCF5-21B1-0D72-4F08-076995CA979A}"/>
              </a:ext>
            </a:extLst>
          </p:cNvPr>
          <p:cNvSpPr txBox="1"/>
          <p:nvPr/>
        </p:nvSpPr>
        <p:spPr>
          <a:xfrm>
            <a:off x="2527300" y="654176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>
                <a:solidFill>
                  <a:srgbClr val="006F95"/>
                </a:solidFill>
                <a:latin typeface="Calibri (MS)" panose="020B0604020202020204" charset="0"/>
              </a:rPr>
              <a:t>Mentor feedback · choose path</a:t>
            </a:r>
          </a:p>
        </p:txBody>
      </p:sp>
      <p:sp>
        <p:nvSpPr>
          <p:cNvPr id="349" name="Gantt bar">
            <a:extLst>
              <a:ext uri="{FF2B5EF4-FFF2-40B4-BE49-F238E27FC236}">
                <a16:creationId xmlns:a16="http://schemas.microsoft.com/office/drawing/2014/main" id="{1CEED451-57F4-36C3-899B-0B9E693C2110}"/>
              </a:ext>
            </a:extLst>
          </p:cNvPr>
          <p:cNvSpPr/>
          <p:nvPr/>
        </p:nvSpPr>
        <p:spPr>
          <a:xfrm>
            <a:off x="13484861" y="6656070"/>
            <a:ext cx="905510" cy="30226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0" name="Gantt phase">
            <a:extLst>
              <a:ext uri="{FF2B5EF4-FFF2-40B4-BE49-F238E27FC236}">
                <a16:creationId xmlns:a16="http://schemas.microsoft.com/office/drawing/2014/main" id="{94DF25CA-342D-FFFF-337C-18684904F336}"/>
              </a:ext>
            </a:extLst>
          </p:cNvPr>
          <p:cNvSpPr/>
          <p:nvPr/>
        </p:nvSpPr>
        <p:spPr>
          <a:xfrm>
            <a:off x="1097280" y="717423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4</a:t>
            </a:r>
          </a:p>
        </p:txBody>
      </p:sp>
      <p:sp>
        <p:nvSpPr>
          <p:cNvPr id="351" name="Gantt task">
            <a:extLst>
              <a:ext uri="{FF2B5EF4-FFF2-40B4-BE49-F238E27FC236}">
                <a16:creationId xmlns:a16="http://schemas.microsoft.com/office/drawing/2014/main" id="{A5EA2D0B-6982-38BA-B916-CD84D78CC3FC}"/>
              </a:ext>
            </a:extLst>
          </p:cNvPr>
          <p:cNvSpPr txBox="1"/>
          <p:nvPr/>
        </p:nvSpPr>
        <p:spPr>
          <a:xfrm>
            <a:off x="2527300" y="707262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>
                <a:solidFill>
                  <a:srgbClr val="006F95"/>
                </a:solidFill>
                <a:latin typeface="Calibri (MS)" panose="020B0604020202020204" charset="0"/>
              </a:rPr>
              <a:t>AR environment (based on H1–H3 results)</a:t>
            </a:r>
          </a:p>
        </p:txBody>
      </p:sp>
      <p:sp>
        <p:nvSpPr>
          <p:cNvPr id="352" name="Gantt bar">
            <a:extLst>
              <a:ext uri="{FF2B5EF4-FFF2-40B4-BE49-F238E27FC236}">
                <a16:creationId xmlns:a16="http://schemas.microsoft.com/office/drawing/2014/main" id="{4028A3AE-CF1D-CFB5-BF69-5A5AD563875C}"/>
              </a:ext>
            </a:extLst>
          </p:cNvPr>
          <p:cNvSpPr/>
          <p:nvPr/>
        </p:nvSpPr>
        <p:spPr>
          <a:xfrm>
            <a:off x="14466570" y="7186930"/>
            <a:ext cx="1884680" cy="302260"/>
          </a:xfrm>
          <a:prstGeom prst="roundRect">
            <a:avLst>
              <a:gd name="adj" fmla="val 50000"/>
            </a:avLst>
          </a:prstGeom>
          <a:solidFill>
            <a:srgbClr val="66CCE9"/>
          </a:solidFill>
          <a:ln w="15875">
            <a:solidFill>
              <a:srgbClr val="006F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3" name="Gantt phase">
            <a:extLst>
              <a:ext uri="{FF2B5EF4-FFF2-40B4-BE49-F238E27FC236}">
                <a16:creationId xmlns:a16="http://schemas.microsoft.com/office/drawing/2014/main" id="{68092725-F876-52B7-6036-677BAE369127}"/>
              </a:ext>
            </a:extLst>
          </p:cNvPr>
          <p:cNvSpPr/>
          <p:nvPr/>
        </p:nvSpPr>
        <p:spPr>
          <a:xfrm>
            <a:off x="1097280" y="770509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4</a:t>
            </a:r>
          </a:p>
        </p:txBody>
      </p:sp>
      <p:sp>
        <p:nvSpPr>
          <p:cNvPr id="354" name="Gantt task">
            <a:extLst>
              <a:ext uri="{FF2B5EF4-FFF2-40B4-BE49-F238E27FC236}">
                <a16:creationId xmlns:a16="http://schemas.microsoft.com/office/drawing/2014/main" id="{36A51DAE-33EF-738E-1BD0-D91EE8D84521}"/>
              </a:ext>
            </a:extLst>
          </p:cNvPr>
          <p:cNvSpPr txBox="1"/>
          <p:nvPr/>
        </p:nvSpPr>
        <p:spPr>
          <a:xfrm>
            <a:off x="2527300" y="760348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>
                <a:solidFill>
                  <a:srgbClr val="006F95"/>
                </a:solidFill>
                <a:latin typeface="Calibri (MS)" panose="020B0604020202020204" charset="0"/>
              </a:rPr>
              <a:t>Research synthesis (literature + results)</a:t>
            </a:r>
          </a:p>
        </p:txBody>
      </p:sp>
      <p:sp>
        <p:nvSpPr>
          <p:cNvPr id="355" name="Gantt bar">
            <a:extLst>
              <a:ext uri="{FF2B5EF4-FFF2-40B4-BE49-F238E27FC236}">
                <a16:creationId xmlns:a16="http://schemas.microsoft.com/office/drawing/2014/main" id="{E8A8EB65-9C9E-45EC-C146-ADD37BBFE9A7}"/>
              </a:ext>
            </a:extLst>
          </p:cNvPr>
          <p:cNvSpPr/>
          <p:nvPr/>
        </p:nvSpPr>
        <p:spPr>
          <a:xfrm>
            <a:off x="14466570" y="7717790"/>
            <a:ext cx="1884680" cy="302260"/>
          </a:xfrm>
          <a:prstGeom prst="roundRect">
            <a:avLst>
              <a:gd name="adj" fmla="val 50000"/>
            </a:avLst>
          </a:prstGeom>
          <a:solidFill>
            <a:srgbClr val="66CCE9"/>
          </a:solidFill>
          <a:ln w="15875">
            <a:solidFill>
              <a:srgbClr val="006F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6" name="Gantt phase">
            <a:extLst>
              <a:ext uri="{FF2B5EF4-FFF2-40B4-BE49-F238E27FC236}">
                <a16:creationId xmlns:a16="http://schemas.microsoft.com/office/drawing/2014/main" id="{B2D3CDF1-AD63-7CD3-B6E9-2F0CC0445E52}"/>
              </a:ext>
            </a:extLst>
          </p:cNvPr>
          <p:cNvSpPr/>
          <p:nvPr/>
        </p:nvSpPr>
        <p:spPr>
          <a:xfrm>
            <a:off x="1097280" y="8235950"/>
            <a:ext cx="1280160" cy="32766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Calibri (MS) Bold" panose="020B0604020202020204" charset="0"/>
              </a:rPr>
              <a:t>Phase 4</a:t>
            </a:r>
          </a:p>
        </p:txBody>
      </p:sp>
      <p:sp>
        <p:nvSpPr>
          <p:cNvPr id="357" name="Gantt task">
            <a:extLst>
              <a:ext uri="{FF2B5EF4-FFF2-40B4-BE49-F238E27FC236}">
                <a16:creationId xmlns:a16="http://schemas.microsoft.com/office/drawing/2014/main" id="{ED07BC31-59D4-31D8-5CD8-1769D250ACFE}"/>
              </a:ext>
            </a:extLst>
          </p:cNvPr>
          <p:cNvSpPr txBox="1"/>
          <p:nvPr/>
        </p:nvSpPr>
        <p:spPr>
          <a:xfrm>
            <a:off x="2527300" y="8134349"/>
            <a:ext cx="401320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MX" sz="1500">
                <a:solidFill>
                  <a:srgbClr val="006F95"/>
                </a:solidFill>
                <a:latin typeface="Calibri (MS)" panose="020B0604020202020204" charset="0"/>
              </a:rPr>
              <a:t>Final report &amp; documentation</a:t>
            </a:r>
          </a:p>
        </p:txBody>
      </p:sp>
      <p:sp>
        <p:nvSpPr>
          <p:cNvPr id="358" name="Gantt bar">
            <a:extLst>
              <a:ext uri="{FF2B5EF4-FFF2-40B4-BE49-F238E27FC236}">
                <a16:creationId xmlns:a16="http://schemas.microsoft.com/office/drawing/2014/main" id="{FDFF48E6-2A1B-B482-C95A-878B7D457084}"/>
              </a:ext>
            </a:extLst>
          </p:cNvPr>
          <p:cNvSpPr/>
          <p:nvPr/>
        </p:nvSpPr>
        <p:spPr>
          <a:xfrm>
            <a:off x="16427450" y="8248650"/>
            <a:ext cx="902970" cy="302260"/>
          </a:xfrm>
          <a:prstGeom prst="roundRect">
            <a:avLst>
              <a:gd name="adj" fmla="val 50000"/>
            </a:avLst>
          </a:prstGeom>
          <a:solidFill>
            <a:srgbClr val="66CCE9"/>
          </a:solidFill>
          <a:ln w="15875">
            <a:solidFill>
              <a:srgbClr val="006F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9" name="Gantt legend">
            <a:extLst>
              <a:ext uri="{FF2B5EF4-FFF2-40B4-BE49-F238E27FC236}">
                <a16:creationId xmlns:a16="http://schemas.microsoft.com/office/drawing/2014/main" id="{B21FFC43-FCC7-043B-58EB-42CDFCCAE42D}"/>
              </a:ext>
            </a:extLst>
          </p:cNvPr>
          <p:cNvSpPr/>
          <p:nvPr/>
        </p:nvSpPr>
        <p:spPr>
          <a:xfrm>
            <a:off x="1097280" y="8881110"/>
            <a:ext cx="431800" cy="20320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0" name="Gantt legend label">
            <a:extLst>
              <a:ext uri="{FF2B5EF4-FFF2-40B4-BE49-F238E27FC236}">
                <a16:creationId xmlns:a16="http://schemas.microsoft.com/office/drawing/2014/main" id="{3AAF66C7-6527-E279-81B5-BEFD6EC48532}"/>
              </a:ext>
            </a:extLst>
          </p:cNvPr>
          <p:cNvSpPr txBox="1"/>
          <p:nvPr/>
        </p:nvSpPr>
        <p:spPr>
          <a:xfrm>
            <a:off x="1656080" y="8843010"/>
            <a:ext cx="1743554" cy="230832"/>
          </a:xfrm>
          <a:prstGeom prst="rect">
            <a:avLst/>
          </a:prstGeom>
          <a:noFill/>
        </p:spPr>
        <p:txBody>
          <a:bodyPr vert="horz" wrap="none" lIns="0" tIns="0" bIns="0" rtlCol="0">
            <a:spAutoFit/>
          </a:bodyPr>
          <a:lstStyle/>
          <a:p>
            <a:r>
              <a:rPr lang="es-MX" sz="1500">
                <a:solidFill>
                  <a:srgbClr val="006F95"/>
                </a:solidFill>
                <a:latin typeface="Calibri (MS)" panose="020B0604020202020204" charset="0"/>
              </a:rPr>
              <a:t>Completed (W1–W5)</a:t>
            </a:r>
          </a:p>
        </p:txBody>
      </p:sp>
      <p:sp>
        <p:nvSpPr>
          <p:cNvPr id="361" name="Gantt legend">
            <a:extLst>
              <a:ext uri="{FF2B5EF4-FFF2-40B4-BE49-F238E27FC236}">
                <a16:creationId xmlns:a16="http://schemas.microsoft.com/office/drawing/2014/main" id="{F219FBE0-FB18-518F-E2C1-9CE80A779408}"/>
              </a:ext>
            </a:extLst>
          </p:cNvPr>
          <p:cNvSpPr/>
          <p:nvPr/>
        </p:nvSpPr>
        <p:spPr>
          <a:xfrm>
            <a:off x="4653280" y="8881110"/>
            <a:ext cx="431800" cy="203200"/>
          </a:xfrm>
          <a:prstGeom prst="roundRect">
            <a:avLst>
              <a:gd name="adj" fmla="val 50000"/>
            </a:avLst>
          </a:prstGeom>
          <a:solidFill>
            <a:srgbClr val="66CCE9"/>
          </a:solidFill>
          <a:ln w="15875">
            <a:solidFill>
              <a:srgbClr val="006F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2" name="Gantt legend label">
            <a:extLst>
              <a:ext uri="{FF2B5EF4-FFF2-40B4-BE49-F238E27FC236}">
                <a16:creationId xmlns:a16="http://schemas.microsoft.com/office/drawing/2014/main" id="{483BF069-B758-4C1A-BE03-065A7617942A}"/>
              </a:ext>
            </a:extLst>
          </p:cNvPr>
          <p:cNvSpPr txBox="1"/>
          <p:nvPr/>
        </p:nvSpPr>
        <p:spPr>
          <a:xfrm>
            <a:off x="5212080" y="8843010"/>
            <a:ext cx="727122" cy="230832"/>
          </a:xfrm>
          <a:prstGeom prst="rect">
            <a:avLst/>
          </a:prstGeom>
          <a:noFill/>
        </p:spPr>
        <p:txBody>
          <a:bodyPr vert="horz" wrap="none" lIns="0" tIns="0" bIns="0" rtlCol="0">
            <a:spAutoFit/>
          </a:bodyPr>
          <a:lstStyle/>
          <a:p>
            <a:r>
              <a:rPr lang="es-MX" sz="1500">
                <a:solidFill>
                  <a:srgbClr val="006F95"/>
                </a:solidFill>
                <a:latin typeface="Calibri (MS)" panose="020B0604020202020204" charset="0"/>
              </a:rPr>
              <a:t>Planned</a:t>
            </a:r>
          </a:p>
        </p:txBody>
      </p:sp>
      <p:sp>
        <p:nvSpPr>
          <p:cNvPr id="363" name="Gantt legend">
            <a:extLst>
              <a:ext uri="{FF2B5EF4-FFF2-40B4-BE49-F238E27FC236}">
                <a16:creationId xmlns:a16="http://schemas.microsoft.com/office/drawing/2014/main" id="{178FC3EF-1CDF-4D59-04CF-AC67D1A67F6D}"/>
              </a:ext>
            </a:extLst>
          </p:cNvPr>
          <p:cNvSpPr/>
          <p:nvPr/>
        </p:nvSpPr>
        <p:spPr>
          <a:xfrm>
            <a:off x="8209280" y="8881110"/>
            <a:ext cx="431800" cy="2032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4" name="Gantt legend label">
            <a:extLst>
              <a:ext uri="{FF2B5EF4-FFF2-40B4-BE49-F238E27FC236}">
                <a16:creationId xmlns:a16="http://schemas.microsoft.com/office/drawing/2014/main" id="{397AF35A-B491-7C62-A268-F82010893D77}"/>
              </a:ext>
            </a:extLst>
          </p:cNvPr>
          <p:cNvSpPr txBox="1"/>
          <p:nvPr/>
        </p:nvSpPr>
        <p:spPr>
          <a:xfrm>
            <a:off x="8768080" y="8843010"/>
            <a:ext cx="1585690" cy="230832"/>
          </a:xfrm>
          <a:prstGeom prst="rect">
            <a:avLst/>
          </a:prstGeom>
          <a:noFill/>
        </p:spPr>
        <p:txBody>
          <a:bodyPr vert="horz" wrap="none" lIns="0" tIns="0" bIns="0" rtlCol="0">
            <a:spAutoFit/>
          </a:bodyPr>
          <a:lstStyle/>
          <a:p>
            <a:r>
              <a:rPr lang="es-MX" sz="1500">
                <a:solidFill>
                  <a:srgbClr val="006F95"/>
                </a:solidFill>
                <a:latin typeface="Calibri (MS)" panose="020B0604020202020204" charset="0"/>
              </a:rPr>
              <a:t>Mentor checkpoint</a:t>
            </a:r>
          </a:p>
        </p:txBody>
      </p:sp>
    </p:spTree>
    <p:extLst>
      <p:ext uri="{BB962C8B-B14F-4D97-AF65-F5344CB8AC3E}">
        <p14:creationId xmlns:p14="http://schemas.microsoft.com/office/powerpoint/2010/main" val="2115813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12468" y="-12468"/>
            <a:ext cx="6242856" cy="10313318"/>
            <a:chOff x="0" y="0"/>
            <a:chExt cx="8323809" cy="137510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323834" cy="13751052"/>
            </a:xfrm>
            <a:custGeom>
              <a:avLst/>
              <a:gdLst/>
              <a:ahLst/>
              <a:cxnLst/>
              <a:rect l="l" t="t" r="r" b="b"/>
              <a:pathLst>
                <a:path w="8323834" h="13751052">
                  <a:moveTo>
                    <a:pt x="0" y="0"/>
                  </a:moveTo>
                  <a:lnTo>
                    <a:pt x="8323834" y="0"/>
                  </a:lnTo>
                  <a:lnTo>
                    <a:pt x="8323834" y="13751052"/>
                  </a:lnTo>
                  <a:lnTo>
                    <a:pt x="0" y="13751052"/>
                  </a:ln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67692" y="2547852"/>
            <a:ext cx="2219496" cy="2219496"/>
            <a:chOff x="0" y="0"/>
            <a:chExt cx="2959329" cy="29593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59354" cy="2959354"/>
            </a:xfrm>
            <a:custGeom>
              <a:avLst/>
              <a:gdLst/>
              <a:ahLst/>
              <a:cxnLst/>
              <a:rect l="l" t="t" r="r" b="b"/>
              <a:pathLst>
                <a:path w="2959354" h="2959354">
                  <a:moveTo>
                    <a:pt x="0" y="1479677"/>
                  </a:moveTo>
                  <a:cubicBezTo>
                    <a:pt x="0" y="662432"/>
                    <a:pt x="662432" y="0"/>
                    <a:pt x="1479677" y="0"/>
                  </a:cubicBezTo>
                  <a:cubicBezTo>
                    <a:pt x="2296922" y="0"/>
                    <a:pt x="2959354" y="662432"/>
                    <a:pt x="2959354" y="1479677"/>
                  </a:cubicBezTo>
                  <a:cubicBezTo>
                    <a:pt x="2959354" y="2296922"/>
                    <a:pt x="2296795" y="2959354"/>
                    <a:pt x="1479677" y="2959354"/>
                  </a:cubicBezTo>
                  <a:cubicBezTo>
                    <a:pt x="662559" y="2959354"/>
                    <a:pt x="0" y="2296795"/>
                    <a:pt x="0" y="1479677"/>
                  </a:cubicBezTo>
                  <a:close/>
                </a:path>
              </a:pathLst>
            </a:custGeom>
            <a:solidFill>
              <a:srgbClr val="66CCE9"/>
            </a:solidFill>
            <a:ln w="24937" cap="sq">
              <a:solidFill>
                <a:srgbClr val="66CCE9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01092" y="3075708"/>
            <a:ext cx="1155468" cy="1163784"/>
            <a:chOff x="0" y="0"/>
            <a:chExt cx="1540624" cy="1551711"/>
          </a:xfrm>
        </p:grpSpPr>
        <p:sp>
          <p:nvSpPr>
            <p:cNvPr id="9" name="Freeform 9" descr="image.jpg"/>
            <p:cNvSpPr/>
            <p:nvPr/>
          </p:nvSpPr>
          <p:spPr>
            <a:xfrm>
              <a:off x="0" y="0"/>
              <a:ext cx="1540637" cy="1551686"/>
            </a:xfrm>
            <a:custGeom>
              <a:avLst/>
              <a:gdLst/>
              <a:ahLst/>
              <a:cxnLst/>
              <a:rect l="l" t="t" r="r" b="b"/>
              <a:pathLst>
                <a:path w="1540637" h="1551686">
                  <a:moveTo>
                    <a:pt x="0" y="0"/>
                  </a:moveTo>
                  <a:lnTo>
                    <a:pt x="1540637" y="0"/>
                  </a:lnTo>
                  <a:lnTo>
                    <a:pt x="1540637" y="1551686"/>
                  </a:lnTo>
                  <a:lnTo>
                    <a:pt x="0" y="1551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" r="-31" b="-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21233" y="1354969"/>
            <a:ext cx="10268988" cy="2227812"/>
            <a:chOff x="0" y="0"/>
            <a:chExt cx="13691984" cy="2970416"/>
          </a:xfrm>
        </p:grpSpPr>
        <p:sp>
          <p:nvSpPr>
            <p:cNvPr id="11" name="Freeform 11" descr="image.jpg"/>
            <p:cNvSpPr/>
            <p:nvPr/>
          </p:nvSpPr>
          <p:spPr>
            <a:xfrm>
              <a:off x="0" y="0"/>
              <a:ext cx="13691997" cy="2970403"/>
            </a:xfrm>
            <a:custGeom>
              <a:avLst/>
              <a:gdLst/>
              <a:ahLst/>
              <a:cxnLst/>
              <a:rect l="l" t="t" r="r" b="b"/>
              <a:pathLst>
                <a:path w="13691997" h="2970403">
                  <a:moveTo>
                    <a:pt x="0" y="0"/>
                  </a:moveTo>
                  <a:lnTo>
                    <a:pt x="13691997" y="0"/>
                  </a:lnTo>
                  <a:lnTo>
                    <a:pt x="13691997" y="2970403"/>
                  </a:lnTo>
                  <a:lnTo>
                    <a:pt x="0" y="2970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77052" y="1907772"/>
            <a:ext cx="1122216" cy="1122216"/>
            <a:chOff x="0" y="0"/>
            <a:chExt cx="1496289" cy="14962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96314" cy="1496314"/>
            </a:xfrm>
            <a:custGeom>
              <a:avLst/>
              <a:gdLst/>
              <a:ahLst/>
              <a:cxnLst/>
              <a:rect l="l" t="t" r="r" b="b"/>
              <a:pathLst>
                <a:path w="1496314" h="1496314">
                  <a:moveTo>
                    <a:pt x="0" y="748157"/>
                  </a:moveTo>
                  <a:cubicBezTo>
                    <a:pt x="0" y="334899"/>
                    <a:pt x="334899" y="0"/>
                    <a:pt x="748157" y="0"/>
                  </a:cubicBezTo>
                  <a:cubicBezTo>
                    <a:pt x="1161415" y="0"/>
                    <a:pt x="1496314" y="334899"/>
                    <a:pt x="1496314" y="748157"/>
                  </a:cubicBezTo>
                  <a:cubicBezTo>
                    <a:pt x="1496314" y="1161415"/>
                    <a:pt x="1161415" y="1496314"/>
                    <a:pt x="748157" y="1496314"/>
                  </a:cubicBezTo>
                  <a:cubicBezTo>
                    <a:pt x="334899" y="1496314"/>
                    <a:pt x="0" y="1161288"/>
                    <a:pt x="0" y="74815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21233" y="4098179"/>
            <a:ext cx="10268988" cy="2227812"/>
            <a:chOff x="0" y="0"/>
            <a:chExt cx="13691984" cy="2970416"/>
          </a:xfrm>
        </p:grpSpPr>
        <p:sp>
          <p:nvSpPr>
            <p:cNvPr id="15" name="Freeform 15" descr="image.jpg"/>
            <p:cNvSpPr/>
            <p:nvPr/>
          </p:nvSpPr>
          <p:spPr>
            <a:xfrm>
              <a:off x="0" y="0"/>
              <a:ext cx="13691997" cy="2970403"/>
            </a:xfrm>
            <a:custGeom>
              <a:avLst/>
              <a:gdLst/>
              <a:ahLst/>
              <a:cxnLst/>
              <a:rect l="l" t="t" r="r" b="b"/>
              <a:pathLst>
                <a:path w="13691997" h="2970403">
                  <a:moveTo>
                    <a:pt x="0" y="0"/>
                  </a:moveTo>
                  <a:lnTo>
                    <a:pt x="13691997" y="0"/>
                  </a:lnTo>
                  <a:lnTo>
                    <a:pt x="13691997" y="2970403"/>
                  </a:lnTo>
                  <a:lnTo>
                    <a:pt x="0" y="2970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577052" y="4650972"/>
            <a:ext cx="1122216" cy="1122216"/>
            <a:chOff x="0" y="0"/>
            <a:chExt cx="1496289" cy="14962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96314" cy="1496314"/>
            </a:xfrm>
            <a:custGeom>
              <a:avLst/>
              <a:gdLst/>
              <a:ahLst/>
              <a:cxnLst/>
              <a:rect l="l" t="t" r="r" b="b"/>
              <a:pathLst>
                <a:path w="1496314" h="1496314">
                  <a:moveTo>
                    <a:pt x="0" y="748157"/>
                  </a:moveTo>
                  <a:cubicBezTo>
                    <a:pt x="0" y="334899"/>
                    <a:pt x="334899" y="0"/>
                    <a:pt x="748157" y="0"/>
                  </a:cubicBezTo>
                  <a:cubicBezTo>
                    <a:pt x="1161415" y="0"/>
                    <a:pt x="1496314" y="334899"/>
                    <a:pt x="1496314" y="748157"/>
                  </a:cubicBezTo>
                  <a:cubicBezTo>
                    <a:pt x="1496314" y="1161415"/>
                    <a:pt x="1161415" y="1496314"/>
                    <a:pt x="748157" y="1496314"/>
                  </a:cubicBezTo>
                  <a:cubicBezTo>
                    <a:pt x="334899" y="1496314"/>
                    <a:pt x="0" y="1161288"/>
                    <a:pt x="0" y="74815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121233" y="6841369"/>
            <a:ext cx="10268988" cy="2227812"/>
            <a:chOff x="0" y="0"/>
            <a:chExt cx="13691984" cy="2970416"/>
          </a:xfrm>
        </p:grpSpPr>
        <p:sp>
          <p:nvSpPr>
            <p:cNvPr id="19" name="Freeform 19" descr="image.jpg"/>
            <p:cNvSpPr/>
            <p:nvPr/>
          </p:nvSpPr>
          <p:spPr>
            <a:xfrm>
              <a:off x="0" y="0"/>
              <a:ext cx="13691997" cy="2970403"/>
            </a:xfrm>
            <a:custGeom>
              <a:avLst/>
              <a:gdLst/>
              <a:ahLst/>
              <a:cxnLst/>
              <a:rect l="l" t="t" r="r" b="b"/>
              <a:pathLst>
                <a:path w="13691997" h="2970403">
                  <a:moveTo>
                    <a:pt x="0" y="0"/>
                  </a:moveTo>
                  <a:lnTo>
                    <a:pt x="13691997" y="0"/>
                  </a:lnTo>
                  <a:lnTo>
                    <a:pt x="13691997" y="2970403"/>
                  </a:lnTo>
                  <a:lnTo>
                    <a:pt x="0" y="2970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9" b="-2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77052" y="7394172"/>
            <a:ext cx="1122216" cy="1122216"/>
            <a:chOff x="0" y="0"/>
            <a:chExt cx="1496289" cy="149628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96314" cy="1496314"/>
            </a:xfrm>
            <a:custGeom>
              <a:avLst/>
              <a:gdLst/>
              <a:ahLst/>
              <a:cxnLst/>
              <a:rect l="l" t="t" r="r" b="b"/>
              <a:pathLst>
                <a:path w="1496314" h="1496314">
                  <a:moveTo>
                    <a:pt x="0" y="748157"/>
                  </a:moveTo>
                  <a:cubicBezTo>
                    <a:pt x="0" y="334899"/>
                    <a:pt x="334899" y="0"/>
                    <a:pt x="748157" y="0"/>
                  </a:cubicBezTo>
                  <a:cubicBezTo>
                    <a:pt x="1161415" y="0"/>
                    <a:pt x="1496314" y="334899"/>
                    <a:pt x="1496314" y="748157"/>
                  </a:cubicBezTo>
                  <a:cubicBezTo>
                    <a:pt x="1496314" y="1161415"/>
                    <a:pt x="1161415" y="1496314"/>
                    <a:pt x="748157" y="1496314"/>
                  </a:cubicBezTo>
                  <a:cubicBezTo>
                    <a:pt x="334899" y="1496314"/>
                    <a:pt x="0" y="1161288"/>
                    <a:pt x="0" y="74815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17286" y="5473084"/>
            <a:ext cx="4215089" cy="1022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6825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Next Steps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8389" y="2154850"/>
            <a:ext cx="381467" cy="60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0"/>
              </a:lnSpc>
            </a:pPr>
            <a:r>
              <a:rPr lang="en-US" sz="3975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46638" y="1604969"/>
            <a:ext cx="7900000" cy="172781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4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LSL simulation with the public datasets</a:t>
            </a:r>
            <a:endParaRPr lang="en-US" sz="3400"/>
          </a:p>
        </p:txBody>
      </p:sp>
      <p:sp>
        <p:nvSpPr>
          <p:cNvPr id="28" name="TextBox 28"/>
          <p:cNvSpPr txBox="1"/>
          <p:nvPr/>
        </p:nvSpPr>
        <p:spPr>
          <a:xfrm>
            <a:off x="7988389" y="4898203"/>
            <a:ext cx="372456" cy="60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0"/>
              </a:lnSpc>
            </a:pPr>
            <a:r>
              <a:rPr lang="en-US" sz="3975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389" y="7641307"/>
            <a:ext cx="381467" cy="603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0"/>
              </a:lnSpc>
            </a:pPr>
            <a:r>
              <a:rPr lang="en-US" sz="3975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46638" y="7091369"/>
            <a:ext cx="7900000" cy="172781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34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Validate H1, H2 and H3</a:t>
            </a:r>
            <a:endParaRPr lang="en-US" sz="3400"/>
          </a:p>
        </p:txBody>
      </p:sp>
      <p:sp>
        <p:nvSpPr>
          <p:cNvPr id="33" name="TextBox 33"/>
          <p:cNvSpPr txBox="1"/>
          <p:nvPr/>
        </p:nvSpPr>
        <p:spPr>
          <a:xfrm>
            <a:off x="9146638" y="4348179"/>
            <a:ext cx="7900000" cy="1727812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34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Own experiment: EEG data from subjects</a:t>
            </a:r>
            <a:endParaRPr lang="en-US" sz="3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7324" y="781926"/>
            <a:ext cx="4224995" cy="961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References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541" y="1900000"/>
            <a:ext cx="8050000" cy="75000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Arnau, S., Brümmer, T., Liegel, N., &amp; Wascher, E. (2021). Inverse effects of time-on-task in task-related and task-unrelated theta activity. Psychophysiology, 58(6), e13805. https://doi.org/10.1111/psyp.13805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Benwell, C. S. Y., et al. (2019). Frequency and power of human alpha oscillations drift systematically with time-on-task. NeuroImage, 192, 101–114. https://doi.org/10.1016/j.neuroimage.2019.02.067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Cao, Z., Chuang, C.-H., King, J.-K., &amp; Lin, C.-T. (2019). Multi-channel EEG recordings during a sustained-attention driving task. Scientific Data, 6, 19. https://doi.org/10.1038/s41597-019-0027-4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Cavanagh, J. F., &amp; Frank, M. J. (2014). Frontal theta as a mechanism for cognitive control. Trends in Cognitive Sciences, 18(8), 414–421. https://doi.org/10.1016/j.tics.2014.04.012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Desmond, P. A., &amp; Hancock, P. A. (2001). Active and passive fatigue states. In P. A. Hancock &amp; P. A. Desmond (Eds.), Stress, workload, and fatigue (pp. 455–465). Erlbaum.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Fortes, L. S., et al. (2019). Effect of exposure time to smartphone apps on passing decision-making in male soccer athletes. Psychology of Sport and Exercise, 44, 35–41.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Jacquet, T., Lepers, R., Pageaux, B., &amp; Poulin-Charronnat, B. (2023). Acute smartphone use impairs vigilance and inhibition capacities. Scientific Reports, 13, 23046. https://doi.org/10.1038/s41598-023-50354-3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6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Kato, Y., </a:t>
            </a: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Endo, H., &amp; Kizuka, T. (2009). Mental fatigue and impaired response processes: Event-related brain potentials in a Go/NoGo task. International Journal of Psychophysiology, 72(2), 204–211.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Marcora, S. M., Staiano, W., &amp; Manning, V. (2009). Mental fatigue impairs physical performance in humans. Journal of Applied Physiology, 106(3), 857–864. https://doi.org/10.1152/japplphysiol.91324.2008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Mishra, P., Gandhi, T. K., &amp; Gandhi, S. R. (2026). A multimodal dataset of EEG, eye-tracking, and physiological signals during naturalistic smartphone interactions. bioRxiv. OpenNeuro </a:t>
            </a:r>
            <a:r>
              <a:rPr lang="en-US" sz="16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ds007537.</a:t>
            </a:r>
            <a:endParaRPr lang="en-US" sz="1600"/>
          </a:p>
        </p:txBody>
      </p:sp>
      <p:sp>
        <p:nvSpPr>
          <p:cNvPr id="901" name="References col 2"/>
          <p:cNvSpPr txBox="1"/>
          <p:nvPr/>
        </p:nvSpPr>
        <p:spPr>
          <a:xfrm>
            <a:off x="9340221" y="1900000"/>
            <a:ext cx="8050000" cy="7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6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Nahum-Shani, I., et al. (2018). Just-in-time adaptive interventions (JITAIs) in mobile health. Annals of Behavioral Medicine, 52(6), 446–462. https://doi.org/10.1007/s12160-016-9830-8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6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Nguyen</a:t>
            </a: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, L., et al. (2025). Feeds, feelings, and focus: A systematic review and meta-analysis examining the cognitive and mental health correlates of short-form video use. Psychological Bulletin, 151(9), 1125–1146. https://doi.org/10.1037/bul0000498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Orzikulova, A., et al. (2024). Time2Stop: Adaptive and explainable human-AI loop for smartphone overuse intervention. Proceedings of CHI ’24. ACM.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Sharpe, B. T., &amp; Spooner, R. A. (2025). Dopamine-scrolling: A modern public health challenge requiring urgent attention. Perspectives in Public Health, 145(4), 190–191. https://doi.org/10.1177/17579139251331914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Sharpe, A. T. R., Tyndall, I., Poulus, D. R., Obine, E. A. C., &amp; Sharpe, B. T. (2026). The influence of doomscrolling on mental health: A scoping review. Mental Health and Digital Technologies, 3(3), 290–342.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Tran, Y., Craig, A., Craig, R., Chai, R., &amp; Nguyen, H. (2020). The influence of mental fatigue on brain activity: Evidence from a systematic review with meta-analyses. Psychophysiology, 57(5), e13554. https://doi.org/10.1111/psyp.13554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Wascher, E., et al. (2014). Frontal theta activity reflects distinct aspects of mental fatigue. Biological Psychology, 96, 57–65. https://doi.org/10.1016/j.biopsycho.2013.11.010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Yan, T., Su, C., Xue, W., Hu, Y., &amp; Zhou, H. (2024). Mobile phone short video use negatively impacts attention functions: An EEG study. Frontiers in Human Neuroscience, 18, 1383913. https://doi.org/10.3389/fnhum.2024.1383913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Yu, S., Mückschel, M., &amp; Beste, C. (2022). Superior frontal regions reflect the dynamics of task engagement and theta band-related control processes in time-on-task effects. Scientific Reports, 12, 846. https://doi.org/10.1038/s41598-022-04972-y</a:t>
            </a:r>
            <a:endParaRPr lang="en-US" sz="1600"/>
          </a:p>
          <a:p>
            <a:pPr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Zhang, S., et al. (2024). EEG-SVRec: An EEG dataset with user multidimensional affective engagement labels in short video recommendation. Proceedings of SIGIR ’24. https://arxiv.org/abs/2404.01008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917324" y="781926"/>
            <a:ext cx="15500000" cy="981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System Pipeline</a:t>
            </a:r>
          </a:p>
        </p:txBody>
      </p:sp>
      <p:sp>
        <p:nvSpPr>
          <p:cNvPr id="102" name="Pipeline block"/>
          <p:cNvSpPr/>
          <p:nvPr/>
        </p:nvSpPr>
        <p:spPr>
          <a:xfrm>
            <a:off x="900541" y="1950000"/>
            <a:ext cx="4900000" cy="245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03" name="touch" descr="tou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541" y="2625000"/>
            <a:ext cx="1100000" cy="1100000"/>
          </a:xfrm>
          <a:prstGeom prst="rect">
            <a:avLst/>
          </a:prstGeom>
        </p:spPr>
      </p:pic>
      <p:sp>
        <p:nvSpPr>
          <p:cNvPr id="104" name="Block text"/>
          <p:cNvSpPr txBox="1"/>
          <p:nvPr/>
        </p:nvSpPr>
        <p:spPr>
          <a:xfrm>
            <a:off x="2500541" y="2100000"/>
            <a:ext cx="3100000" cy="2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· Scrolling</a:t>
            </a:r>
            <a:endParaRPr lang="en-US" sz="2700"/>
          </a:p>
          <a:p>
            <a:pPr algn="l">
              <a:spcAft>
                <a:spcPts val="0"/>
              </a:spcAft>
              <a:buNone/>
            </a:pPr>
            <a:r>
              <a:rPr lang="en-US" sz="22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swipe + NoGo markers</a:t>
            </a:r>
            <a:endParaRPr lang="en-US" sz="2200"/>
          </a:p>
        </p:txBody>
      </p:sp>
      <p:sp>
        <p:nvSpPr>
          <p:cNvPr id="105" name="Pipeline block"/>
          <p:cNvSpPr/>
          <p:nvPr/>
        </p:nvSpPr>
        <p:spPr>
          <a:xfrm>
            <a:off x="6695381" y="1950000"/>
            <a:ext cx="4900000" cy="245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06" name="stream" descr="stre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381" y="2625000"/>
            <a:ext cx="1100000" cy="1100000"/>
          </a:xfrm>
          <a:prstGeom prst="rect">
            <a:avLst/>
          </a:prstGeom>
        </p:spPr>
      </p:pic>
      <p:sp>
        <p:nvSpPr>
          <p:cNvPr id="107" name="Block text"/>
          <p:cNvSpPr txBox="1"/>
          <p:nvPr/>
        </p:nvSpPr>
        <p:spPr>
          <a:xfrm>
            <a:off x="8295381" y="2100000"/>
            <a:ext cx="3100000" cy="2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· AURA EEG</a:t>
            </a:r>
            <a:endParaRPr lang="en-US" sz="2700"/>
          </a:p>
          <a:p>
            <a:pPr algn="l">
              <a:spcAft>
                <a:spcPts val="0"/>
              </a:spcAft>
              <a:buNone/>
            </a:pPr>
            <a:r>
              <a:rPr lang="en-US" sz="22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8 ch · LSL stream</a:t>
            </a:r>
            <a:endParaRPr lang="en-US" sz="2200"/>
          </a:p>
        </p:txBody>
      </p:sp>
      <p:sp>
        <p:nvSpPr>
          <p:cNvPr id="108" name="Pipeline block"/>
          <p:cNvSpPr/>
          <p:nvPr/>
        </p:nvSpPr>
        <p:spPr>
          <a:xfrm>
            <a:off x="12490221" y="1950000"/>
            <a:ext cx="4900000" cy="245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09" name="funnel" descr="funn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0221" y="2625000"/>
            <a:ext cx="1100000" cy="1100000"/>
          </a:xfrm>
          <a:prstGeom prst="rect">
            <a:avLst/>
          </a:prstGeom>
        </p:spPr>
      </p:pic>
      <p:sp>
        <p:nvSpPr>
          <p:cNvPr id="110" name="Block text"/>
          <p:cNvSpPr txBox="1"/>
          <p:nvPr/>
        </p:nvSpPr>
        <p:spPr>
          <a:xfrm>
            <a:off x="14090221" y="2100000"/>
            <a:ext cx="3100000" cy="2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· Preprocessing</a:t>
            </a:r>
            <a:endParaRPr lang="en-US" sz="2700"/>
          </a:p>
          <a:p>
            <a:pPr algn="l">
              <a:spcAft>
                <a:spcPts val="0"/>
              </a:spcAft>
              <a:buNone/>
            </a:pPr>
            <a:r>
              <a:rPr lang="en-US" sz="22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filter · artifacts · blinks</a:t>
            </a:r>
            <a:endParaRPr lang="en-US" sz="2200"/>
          </a:p>
        </p:txBody>
      </p:sp>
      <p:sp>
        <p:nvSpPr>
          <p:cNvPr id="111" name="Pipeline block"/>
          <p:cNvSpPr/>
          <p:nvPr/>
        </p:nvSpPr>
        <p:spPr>
          <a:xfrm>
            <a:off x="12490221" y="5150000"/>
            <a:ext cx="4900000" cy="2450000"/>
          </a:xfrm>
          <a:prstGeom prst="roundRect">
            <a:avLst>
              <a:gd name="adj" fmla="val 8000"/>
            </a:avLst>
          </a:prstGeom>
          <a:solidFill>
            <a:srgbClr val="006F95"/>
          </a:solidFill>
          <a:ln>
            <a:noFill/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2" name="pulse" descr="pul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0221" y="5825000"/>
            <a:ext cx="1100000" cy="1100000"/>
          </a:xfrm>
          <a:prstGeom prst="rect">
            <a:avLst/>
          </a:prstGeom>
        </p:spPr>
      </p:pic>
      <p:sp>
        <p:nvSpPr>
          <p:cNvPr id="113" name="Block text"/>
          <p:cNvSpPr txBox="1"/>
          <p:nvPr/>
        </p:nvSpPr>
        <p:spPr>
          <a:xfrm>
            <a:off x="14090221" y="5300000"/>
            <a:ext cx="3100000" cy="2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· Features</a:t>
            </a:r>
            <a:endParaRPr lang="en-US" sz="2700"/>
          </a:p>
          <a:p>
            <a:pPr algn="l"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θ · α periodic · 1/f · 2–4 s</a:t>
            </a:r>
            <a:endParaRPr lang="en-US" sz="2200"/>
          </a:p>
        </p:txBody>
      </p:sp>
      <p:sp>
        <p:nvSpPr>
          <p:cNvPr id="114" name="Pipeline block"/>
          <p:cNvSpPr/>
          <p:nvPr/>
        </p:nvSpPr>
        <p:spPr>
          <a:xfrm>
            <a:off x="6695381" y="5150000"/>
            <a:ext cx="4900000" cy="2450000"/>
          </a:xfrm>
          <a:prstGeom prst="roundRect">
            <a:avLst>
              <a:gd name="adj" fmla="val 8000"/>
            </a:avLst>
          </a:prstGeom>
          <a:solidFill>
            <a:srgbClr val="006F95"/>
          </a:solidFill>
          <a:ln>
            <a:noFill/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5" name="person" descr="pers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5381" y="5825000"/>
            <a:ext cx="1100000" cy="1100000"/>
          </a:xfrm>
          <a:prstGeom prst="rect">
            <a:avLst/>
          </a:prstGeom>
        </p:spPr>
      </p:pic>
      <p:sp>
        <p:nvSpPr>
          <p:cNvPr id="116" name="Block text"/>
          <p:cNvSpPr txBox="1"/>
          <p:nvPr/>
        </p:nvSpPr>
        <p:spPr>
          <a:xfrm>
            <a:off x="8295381" y="5300000"/>
            <a:ext cx="3100000" cy="2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 · Individual model</a:t>
            </a:r>
            <a:endParaRPr lang="en-US" sz="2700"/>
          </a:p>
          <a:p>
            <a:pPr algn="l">
              <a:spcAft>
                <a:spcPts val="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per-user calibration → state</a:t>
            </a:r>
            <a:endParaRPr lang="en-US" sz="2200"/>
          </a:p>
        </p:txBody>
      </p:sp>
      <p:sp>
        <p:nvSpPr>
          <p:cNvPr id="117" name="Pipeline block"/>
          <p:cNvSpPr/>
          <p:nvPr/>
        </p:nvSpPr>
        <p:spPr>
          <a:xfrm>
            <a:off x="900541" y="5150000"/>
            <a:ext cx="4900000" cy="245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8" name="glasses" descr="glass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541" y="5825000"/>
            <a:ext cx="1100000" cy="1100000"/>
          </a:xfrm>
          <a:prstGeom prst="rect">
            <a:avLst/>
          </a:prstGeom>
        </p:spPr>
      </p:pic>
      <p:sp>
        <p:nvSpPr>
          <p:cNvPr id="119" name="Block text"/>
          <p:cNvSpPr txBox="1"/>
          <p:nvPr/>
        </p:nvSpPr>
        <p:spPr>
          <a:xfrm>
            <a:off x="2500541" y="5300000"/>
            <a:ext cx="3100000" cy="2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 · AR feedback</a:t>
            </a:r>
            <a:endParaRPr lang="en-US" sz="2700"/>
          </a:p>
          <a:p>
            <a:pPr algn="l">
              <a:spcAft>
                <a:spcPts val="0"/>
              </a:spcAft>
              <a:buNone/>
            </a:pPr>
            <a:r>
              <a:rPr lang="en-US" sz="22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cue → friction → pause</a:t>
            </a:r>
            <a:endParaRPr lang="en-US" sz="2200"/>
          </a:p>
        </p:txBody>
      </p:sp>
      <p:sp>
        <p:nvSpPr>
          <p:cNvPr id="120" name="Arrow"/>
          <p:cNvSpPr/>
          <p:nvPr/>
        </p:nvSpPr>
        <p:spPr>
          <a:xfrm>
            <a:off x="5950541" y="2950000"/>
            <a:ext cx="594840" cy="450000"/>
          </a:xfrm>
          <a:prstGeom prst="rightArrow">
            <a:avLst/>
          </a:prstGeom>
          <a:solidFill>
            <a:srgbClr val="A8DCE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1" name="Arrow"/>
          <p:cNvSpPr/>
          <p:nvPr/>
        </p:nvSpPr>
        <p:spPr>
          <a:xfrm>
            <a:off x="11745381" y="2950000"/>
            <a:ext cx="594840" cy="450000"/>
          </a:xfrm>
          <a:prstGeom prst="rightArrow">
            <a:avLst/>
          </a:prstGeom>
          <a:solidFill>
            <a:srgbClr val="A8DCE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2" name="Arrow"/>
          <p:cNvSpPr/>
          <p:nvPr/>
        </p:nvSpPr>
        <p:spPr>
          <a:xfrm>
            <a:off x="11745381" y="6150000"/>
            <a:ext cx="594840" cy="450000"/>
          </a:xfrm>
          <a:prstGeom prst="leftArrow">
            <a:avLst/>
          </a:prstGeom>
          <a:solidFill>
            <a:srgbClr val="A8DCE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3" name="Arrow"/>
          <p:cNvSpPr/>
          <p:nvPr/>
        </p:nvSpPr>
        <p:spPr>
          <a:xfrm>
            <a:off x="5950541" y="6150000"/>
            <a:ext cx="594840" cy="450000"/>
          </a:xfrm>
          <a:prstGeom prst="leftArrow">
            <a:avLst/>
          </a:prstGeom>
          <a:solidFill>
            <a:srgbClr val="A8DCE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4" name="Arrow"/>
          <p:cNvSpPr/>
          <p:nvPr/>
        </p:nvSpPr>
        <p:spPr>
          <a:xfrm>
            <a:off x="14715221" y="4500000"/>
            <a:ext cx="450000" cy="550000"/>
          </a:xfrm>
          <a:prstGeom prst="downArrow">
            <a:avLst/>
          </a:prstGeom>
          <a:solidFill>
            <a:srgbClr val="A8DCE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5" name="Arrow"/>
          <p:cNvSpPr/>
          <p:nvPr/>
        </p:nvSpPr>
        <p:spPr>
          <a:xfrm>
            <a:off x="3125541" y="4500000"/>
            <a:ext cx="450000" cy="550000"/>
          </a:xfrm>
          <a:prstGeom prst="upArrow">
            <a:avLst/>
          </a:prstGeom>
          <a:solidFill>
            <a:srgbClr val="A8DCE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6" name="Loop label"/>
          <p:cNvSpPr txBox="1"/>
          <p:nvPr/>
        </p:nvSpPr>
        <p:spPr>
          <a:xfrm>
            <a:off x="3700541" y="452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900" b="1" i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closed loop</a:t>
            </a:r>
            <a:endParaRPr lang="en-US" sz="1900"/>
          </a:p>
        </p:txBody>
      </p:sp>
      <p:sp>
        <p:nvSpPr>
          <p:cNvPr id="127" name="Chip"/>
          <p:cNvSpPr/>
          <p:nvPr/>
        </p:nvSpPr>
        <p:spPr>
          <a:xfrm>
            <a:off x="900541" y="7950000"/>
            <a:ext cx="5263226" cy="9000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3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BIDS storage</a:t>
            </a:r>
            <a:endParaRPr lang="en-US" sz="2300"/>
          </a:p>
        </p:txBody>
      </p:sp>
      <p:sp>
        <p:nvSpPr>
          <p:cNvPr id="128" name="Chip"/>
          <p:cNvSpPr/>
          <p:nvPr/>
        </p:nvSpPr>
        <p:spPr>
          <a:xfrm>
            <a:off x="6513767" y="7950000"/>
            <a:ext cx="5263226" cy="9000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3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Session dashboard</a:t>
            </a:r>
            <a:endParaRPr lang="en-US" sz="2300"/>
          </a:p>
        </p:txBody>
      </p:sp>
      <p:sp>
        <p:nvSpPr>
          <p:cNvPr id="129" name="Chip"/>
          <p:cNvSpPr/>
          <p:nvPr/>
        </p:nvSpPr>
        <p:spPr>
          <a:xfrm>
            <a:off x="12126993" y="7950000"/>
            <a:ext cx="5263226" cy="9000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3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 LSL simulator</a:t>
            </a:r>
            <a:endParaRPr lang="en-US"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917324" y="781926"/>
            <a:ext cx="15500000" cy="981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Robust to Negative Results</a:t>
            </a:r>
          </a:p>
        </p:txBody>
      </p:sp>
      <p:sp>
        <p:nvSpPr>
          <p:cNvPr id="102" name="Chip"/>
          <p:cNvSpPr/>
          <p:nvPr/>
        </p:nvSpPr>
        <p:spPr>
          <a:xfrm>
            <a:off x="2300541" y="1950000"/>
            <a:ext cx="4475000" cy="65000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H1 ✓  tonic fatigue</a:t>
            </a:r>
            <a:endParaRPr lang="en-US" sz="2200"/>
          </a:p>
        </p:txBody>
      </p:sp>
      <p:sp>
        <p:nvSpPr>
          <p:cNvPr id="103" name="Chip"/>
          <p:cNvSpPr/>
          <p:nvPr/>
        </p:nvSpPr>
        <p:spPr>
          <a:xfrm>
            <a:off x="7025541" y="1950000"/>
            <a:ext cx="4475000" cy="6500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H1 ✗  no tonic fatigue</a:t>
            </a:r>
            <a:endParaRPr lang="en-US" sz="2200"/>
          </a:p>
        </p:txBody>
      </p:sp>
      <p:sp>
        <p:nvSpPr>
          <p:cNvPr id="104" name="Chip"/>
          <p:cNvSpPr/>
          <p:nvPr/>
        </p:nvSpPr>
        <p:spPr>
          <a:xfrm>
            <a:off x="900541" y="2750000"/>
            <a:ext cx="1200000" cy="2700000"/>
          </a:xfrm>
          <a:prstGeom prst="roundRect">
            <a:avLst>
              <a:gd name="adj" fmla="val 50000"/>
            </a:avLst>
          </a:prstGeom>
          <a:solidFill>
            <a:srgbClr val="006F95"/>
          </a:solidFill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H2 ✓</a:t>
            </a:r>
            <a:endParaRPr lang="en-US" sz="2400"/>
          </a:p>
        </p:txBody>
      </p:sp>
      <p:sp>
        <p:nvSpPr>
          <p:cNvPr id="105" name="Chip"/>
          <p:cNvSpPr/>
          <p:nvPr/>
        </p:nvSpPr>
        <p:spPr>
          <a:xfrm>
            <a:off x="900541" y="5700000"/>
            <a:ext cx="1200000" cy="2700000"/>
          </a:xfrm>
          <a:prstGeom prst="roundRect">
            <a:avLst>
              <a:gd name="adj" fmla="val 50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H2 ✗</a:t>
            </a:r>
            <a:endParaRPr lang="en-US" sz="2400"/>
          </a:p>
        </p:txBody>
      </p:sp>
      <p:sp>
        <p:nvSpPr>
          <p:cNvPr id="106" name="Scenario"/>
          <p:cNvSpPr/>
          <p:nvPr/>
        </p:nvSpPr>
        <p:spPr>
          <a:xfrm>
            <a:off x="2300541" y="2750000"/>
            <a:ext cx="4475000" cy="27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07" name="glasses" descr="glas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541" y="3550000"/>
            <a:ext cx="1100000" cy="1100000"/>
          </a:xfrm>
          <a:prstGeom prst="rect">
            <a:avLst/>
          </a:prstGeom>
        </p:spPr>
      </p:pic>
      <p:sp>
        <p:nvSpPr>
          <p:cNvPr id="108" name="Scenario text"/>
          <p:cNvSpPr txBox="1"/>
          <p:nvPr/>
        </p:nvSpPr>
        <p:spPr>
          <a:xfrm>
            <a:off x="3900541" y="2900000"/>
            <a:ext cx="2725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Full ladder</a:t>
            </a:r>
            <a:endParaRPr lang="en-US" sz="2700" dirty="0"/>
          </a:p>
          <a:p>
            <a:pPr algn="l">
              <a:spcAft>
                <a:spcPts val="0"/>
              </a:spcAft>
              <a:buNone/>
            </a:pPr>
            <a:r>
              <a:rPr lang="en-US" sz="21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cue → friction → pause</a:t>
            </a:r>
            <a:endParaRPr lang="en-US" sz="2100" dirty="0"/>
          </a:p>
        </p:txBody>
      </p:sp>
      <p:sp>
        <p:nvSpPr>
          <p:cNvPr id="109" name="Scenario"/>
          <p:cNvSpPr/>
          <p:nvPr/>
        </p:nvSpPr>
        <p:spPr>
          <a:xfrm>
            <a:off x="7025541" y="2750000"/>
            <a:ext cx="4475000" cy="27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0" name="stop" descr="s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541" y="3550000"/>
            <a:ext cx="1100000" cy="1100000"/>
          </a:xfrm>
          <a:prstGeom prst="rect">
            <a:avLst/>
          </a:prstGeom>
        </p:spPr>
      </p:pic>
      <p:sp>
        <p:nvSpPr>
          <p:cNvPr id="111" name="Scenario text"/>
          <p:cNvSpPr txBox="1"/>
          <p:nvPr/>
        </p:nvSpPr>
        <p:spPr>
          <a:xfrm>
            <a:off x="8625541" y="2900000"/>
            <a:ext cx="2725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Friction</a:t>
            </a:r>
            <a:endParaRPr lang="en-US" sz="2700"/>
          </a:p>
          <a:p>
            <a:pPr algn="l">
              <a:spcAft>
                <a:spcPts val="0"/>
              </a:spcAft>
              <a:buNone/>
            </a:pPr>
            <a:r>
              <a:rPr lang="en-US" sz="21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in-feed NoGo errors</a:t>
            </a:r>
            <a:endParaRPr lang="en-US" sz="2100"/>
          </a:p>
        </p:txBody>
      </p:sp>
      <p:sp>
        <p:nvSpPr>
          <p:cNvPr id="112" name="Scenario"/>
          <p:cNvSpPr/>
          <p:nvPr/>
        </p:nvSpPr>
        <p:spPr>
          <a:xfrm>
            <a:off x="2300541" y="5700000"/>
            <a:ext cx="4475000" cy="27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3" name="sun" descr="s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541" y="6500000"/>
            <a:ext cx="1100000" cy="1100000"/>
          </a:xfrm>
          <a:prstGeom prst="rect">
            <a:avLst/>
          </a:prstGeom>
        </p:spPr>
      </p:pic>
      <p:sp>
        <p:nvSpPr>
          <p:cNvPr id="114" name="Scenario text"/>
          <p:cNvSpPr txBox="1"/>
          <p:nvPr/>
        </p:nvSpPr>
        <p:spPr>
          <a:xfrm>
            <a:off x="3900541" y="5850000"/>
            <a:ext cx="2725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Restorative pause</a:t>
            </a:r>
            <a:endParaRPr lang="en-US" sz="2700"/>
          </a:p>
          <a:p>
            <a:pPr algn="l">
              <a:spcAft>
                <a:spcPts val="0"/>
              </a:spcAft>
              <a:buNone/>
            </a:pPr>
            <a:r>
              <a:rPr lang="en-US" sz="21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tonic markers only</a:t>
            </a:r>
            <a:endParaRPr lang="en-US" sz="2100"/>
          </a:p>
        </p:txBody>
      </p:sp>
      <p:sp>
        <p:nvSpPr>
          <p:cNvPr id="115" name="Scenario"/>
          <p:cNvSpPr/>
          <p:nvPr/>
        </p:nvSpPr>
        <p:spPr>
          <a:xfrm>
            <a:off x="7025541" y="5700000"/>
            <a:ext cx="4475000" cy="27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6" name="bell" descr="be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541" y="6500000"/>
            <a:ext cx="1100000" cy="1100000"/>
          </a:xfrm>
          <a:prstGeom prst="rect">
            <a:avLst/>
          </a:prstGeom>
        </p:spPr>
      </p:pic>
      <p:sp>
        <p:nvSpPr>
          <p:cNvPr id="117" name="Scenario text"/>
          <p:cNvSpPr txBox="1"/>
          <p:nvPr/>
        </p:nvSpPr>
        <p:spPr>
          <a:xfrm>
            <a:off x="8625541" y="5850000"/>
            <a:ext cx="2725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Awareness cue</a:t>
            </a:r>
            <a:endParaRPr lang="en-US" sz="2700"/>
          </a:p>
          <a:p>
            <a:pPr algn="l">
              <a:spcAft>
                <a:spcPts val="0"/>
              </a:spcAft>
              <a:buNone/>
            </a:pPr>
            <a:r>
              <a:rPr lang="en-US" sz="21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alpha + behavior · publishable null</a:t>
            </a:r>
            <a:endParaRPr lang="en-US" sz="2100"/>
          </a:p>
        </p:txBody>
      </p:sp>
      <p:sp>
        <p:nvSpPr>
          <p:cNvPr id="118" name="Safeguards title"/>
          <p:cNvSpPr txBox="1"/>
          <p:nvPr/>
        </p:nvSpPr>
        <p:spPr>
          <a:xfrm>
            <a:off x="11850541" y="1950000"/>
            <a:ext cx="553968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Safeguards</a:t>
            </a:r>
            <a:endParaRPr lang="en-US" sz="2600"/>
          </a:p>
        </p:txBody>
      </p:sp>
      <p:pic>
        <p:nvPicPr>
          <p:cNvPr id="119" name="check" descr="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0541" y="2900000"/>
            <a:ext cx="600000" cy="600000"/>
          </a:xfrm>
          <a:prstGeom prst="rect">
            <a:avLst/>
          </a:prstGeom>
        </p:spPr>
      </p:pic>
      <p:sp>
        <p:nvSpPr>
          <p:cNvPr id="120" name="Safeguard"/>
          <p:cNvSpPr txBox="1"/>
          <p:nvPr/>
        </p:nvSpPr>
        <p:spPr>
          <a:xfrm>
            <a:off x="12600541" y="2750000"/>
            <a:ext cx="478968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OSF preregistration</a:t>
            </a:r>
            <a:endParaRPr lang="en-US" sz="2200"/>
          </a:p>
        </p:txBody>
      </p:sp>
      <p:pic>
        <p:nvPicPr>
          <p:cNvPr id="121" name="check" descr="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0541" y="4030000"/>
            <a:ext cx="600000" cy="600000"/>
          </a:xfrm>
          <a:prstGeom prst="rect">
            <a:avLst/>
          </a:prstGeom>
        </p:spPr>
      </p:pic>
      <p:sp>
        <p:nvSpPr>
          <p:cNvPr id="122" name="Safeguard"/>
          <p:cNvSpPr txBox="1"/>
          <p:nvPr/>
        </p:nvSpPr>
        <p:spPr>
          <a:xfrm>
            <a:off x="12600541" y="3880000"/>
            <a:ext cx="478968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TOST / Bayes factors</a:t>
            </a:r>
            <a:endParaRPr lang="en-US" sz="2200"/>
          </a:p>
        </p:txBody>
      </p:sp>
      <p:pic>
        <p:nvPicPr>
          <p:cNvPr id="123" name="check" descr="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0541" y="5160000"/>
            <a:ext cx="600000" cy="600000"/>
          </a:xfrm>
          <a:prstGeom prst="rect">
            <a:avLst/>
          </a:prstGeom>
        </p:spPr>
      </p:pic>
      <p:sp>
        <p:nvSpPr>
          <p:cNvPr id="124" name="Safeguard"/>
          <p:cNvSpPr txBox="1"/>
          <p:nvPr/>
        </p:nvSpPr>
        <p:spPr>
          <a:xfrm>
            <a:off x="12600541" y="5010000"/>
            <a:ext cx="478968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Individual calibration</a:t>
            </a:r>
            <a:endParaRPr lang="en-US" sz="2200"/>
          </a:p>
        </p:txBody>
      </p:sp>
      <p:pic>
        <p:nvPicPr>
          <p:cNvPr id="125" name="check" descr="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0541" y="6290000"/>
            <a:ext cx="600000" cy="600000"/>
          </a:xfrm>
          <a:prstGeom prst="rect">
            <a:avLst/>
          </a:prstGeom>
        </p:spPr>
      </p:pic>
      <p:sp>
        <p:nvSpPr>
          <p:cNvPr id="126" name="Safeguard"/>
          <p:cNvSpPr txBox="1"/>
          <p:nvPr/>
        </p:nvSpPr>
        <p:spPr>
          <a:xfrm>
            <a:off x="12600541" y="6140000"/>
            <a:ext cx="478968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Hybrid EEG + behavior</a:t>
            </a:r>
            <a:endParaRPr lang="en-US" sz="2200"/>
          </a:p>
        </p:txBody>
      </p:sp>
      <p:pic>
        <p:nvPicPr>
          <p:cNvPr id="127" name="check" descr="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0541" y="7420000"/>
            <a:ext cx="600000" cy="600000"/>
          </a:xfrm>
          <a:prstGeom prst="rect">
            <a:avLst/>
          </a:prstGeom>
        </p:spPr>
      </p:pic>
      <p:sp>
        <p:nvSpPr>
          <p:cNvPr id="128" name="Safeguard"/>
          <p:cNvSpPr txBox="1"/>
          <p:nvPr/>
        </p:nvSpPr>
        <p:spPr>
          <a:xfrm>
            <a:off x="12600541" y="7270000"/>
            <a:ext cx="478968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Eyes-closed alpha demo</a:t>
            </a:r>
            <a:endParaRPr lang="en-US" sz="2200"/>
          </a:p>
        </p:txBody>
      </p:sp>
      <p:sp>
        <p:nvSpPr>
          <p:cNvPr id="129" name="Quote"/>
          <p:cNvSpPr/>
          <p:nvPr/>
        </p:nvSpPr>
        <p:spPr>
          <a:xfrm>
            <a:off x="900541" y="8450000"/>
            <a:ext cx="16489680" cy="850000"/>
          </a:xfrm>
          <a:prstGeom prst="roundRect">
            <a:avLst>
              <a:gd name="adj" fmla="val 8000"/>
            </a:avLst>
          </a:prstGeom>
          <a:solidFill>
            <a:srgbClr val="006F95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2600" i="1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Hypotheses decide </a:t>
            </a:r>
            <a:r>
              <a:rPr lang="en-US" sz="2600" b="1" i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which</a:t>
            </a:r>
            <a:r>
              <a:rPr lang="en-US" sz="2600" i="1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signal drives the AR, not </a:t>
            </a:r>
            <a:r>
              <a:rPr lang="en-US" sz="2600" b="1" i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whether</a:t>
            </a:r>
            <a:r>
              <a:rPr lang="en-US" sz="2600" i="1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it works</a:t>
            </a:r>
            <a:endParaRPr lang="en-US"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917324" y="781926"/>
            <a:ext cx="15500000" cy="9810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Objectives</a:t>
            </a:r>
          </a:p>
        </p:txBody>
      </p:sp>
      <p:sp>
        <p:nvSpPr>
          <p:cNvPr id="102" name="General objective"/>
          <p:cNvSpPr/>
          <p:nvPr/>
        </p:nvSpPr>
        <p:spPr>
          <a:xfrm>
            <a:off x="900541" y="1950000"/>
            <a:ext cx="16489680" cy="1450000"/>
          </a:xfrm>
          <a:prstGeom prst="roundRect">
            <a:avLst>
              <a:gd name="adj" fmla="val 8000"/>
            </a:avLst>
          </a:prstGeom>
          <a:solidFill>
            <a:srgbClr val="006F95"/>
          </a:solidFill>
          <a:ln>
            <a:noFill/>
          </a:ln>
        </p:spPr>
        <p:txBody>
          <a:bodyPr wrap="square" lIns="2000000" tIns="91440" rIns="457200" bIns="9144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Closed-loop EEG + AR platform</a:t>
            </a:r>
            <a:r>
              <a: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that detects </a:t>
            </a: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fatigue</a:t>
            </a:r>
            <a:r>
              <a: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and </a:t>
            </a: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loss of inhibitory control</a:t>
            </a:r>
            <a:r>
              <a: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during short-video scrolling</a:t>
            </a:r>
            <a:endParaRPr lang="en-US" sz="2800"/>
          </a:p>
        </p:txBody>
      </p:sp>
      <p:pic>
        <p:nvPicPr>
          <p:cNvPr id="103" name="flag" descr="fla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541" y="2150000"/>
            <a:ext cx="1050000" cy="1050000"/>
          </a:xfrm>
          <a:prstGeom prst="rect">
            <a:avLst/>
          </a:prstGeom>
        </p:spPr>
      </p:pic>
      <p:sp>
        <p:nvSpPr>
          <p:cNvPr id="104" name="Objective tile"/>
          <p:cNvSpPr/>
          <p:nvPr/>
        </p:nvSpPr>
        <p:spPr>
          <a:xfrm>
            <a:off x="900541" y="3800000"/>
            <a:ext cx="3057936" cy="53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05" name="glasses" descr="glas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509" y="4250000"/>
            <a:ext cx="1600000" cy="1600000"/>
          </a:xfrm>
          <a:prstGeom prst="rect">
            <a:avLst/>
          </a:prstGeom>
        </p:spPr>
      </p:pic>
      <p:sp>
        <p:nvSpPr>
          <p:cNvPr id="106" name="Objective text"/>
          <p:cNvSpPr txBox="1"/>
          <p:nvPr/>
        </p:nvSpPr>
        <p:spPr>
          <a:xfrm>
            <a:off x="1050541" y="6150000"/>
            <a:ext cx="2757936" cy="2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 intervention</a:t>
            </a:r>
            <a:endParaRPr lang="en-US" sz="3000"/>
          </a:p>
          <a:p>
            <a:pPr algn="ctr">
              <a:spcAft>
                <a:spcPts val="0"/>
              </a:spcAft>
              <a:buNone/>
            </a:pPr>
            <a:r>
              <a:rPr lang="en-US" sz="24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Just-in-time · EEG vs. timer</a:t>
            </a:r>
            <a:endParaRPr lang="en-US" sz="2400"/>
          </a:p>
        </p:txBody>
      </p:sp>
      <p:sp>
        <p:nvSpPr>
          <p:cNvPr id="107" name="Objective tile"/>
          <p:cNvSpPr/>
          <p:nvPr/>
        </p:nvSpPr>
        <p:spPr>
          <a:xfrm>
            <a:off x="4258477" y="3800000"/>
            <a:ext cx="3057936" cy="53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08" name="pulse" descr="pul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445" y="4250000"/>
            <a:ext cx="1600000" cy="1600000"/>
          </a:xfrm>
          <a:prstGeom prst="rect">
            <a:avLst/>
          </a:prstGeom>
        </p:spPr>
      </p:pic>
      <p:sp>
        <p:nvSpPr>
          <p:cNvPr id="109" name="Objective text"/>
          <p:cNvSpPr txBox="1"/>
          <p:nvPr/>
        </p:nvSpPr>
        <p:spPr>
          <a:xfrm>
            <a:off x="4408477" y="6150000"/>
            <a:ext cx="2757936" cy="2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 validation</a:t>
            </a:r>
            <a:endParaRPr lang="en-US" sz="3000"/>
          </a:p>
          <a:p>
            <a:pPr algn="ctr">
              <a:spcAft>
                <a:spcPts val="0"/>
              </a:spcAft>
              <a:buNone/>
            </a:pPr>
            <a:r>
              <a:rPr lang="en-US" sz="24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3 public datasets</a:t>
            </a:r>
            <a:endParaRPr lang="en-US" sz="2400"/>
          </a:p>
        </p:txBody>
      </p:sp>
      <p:sp>
        <p:nvSpPr>
          <p:cNvPr id="110" name="Objective tile"/>
          <p:cNvSpPr/>
          <p:nvPr/>
        </p:nvSpPr>
        <p:spPr>
          <a:xfrm>
            <a:off x="7616413" y="3800000"/>
            <a:ext cx="3057936" cy="53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1" name="checklist" descr="checkli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381" y="4250000"/>
            <a:ext cx="1600000" cy="1600000"/>
          </a:xfrm>
          <a:prstGeom prst="rect">
            <a:avLst/>
          </a:prstGeom>
        </p:spPr>
      </p:pic>
      <p:sp>
        <p:nvSpPr>
          <p:cNvPr id="112" name="Objective text"/>
          <p:cNvSpPr txBox="1"/>
          <p:nvPr/>
        </p:nvSpPr>
        <p:spPr>
          <a:xfrm>
            <a:off x="7766413" y="6150000"/>
            <a:ext cx="2757936" cy="2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Own protocol</a:t>
            </a:r>
            <a:endParaRPr lang="en-US" sz="3000"/>
          </a:p>
          <a:p>
            <a:pPr algn="ctr">
              <a:spcAft>
                <a:spcPts val="0"/>
              </a:spcAft>
              <a:buNone/>
            </a:pPr>
            <a:r>
              <a:rPr lang="en-US" sz="24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Scrolling vs. documentary + Go/NoGo</a:t>
            </a:r>
            <a:endParaRPr lang="en-US" sz="2400"/>
          </a:p>
        </p:txBody>
      </p:sp>
      <p:sp>
        <p:nvSpPr>
          <p:cNvPr id="113" name="Objective tile"/>
          <p:cNvSpPr/>
          <p:nvPr/>
        </p:nvSpPr>
        <p:spPr>
          <a:xfrm>
            <a:off x="10974349" y="3800000"/>
            <a:ext cx="3057936" cy="53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4" name="stream" descr="stre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3317" y="4250000"/>
            <a:ext cx="1600000" cy="1600000"/>
          </a:xfrm>
          <a:prstGeom prst="rect">
            <a:avLst/>
          </a:prstGeom>
        </p:spPr>
      </p:pic>
      <p:sp>
        <p:nvSpPr>
          <p:cNvPr id="115" name="Objective text"/>
          <p:cNvSpPr txBox="1"/>
          <p:nvPr/>
        </p:nvSpPr>
        <p:spPr>
          <a:xfrm>
            <a:off x="11124349" y="6150000"/>
            <a:ext cx="2757936" cy="2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pipeline</a:t>
            </a:r>
            <a:endParaRPr lang="en-US" sz="3000"/>
          </a:p>
          <a:p>
            <a:pPr algn="ctr">
              <a:spcAft>
                <a:spcPts val="0"/>
              </a:spcAft>
              <a:buNone/>
            </a:pPr>
            <a:r>
              <a:rPr lang="en-US" sz="24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LSL · features · individual model</a:t>
            </a:r>
            <a:endParaRPr lang="en-US" sz="2400"/>
          </a:p>
        </p:txBody>
      </p:sp>
      <p:sp>
        <p:nvSpPr>
          <p:cNvPr id="116" name="Objective tile"/>
          <p:cNvSpPr/>
          <p:nvPr/>
        </p:nvSpPr>
        <p:spPr>
          <a:xfrm>
            <a:off x="14332285" y="3800000"/>
            <a:ext cx="3057936" cy="5300000"/>
          </a:xfrm>
          <a:prstGeom prst="roundRect">
            <a:avLst>
              <a:gd name="adj" fmla="val 8000"/>
            </a:avLst>
          </a:prstGeom>
          <a:solidFill>
            <a:srgbClr val="E3F4FA"/>
          </a:solidFill>
          <a:ln w="19050">
            <a:solidFill>
              <a:srgbClr val="A8DCEC"/>
            </a:solidFill>
          </a:ln>
        </p:spPr>
        <p:txBody>
          <a:bodyPr wrap="square" lIns="137160" tIns="91440" rIns="137160" bIns="91440" rtlCol="0" anchor="t">
            <a:noAutofit/>
          </a:bodyPr>
          <a:lstStyle/>
          <a:p>
            <a:endParaRPr lang="en-US"/>
          </a:p>
        </p:txBody>
      </p:sp>
      <p:pic>
        <p:nvPicPr>
          <p:cNvPr id="117" name="save" descr="sav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61253" y="4250000"/>
            <a:ext cx="1600000" cy="1600000"/>
          </a:xfrm>
          <a:prstGeom prst="rect">
            <a:avLst/>
          </a:prstGeom>
        </p:spPr>
      </p:pic>
      <p:sp>
        <p:nvSpPr>
          <p:cNvPr id="118" name="Objective text"/>
          <p:cNvSpPr txBox="1"/>
          <p:nvPr/>
        </p:nvSpPr>
        <p:spPr>
          <a:xfrm>
            <a:off x="14482285" y="6150000"/>
            <a:ext cx="2757936" cy="2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900"/>
              </a:spcAft>
              <a:buNone/>
            </a:pPr>
            <a:r>
              <a:rPr lang="en-US" sz="3000" b="1" dirty="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&amp; docs</a:t>
            </a:r>
            <a:endParaRPr lang="en-US" sz="3000"/>
          </a:p>
          <a:p>
            <a:pPr algn="ctr">
              <a:spcAft>
                <a:spcPts val="0"/>
              </a:spcAft>
              <a:buNone/>
            </a:pPr>
            <a:r>
              <a:rPr lang="en-US" sz="2400" dirty="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BIDS telemetry · standards</a:t>
            </a:r>
            <a:endParaRPr 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0541" y="3092329"/>
            <a:ext cx="3031369" cy="4148052"/>
            <a:chOff x="0" y="0"/>
            <a:chExt cx="4041826" cy="5530736"/>
          </a:xfrm>
        </p:grpSpPr>
        <p:sp>
          <p:nvSpPr>
            <p:cNvPr id="3" name="Freeform 3" descr="image.jpg"/>
            <p:cNvSpPr/>
            <p:nvPr/>
          </p:nvSpPr>
          <p:spPr>
            <a:xfrm>
              <a:off x="0" y="0"/>
              <a:ext cx="4041775" cy="5530723"/>
            </a:xfrm>
            <a:custGeom>
              <a:avLst/>
              <a:gdLst/>
              <a:ahLst/>
              <a:cxnLst/>
              <a:rect l="l" t="t" r="r" b="b"/>
              <a:pathLst>
                <a:path w="4041775" h="5530723">
                  <a:moveTo>
                    <a:pt x="0" y="0"/>
                  </a:moveTo>
                  <a:lnTo>
                    <a:pt x="4041775" y="0"/>
                  </a:lnTo>
                  <a:lnTo>
                    <a:pt x="4041775" y="5530723"/>
                  </a:lnTo>
                  <a:lnTo>
                    <a:pt x="0" y="553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" r="-1" b="-25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268581" y="3096492"/>
            <a:ext cx="3023054" cy="4139736"/>
            <a:chOff x="0" y="0"/>
            <a:chExt cx="4030739" cy="55196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30726" cy="5519547"/>
            </a:xfrm>
            <a:custGeom>
              <a:avLst/>
              <a:gdLst/>
              <a:ahLst/>
              <a:cxnLst/>
              <a:rect l="l" t="t" r="r" b="b"/>
              <a:pathLst>
                <a:path w="4030726" h="5519547">
                  <a:moveTo>
                    <a:pt x="0" y="297942"/>
                  </a:moveTo>
                  <a:cubicBezTo>
                    <a:pt x="0" y="133477"/>
                    <a:pt x="133477" y="0"/>
                    <a:pt x="297942" y="0"/>
                  </a:cubicBezTo>
                  <a:lnTo>
                    <a:pt x="3732784" y="0"/>
                  </a:lnTo>
                  <a:cubicBezTo>
                    <a:pt x="3897376" y="0"/>
                    <a:pt x="4030726" y="133477"/>
                    <a:pt x="4030726" y="297942"/>
                  </a:cubicBezTo>
                  <a:lnTo>
                    <a:pt x="4030726" y="5221605"/>
                  </a:lnTo>
                  <a:cubicBezTo>
                    <a:pt x="4030726" y="5386197"/>
                    <a:pt x="3897249" y="5519547"/>
                    <a:pt x="3732784" y="5519547"/>
                  </a:cubicBezTo>
                  <a:lnTo>
                    <a:pt x="297942" y="5519547"/>
                  </a:lnTo>
                  <a:cubicBezTo>
                    <a:pt x="133477" y="5519674"/>
                    <a:pt x="0" y="5386197"/>
                    <a:pt x="0" y="5221605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268581" y="3096492"/>
            <a:ext cx="3023054" cy="4139736"/>
            <a:chOff x="0" y="0"/>
            <a:chExt cx="4030739" cy="55196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30726" cy="5519547"/>
            </a:xfrm>
            <a:custGeom>
              <a:avLst/>
              <a:gdLst/>
              <a:ahLst/>
              <a:cxnLst/>
              <a:rect l="l" t="t" r="r" b="b"/>
              <a:pathLst>
                <a:path w="4030726" h="5519547">
                  <a:moveTo>
                    <a:pt x="0" y="297942"/>
                  </a:moveTo>
                  <a:cubicBezTo>
                    <a:pt x="0" y="133477"/>
                    <a:pt x="133477" y="0"/>
                    <a:pt x="297942" y="0"/>
                  </a:cubicBezTo>
                  <a:lnTo>
                    <a:pt x="3732784" y="0"/>
                  </a:lnTo>
                  <a:cubicBezTo>
                    <a:pt x="3897376" y="0"/>
                    <a:pt x="4030726" y="133477"/>
                    <a:pt x="4030726" y="297942"/>
                  </a:cubicBezTo>
                  <a:lnTo>
                    <a:pt x="4030726" y="5221605"/>
                  </a:lnTo>
                  <a:cubicBezTo>
                    <a:pt x="4030726" y="5386197"/>
                    <a:pt x="3897249" y="5519547"/>
                    <a:pt x="3732784" y="5519547"/>
                  </a:cubicBezTo>
                  <a:lnTo>
                    <a:pt x="297942" y="5519547"/>
                  </a:lnTo>
                  <a:cubicBezTo>
                    <a:pt x="133477" y="5519674"/>
                    <a:pt x="0" y="5386197"/>
                    <a:pt x="0" y="5221605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33849" y="3092329"/>
            <a:ext cx="3023064" cy="4148052"/>
            <a:chOff x="0" y="0"/>
            <a:chExt cx="4030751" cy="5530736"/>
          </a:xfrm>
        </p:grpSpPr>
        <p:sp>
          <p:nvSpPr>
            <p:cNvPr id="9" name="Freeform 9" descr="image.jpg"/>
            <p:cNvSpPr/>
            <p:nvPr/>
          </p:nvSpPr>
          <p:spPr>
            <a:xfrm>
              <a:off x="0" y="0"/>
              <a:ext cx="4030726" cy="5530723"/>
            </a:xfrm>
            <a:custGeom>
              <a:avLst/>
              <a:gdLst/>
              <a:ahLst/>
              <a:cxnLst/>
              <a:rect l="l" t="t" r="r" b="b"/>
              <a:pathLst>
                <a:path w="4030726" h="5530723">
                  <a:moveTo>
                    <a:pt x="0" y="0"/>
                  </a:moveTo>
                  <a:lnTo>
                    <a:pt x="4030726" y="0"/>
                  </a:lnTo>
                  <a:lnTo>
                    <a:pt x="4030726" y="5530723"/>
                  </a:lnTo>
                  <a:lnTo>
                    <a:pt x="0" y="553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" b="-13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997736" y="3092329"/>
            <a:ext cx="3028598" cy="4148052"/>
            <a:chOff x="0" y="0"/>
            <a:chExt cx="4038130" cy="5530736"/>
          </a:xfrm>
        </p:grpSpPr>
        <p:sp>
          <p:nvSpPr>
            <p:cNvPr id="11" name="Freeform 11" descr="image.jpg"/>
            <p:cNvSpPr/>
            <p:nvPr/>
          </p:nvSpPr>
          <p:spPr>
            <a:xfrm>
              <a:off x="0" y="0"/>
              <a:ext cx="4038092" cy="5530723"/>
            </a:xfrm>
            <a:custGeom>
              <a:avLst/>
              <a:gdLst/>
              <a:ahLst/>
              <a:cxnLst/>
              <a:rect l="l" t="t" r="r" b="b"/>
              <a:pathLst>
                <a:path w="4038092" h="5530723">
                  <a:moveTo>
                    <a:pt x="0" y="0"/>
                  </a:moveTo>
                  <a:lnTo>
                    <a:pt x="4038092" y="0"/>
                  </a:lnTo>
                  <a:lnTo>
                    <a:pt x="4038092" y="5530723"/>
                  </a:lnTo>
                  <a:lnTo>
                    <a:pt x="0" y="553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" r="-2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58852" y="3092329"/>
            <a:ext cx="3031369" cy="4148052"/>
            <a:chOff x="0" y="0"/>
            <a:chExt cx="4041826" cy="5530736"/>
          </a:xfrm>
        </p:grpSpPr>
        <p:sp>
          <p:nvSpPr>
            <p:cNvPr id="13" name="Freeform 13" descr="image.jpg"/>
            <p:cNvSpPr/>
            <p:nvPr/>
          </p:nvSpPr>
          <p:spPr>
            <a:xfrm>
              <a:off x="0" y="0"/>
              <a:ext cx="4041775" cy="5530723"/>
            </a:xfrm>
            <a:custGeom>
              <a:avLst/>
              <a:gdLst/>
              <a:ahLst/>
              <a:cxnLst/>
              <a:rect l="l" t="t" r="r" b="b"/>
              <a:pathLst>
                <a:path w="4041775" h="5530723">
                  <a:moveTo>
                    <a:pt x="0" y="0"/>
                  </a:moveTo>
                  <a:lnTo>
                    <a:pt x="4041775" y="0"/>
                  </a:lnTo>
                  <a:lnTo>
                    <a:pt x="4041775" y="5530723"/>
                  </a:lnTo>
                  <a:lnTo>
                    <a:pt x="0" y="553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5" r="-1" b="-25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0541" y="7664329"/>
            <a:ext cx="16489680" cy="1587732"/>
            <a:chOff x="0" y="0"/>
            <a:chExt cx="21986240" cy="2116976"/>
          </a:xfrm>
        </p:grpSpPr>
        <p:sp>
          <p:nvSpPr>
            <p:cNvPr id="15" name="Freeform 15" descr="image.jpg"/>
            <p:cNvSpPr/>
            <p:nvPr/>
          </p:nvSpPr>
          <p:spPr>
            <a:xfrm>
              <a:off x="0" y="0"/>
              <a:ext cx="21986239" cy="2116963"/>
            </a:xfrm>
            <a:custGeom>
              <a:avLst/>
              <a:gdLst/>
              <a:ahLst/>
              <a:cxnLst/>
              <a:rect l="l" t="t" r="r" b="b"/>
              <a:pathLst>
                <a:path w="21986239" h="2116963">
                  <a:moveTo>
                    <a:pt x="0" y="0"/>
                  </a:moveTo>
                  <a:lnTo>
                    <a:pt x="21986239" y="0"/>
                  </a:lnTo>
                  <a:lnTo>
                    <a:pt x="21986239" y="2116963"/>
                  </a:lnTo>
                  <a:lnTo>
                    <a:pt x="0" y="2116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" r="-2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67692" y="7851372"/>
            <a:ext cx="1213656" cy="1213656"/>
            <a:chOff x="0" y="0"/>
            <a:chExt cx="1618209" cy="16182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18234" cy="1618234"/>
            </a:xfrm>
            <a:custGeom>
              <a:avLst/>
              <a:gdLst/>
              <a:ahLst/>
              <a:cxnLst/>
              <a:rect l="l" t="t" r="r" b="b"/>
              <a:pathLst>
                <a:path w="1618234" h="1618234">
                  <a:moveTo>
                    <a:pt x="0" y="809117"/>
                  </a:moveTo>
                  <a:cubicBezTo>
                    <a:pt x="0" y="362204"/>
                    <a:pt x="362204" y="0"/>
                    <a:pt x="809117" y="0"/>
                  </a:cubicBezTo>
                  <a:cubicBezTo>
                    <a:pt x="1256030" y="0"/>
                    <a:pt x="1618234" y="362204"/>
                    <a:pt x="1618234" y="809117"/>
                  </a:cubicBezTo>
                  <a:cubicBezTo>
                    <a:pt x="1618234" y="1256030"/>
                    <a:pt x="1256030" y="1618234"/>
                    <a:pt x="809117" y="1618234"/>
                  </a:cubicBezTo>
                  <a:cubicBezTo>
                    <a:pt x="362204" y="1618234"/>
                    <a:pt x="0" y="1255903"/>
                    <a:pt x="0" y="80911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57252" y="8140932"/>
            <a:ext cx="634536" cy="634536"/>
            <a:chOff x="0" y="0"/>
            <a:chExt cx="846049" cy="846049"/>
          </a:xfrm>
        </p:grpSpPr>
        <p:sp>
          <p:nvSpPr>
            <p:cNvPr id="19" name="Freeform 19" descr="image.jpg"/>
            <p:cNvSpPr/>
            <p:nvPr/>
          </p:nvSpPr>
          <p:spPr>
            <a:xfrm>
              <a:off x="0" y="0"/>
              <a:ext cx="846074" cy="846074"/>
            </a:xfrm>
            <a:custGeom>
              <a:avLst/>
              <a:gdLst/>
              <a:ahLst/>
              <a:cxnLst/>
              <a:rect l="l" t="t" r="r" b="b"/>
              <a:pathLst>
                <a:path w="846074" h="846074">
                  <a:moveTo>
                    <a:pt x="0" y="0"/>
                  </a:moveTo>
                  <a:lnTo>
                    <a:pt x="846074" y="0"/>
                  </a:lnTo>
                  <a:lnTo>
                    <a:pt x="846074" y="846074"/>
                  </a:lnTo>
                  <a:lnTo>
                    <a:pt x="0" y="846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05313" y="138541"/>
            <a:ext cx="1299553" cy="1299553"/>
            <a:chOff x="0" y="0"/>
            <a:chExt cx="1732737" cy="1732737"/>
          </a:xfrm>
        </p:grpSpPr>
        <p:sp>
          <p:nvSpPr>
            <p:cNvPr id="21" name="Freeform 21" descr="image.jpg"/>
            <p:cNvSpPr/>
            <p:nvPr/>
          </p:nvSpPr>
          <p:spPr>
            <a:xfrm>
              <a:off x="0" y="0"/>
              <a:ext cx="1732788" cy="1732788"/>
            </a:xfrm>
            <a:custGeom>
              <a:avLst/>
              <a:gdLst/>
              <a:ahLst/>
              <a:cxnLst/>
              <a:rect l="l" t="t" r="r" b="b"/>
              <a:pathLst>
                <a:path w="1732788" h="1732788">
                  <a:moveTo>
                    <a:pt x="0" y="0"/>
                  </a:moveTo>
                  <a:lnTo>
                    <a:pt x="1732788" y="0"/>
                  </a:lnTo>
                  <a:lnTo>
                    <a:pt x="1732788" y="1732788"/>
                  </a:lnTo>
                  <a:lnTo>
                    <a:pt x="0" y="1732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" b="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17324" y="781926"/>
            <a:ext cx="4940027" cy="961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The Problem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7067" y="1939595"/>
            <a:ext cx="12613529" cy="56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Dopamine scrolling affects every generation, and hits the youngest hardest.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91492" y="3323758"/>
            <a:ext cx="1555185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Teenagers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1454" y="3845100"/>
            <a:ext cx="1396165" cy="1258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13–17 y/o</a:t>
            </a:r>
          </a:p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21%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1492" y="5612378"/>
            <a:ext cx="2480662" cy="111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severe social media  and short-form  video addiction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5369" y="3323758"/>
            <a:ext cx="1992211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Generation Z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5331" y="4379690"/>
            <a:ext cx="1396098" cy="72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53%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5436" y="5612378"/>
            <a:ext cx="2583513" cy="111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acute dependency  or incapacity to stop  scrolling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22028" y="3323758"/>
            <a:ext cx="1702051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Millennials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22133" y="4379690"/>
            <a:ext cx="1396098" cy="72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46%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22085" y="5612378"/>
            <a:ext cx="2401329" cy="111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chronic attentional  dysregulation,  compulsive use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85934" y="3323758"/>
            <a:ext cx="2018005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Generation X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85944" y="4379690"/>
            <a:ext cx="2430466" cy="72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27–33%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86049" y="5612378"/>
            <a:ext cx="1696069" cy="1462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compulsive  consumption  hurting daily  productivity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652584" y="3323758"/>
            <a:ext cx="2214305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Baby Boomers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652441" y="4379690"/>
            <a:ext cx="1759363" cy="72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&lt;15%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652708" y="5612378"/>
            <a:ext cx="2418959" cy="111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hooked into  dopamine loops by  short videos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837412" y="7970577"/>
            <a:ext cx="13216995" cy="916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Negative outcomes: </a:t>
            </a: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mental distraction, degraded social interaction, sleep disruption, and  increased risk of anxiety and depression.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060513" y="9561557"/>
            <a:ext cx="199549" cy="34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7324" y="9480661"/>
            <a:ext cx="11796739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1">
                <a:solidFill>
                  <a:srgbClr val="7F7F7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Nguyen, L., et al. (2025). Feeds, feelings, and focus: A systematic review and meta-analysis examining the cognitive and mental health correlates of short-form video use.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0541" y="900541"/>
            <a:ext cx="8077200" cy="4220089"/>
            <a:chOff x="0" y="0"/>
            <a:chExt cx="10769600" cy="5626786"/>
          </a:xfrm>
        </p:grpSpPr>
        <p:sp>
          <p:nvSpPr>
            <p:cNvPr id="3" name="Freeform 3" descr="image.jpg"/>
            <p:cNvSpPr/>
            <p:nvPr/>
          </p:nvSpPr>
          <p:spPr>
            <a:xfrm>
              <a:off x="0" y="0"/>
              <a:ext cx="10769600" cy="5626735"/>
            </a:xfrm>
            <a:custGeom>
              <a:avLst/>
              <a:gdLst/>
              <a:ahLst/>
              <a:cxnLst/>
              <a:rect l="l" t="t" r="r" b="b"/>
              <a:pathLst>
                <a:path w="10769600" h="5626735">
                  <a:moveTo>
                    <a:pt x="0" y="0"/>
                  </a:moveTo>
                  <a:lnTo>
                    <a:pt x="10769600" y="0"/>
                  </a:lnTo>
                  <a:lnTo>
                    <a:pt x="10769600" y="5626735"/>
                  </a:lnTo>
                  <a:lnTo>
                    <a:pt x="0" y="562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2" b="-4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0541" y="5120640"/>
            <a:ext cx="8077200" cy="4220089"/>
            <a:chOff x="0" y="0"/>
            <a:chExt cx="10769600" cy="5626786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769600" cy="5626735"/>
            </a:xfrm>
            <a:custGeom>
              <a:avLst/>
              <a:gdLst/>
              <a:ahLst/>
              <a:cxnLst/>
              <a:rect l="l" t="t" r="r" b="b"/>
              <a:pathLst>
                <a:path w="10769600" h="5626735">
                  <a:moveTo>
                    <a:pt x="0" y="0"/>
                  </a:moveTo>
                  <a:lnTo>
                    <a:pt x="10769600" y="0"/>
                  </a:lnTo>
                  <a:lnTo>
                    <a:pt x="10769600" y="5626735"/>
                  </a:lnTo>
                  <a:lnTo>
                    <a:pt x="0" y="562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r="-46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0572" y="1359132"/>
            <a:ext cx="1396536" cy="1396536"/>
            <a:chOff x="0" y="0"/>
            <a:chExt cx="1862049" cy="1862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62074" cy="1862074"/>
            </a:xfrm>
            <a:custGeom>
              <a:avLst/>
              <a:gdLst/>
              <a:ahLst/>
              <a:cxnLst/>
              <a:rect l="l" t="t" r="r" b="b"/>
              <a:pathLst>
                <a:path w="1862074" h="1862074">
                  <a:moveTo>
                    <a:pt x="0" y="931037"/>
                  </a:moveTo>
                  <a:cubicBezTo>
                    <a:pt x="0" y="416814"/>
                    <a:pt x="416814" y="0"/>
                    <a:pt x="931037" y="0"/>
                  </a:cubicBezTo>
                  <a:cubicBezTo>
                    <a:pt x="1445260" y="0"/>
                    <a:pt x="1862074" y="416814"/>
                    <a:pt x="1862074" y="931037"/>
                  </a:cubicBezTo>
                  <a:cubicBezTo>
                    <a:pt x="1862074" y="1445260"/>
                    <a:pt x="1445260" y="1862074"/>
                    <a:pt x="931037" y="1862074"/>
                  </a:cubicBezTo>
                  <a:cubicBezTo>
                    <a:pt x="416814" y="1862074"/>
                    <a:pt x="0" y="1445260"/>
                    <a:pt x="0" y="93103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84461" y="1693031"/>
            <a:ext cx="734292" cy="734292"/>
            <a:chOff x="0" y="0"/>
            <a:chExt cx="979056" cy="979056"/>
          </a:xfrm>
        </p:grpSpPr>
        <p:sp>
          <p:nvSpPr>
            <p:cNvPr id="9" name="Freeform 9" descr="image.jpg"/>
            <p:cNvSpPr/>
            <p:nvPr/>
          </p:nvSpPr>
          <p:spPr>
            <a:xfrm>
              <a:off x="0" y="0"/>
              <a:ext cx="979043" cy="979043"/>
            </a:xfrm>
            <a:custGeom>
              <a:avLst/>
              <a:gdLst/>
              <a:ahLst/>
              <a:cxnLst/>
              <a:rect l="l" t="t" r="r" b="b"/>
              <a:pathLst>
                <a:path w="979043" h="979043">
                  <a:moveTo>
                    <a:pt x="0" y="0"/>
                  </a:moveTo>
                  <a:lnTo>
                    <a:pt x="979043" y="0"/>
                  </a:lnTo>
                  <a:lnTo>
                    <a:pt x="979043" y="979043"/>
                  </a:lnTo>
                  <a:lnTo>
                    <a:pt x="0" y="979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10249" y="922715"/>
            <a:ext cx="8079972" cy="4222861"/>
            <a:chOff x="0" y="0"/>
            <a:chExt cx="10773296" cy="5630482"/>
          </a:xfrm>
        </p:grpSpPr>
        <p:sp>
          <p:nvSpPr>
            <p:cNvPr id="11" name="Freeform 11" descr="image.jpg"/>
            <p:cNvSpPr/>
            <p:nvPr/>
          </p:nvSpPr>
          <p:spPr>
            <a:xfrm>
              <a:off x="0" y="0"/>
              <a:ext cx="10773283" cy="5630545"/>
            </a:xfrm>
            <a:custGeom>
              <a:avLst/>
              <a:gdLst/>
              <a:ahLst/>
              <a:cxnLst/>
              <a:rect l="l" t="t" r="r" b="b"/>
              <a:pathLst>
                <a:path w="10773283" h="5630545">
                  <a:moveTo>
                    <a:pt x="0" y="0"/>
                  </a:moveTo>
                  <a:lnTo>
                    <a:pt x="10773283" y="0"/>
                  </a:lnTo>
                  <a:lnTo>
                    <a:pt x="10773283" y="5630545"/>
                  </a:lnTo>
                  <a:lnTo>
                    <a:pt x="0" y="5630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7" b="-26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10249" y="5145576"/>
            <a:ext cx="8079972" cy="4220089"/>
            <a:chOff x="0" y="0"/>
            <a:chExt cx="10773296" cy="5626786"/>
          </a:xfrm>
        </p:grpSpPr>
        <p:sp>
          <p:nvSpPr>
            <p:cNvPr id="13" name="Freeform 13" descr="image.jpg"/>
            <p:cNvSpPr/>
            <p:nvPr/>
          </p:nvSpPr>
          <p:spPr>
            <a:xfrm>
              <a:off x="0" y="0"/>
              <a:ext cx="10773283" cy="5626735"/>
            </a:xfrm>
            <a:custGeom>
              <a:avLst/>
              <a:gdLst/>
              <a:ahLst/>
              <a:cxnLst/>
              <a:rect l="l" t="t" r="r" b="b"/>
              <a:pathLst>
                <a:path w="10773283" h="5626735">
                  <a:moveTo>
                    <a:pt x="0" y="0"/>
                  </a:moveTo>
                  <a:lnTo>
                    <a:pt x="10773283" y="0"/>
                  </a:lnTo>
                  <a:lnTo>
                    <a:pt x="10773283" y="5626735"/>
                  </a:lnTo>
                  <a:lnTo>
                    <a:pt x="0" y="5626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" r="-2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63052" y="1359132"/>
            <a:ext cx="1396536" cy="1396536"/>
            <a:chOff x="0" y="0"/>
            <a:chExt cx="1862049" cy="186204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62074" cy="1862074"/>
            </a:xfrm>
            <a:custGeom>
              <a:avLst/>
              <a:gdLst/>
              <a:ahLst/>
              <a:cxnLst/>
              <a:rect l="l" t="t" r="r" b="b"/>
              <a:pathLst>
                <a:path w="1862074" h="1862074">
                  <a:moveTo>
                    <a:pt x="0" y="931037"/>
                  </a:moveTo>
                  <a:cubicBezTo>
                    <a:pt x="0" y="416814"/>
                    <a:pt x="416814" y="0"/>
                    <a:pt x="931037" y="0"/>
                  </a:cubicBezTo>
                  <a:cubicBezTo>
                    <a:pt x="1445260" y="0"/>
                    <a:pt x="1862074" y="416814"/>
                    <a:pt x="1862074" y="931037"/>
                  </a:cubicBezTo>
                  <a:cubicBezTo>
                    <a:pt x="1862074" y="1445260"/>
                    <a:pt x="1445260" y="1862074"/>
                    <a:pt x="931037" y="1862074"/>
                  </a:cubicBezTo>
                  <a:cubicBezTo>
                    <a:pt x="416814" y="1862074"/>
                    <a:pt x="0" y="1445260"/>
                    <a:pt x="0" y="93103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196941" y="1693031"/>
            <a:ext cx="731520" cy="734292"/>
            <a:chOff x="0" y="0"/>
            <a:chExt cx="975360" cy="979056"/>
          </a:xfrm>
        </p:grpSpPr>
        <p:sp>
          <p:nvSpPr>
            <p:cNvPr id="17" name="Freeform 17" descr="image.jpg"/>
            <p:cNvSpPr/>
            <p:nvPr/>
          </p:nvSpPr>
          <p:spPr>
            <a:xfrm>
              <a:off x="0" y="0"/>
              <a:ext cx="975360" cy="979043"/>
            </a:xfrm>
            <a:custGeom>
              <a:avLst/>
              <a:gdLst/>
              <a:ahLst/>
              <a:cxnLst/>
              <a:rect l="l" t="t" r="r" b="b"/>
              <a:pathLst>
                <a:path w="975360" h="979043">
                  <a:moveTo>
                    <a:pt x="0" y="0"/>
                  </a:moveTo>
                  <a:lnTo>
                    <a:pt x="975360" y="0"/>
                  </a:lnTo>
                  <a:lnTo>
                    <a:pt x="975360" y="979043"/>
                  </a:lnTo>
                  <a:lnTo>
                    <a:pt x="0" y="979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0" r="-188" b="-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276616" y="138541"/>
            <a:ext cx="928249" cy="928249"/>
            <a:chOff x="0" y="0"/>
            <a:chExt cx="1237666" cy="1237666"/>
          </a:xfrm>
        </p:grpSpPr>
        <p:sp>
          <p:nvSpPr>
            <p:cNvPr id="19" name="Freeform 19" descr="image.jpg"/>
            <p:cNvSpPr/>
            <p:nvPr/>
          </p:nvSpPr>
          <p:spPr>
            <a:xfrm>
              <a:off x="0" y="0"/>
              <a:ext cx="1237615" cy="1237615"/>
            </a:xfrm>
            <a:custGeom>
              <a:avLst/>
              <a:gdLst/>
              <a:ahLst/>
              <a:cxnLst/>
              <a:rect l="l" t="t" r="r" b="b"/>
              <a:pathLst>
                <a:path w="1237615" h="1237615">
                  <a:moveTo>
                    <a:pt x="0" y="0"/>
                  </a:moveTo>
                  <a:lnTo>
                    <a:pt x="1237615" y="0"/>
                  </a:lnTo>
                  <a:lnTo>
                    <a:pt x="1237615" y="1237615"/>
                  </a:lnTo>
                  <a:lnTo>
                    <a:pt x="0" y="123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4" b="-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203038" y="1649959"/>
            <a:ext cx="3013310" cy="78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Rationale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49359" y="3129286"/>
            <a:ext cx="6595586" cy="51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352" lvl="1" indent="-264676" algn="l">
              <a:lnSpc>
                <a:spcPts val="3510"/>
              </a:lnSpc>
              <a:buFont typeface="Arial"/>
              <a:buChar char="•"/>
            </a:pPr>
            <a:r>
              <a:rPr lang="en-US" sz="29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Digital interfaces exploit variable reward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20504" y="3572485"/>
            <a:ext cx="5851274" cy="51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schedules and infinite scroll to hijack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20504" y="4013178"/>
            <a:ext cx="6127232" cy="51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dopaminergic pathways, the result is a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20504" y="4456557"/>
            <a:ext cx="6257544" cy="51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passive, hypnotic state with diminished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20504" y="4897069"/>
            <a:ext cx="4293670" cy="51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prefrontal cortex oversight.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42434" y="5554342"/>
            <a:ext cx="5881821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779" lvl="1" indent="-257889" algn="l">
              <a:lnSpc>
                <a:spcPts val="3419"/>
              </a:lnSpc>
              <a:buFont typeface="Arial"/>
              <a:buChar char="•"/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The constant media multitasking and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20485" y="5981062"/>
            <a:ext cx="6338478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immediate gratification of entertainment-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20485" y="6407782"/>
            <a:ext cx="5888460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seeking may influence user’s cognitive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20485" y="6834502"/>
            <a:ext cx="3083624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 of attention.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15547" y="1649959"/>
            <a:ext cx="5316579" cy="78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sz="51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Market Overview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54923" y="3140878"/>
            <a:ext cx="6549476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779" lvl="1" indent="-257889" algn="l">
              <a:lnSpc>
                <a:spcPts val="3419"/>
              </a:lnSpc>
              <a:buFont typeface="Arial"/>
              <a:buChar char="•"/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The global digital mental health market is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32965" y="3567598"/>
            <a:ext cx="6706972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projected to reach </a:t>
            </a:r>
            <a:r>
              <a:rPr lang="en-US" sz="28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$45 billion USD </a:t>
            </a: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by 2030,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54923" y="4196591"/>
            <a:ext cx="5811745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5779" lvl="1" indent="-257889" algn="l">
              <a:lnSpc>
                <a:spcPts val="3419"/>
              </a:lnSpc>
              <a:buFont typeface="Arial"/>
              <a:buChar char="•"/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This demand is further supported by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32965" y="4623311"/>
            <a:ext cx="6607007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behavioral data showing that </a:t>
            </a:r>
            <a:r>
              <a:rPr lang="en-US" sz="28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83% of Gen Z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32965" y="5050031"/>
            <a:ext cx="6117165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users acknowledge having an unhealthy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32965" y="5476751"/>
            <a:ext cx="6618818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relationship with their smartphones due to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32965" y="5903471"/>
            <a:ext cx="6849723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compulsive short-form content consumption.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65812" y="8516826"/>
            <a:ext cx="7009733" cy="65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1">
                <a:solidFill>
                  <a:srgbClr val="7F7F7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Sources: Neural correlates of short-video application addiction and  adolescents’ executive functions (2024).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878320" y="8505777"/>
            <a:ext cx="6680168" cy="65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i="1">
                <a:solidFill>
                  <a:srgbClr val="7F7F7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Sources: Generation Z’s Smartphone and Social Media Usage: A  Survey. (2019)..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92696" y="939336"/>
            <a:ext cx="687181" cy="687181"/>
            <a:chOff x="0" y="0"/>
            <a:chExt cx="916242" cy="916242"/>
          </a:xfrm>
        </p:grpSpPr>
        <p:sp>
          <p:nvSpPr>
            <p:cNvPr id="3" name="Freeform 3" descr="image.jpg"/>
            <p:cNvSpPr/>
            <p:nvPr/>
          </p:nvSpPr>
          <p:spPr>
            <a:xfrm>
              <a:off x="0" y="0"/>
              <a:ext cx="916305" cy="916305"/>
            </a:xfrm>
            <a:custGeom>
              <a:avLst/>
              <a:gdLst/>
              <a:ahLst/>
              <a:cxnLst/>
              <a:rect l="l" t="t" r="r" b="b"/>
              <a:pathLst>
                <a:path w="916305" h="916305">
                  <a:moveTo>
                    <a:pt x="0" y="0"/>
                  </a:moveTo>
                  <a:lnTo>
                    <a:pt x="916305" y="0"/>
                  </a:lnTo>
                  <a:lnTo>
                    <a:pt x="916305" y="916305"/>
                  </a:lnTo>
                  <a:lnTo>
                    <a:pt x="0" y="916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6" b="6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0541" y="2358047"/>
            <a:ext cx="5153892" cy="5525186"/>
            <a:chOff x="0" y="0"/>
            <a:chExt cx="6871856" cy="7366914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6871843" cy="7366889"/>
            </a:xfrm>
            <a:custGeom>
              <a:avLst/>
              <a:gdLst/>
              <a:ahLst/>
              <a:cxnLst/>
              <a:rect l="l" t="t" r="r" b="b"/>
              <a:pathLst>
                <a:path w="6871843" h="7366889">
                  <a:moveTo>
                    <a:pt x="0" y="0"/>
                  </a:moveTo>
                  <a:lnTo>
                    <a:pt x="6871843" y="0"/>
                  </a:lnTo>
                  <a:lnTo>
                    <a:pt x="6871843" y="7366889"/>
                  </a:lnTo>
                  <a:lnTo>
                    <a:pt x="0" y="7366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r="-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59132" y="2730732"/>
            <a:ext cx="1579416" cy="1579416"/>
            <a:chOff x="0" y="0"/>
            <a:chExt cx="2105889" cy="21058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05914" cy="2105914"/>
            </a:xfrm>
            <a:custGeom>
              <a:avLst/>
              <a:gdLst/>
              <a:ahLst/>
              <a:cxnLst/>
              <a:rect l="l" t="t" r="r" b="b"/>
              <a:pathLst>
                <a:path w="2105914" h="2105914">
                  <a:moveTo>
                    <a:pt x="0" y="1052957"/>
                  </a:moveTo>
                  <a:cubicBezTo>
                    <a:pt x="0" y="471424"/>
                    <a:pt x="471424" y="0"/>
                    <a:pt x="1052957" y="0"/>
                  </a:cubicBezTo>
                  <a:cubicBezTo>
                    <a:pt x="1634490" y="0"/>
                    <a:pt x="2105914" y="471424"/>
                    <a:pt x="2105914" y="1052957"/>
                  </a:cubicBezTo>
                  <a:cubicBezTo>
                    <a:pt x="2105914" y="1634490"/>
                    <a:pt x="1634490" y="2105914"/>
                    <a:pt x="1052957" y="2105914"/>
                  </a:cubicBezTo>
                  <a:cubicBezTo>
                    <a:pt x="471424" y="2105914"/>
                    <a:pt x="0" y="1634490"/>
                    <a:pt x="0" y="105295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0132" y="3106188"/>
            <a:ext cx="822960" cy="831275"/>
            <a:chOff x="0" y="0"/>
            <a:chExt cx="1097280" cy="1108367"/>
          </a:xfrm>
        </p:grpSpPr>
        <p:sp>
          <p:nvSpPr>
            <p:cNvPr id="9" name="Freeform 9" descr="image.jpg"/>
            <p:cNvSpPr/>
            <p:nvPr/>
          </p:nvSpPr>
          <p:spPr>
            <a:xfrm>
              <a:off x="0" y="0"/>
              <a:ext cx="1097280" cy="1108329"/>
            </a:xfrm>
            <a:custGeom>
              <a:avLst/>
              <a:gdLst/>
              <a:ahLst/>
              <a:cxnLst/>
              <a:rect l="l" t="t" r="r" b="b"/>
              <a:pathLst>
                <a:path w="1097280" h="1108329">
                  <a:moveTo>
                    <a:pt x="0" y="0"/>
                  </a:moveTo>
                  <a:lnTo>
                    <a:pt x="1097280" y="0"/>
                  </a:lnTo>
                  <a:lnTo>
                    <a:pt x="1097280" y="1108329"/>
                  </a:lnTo>
                  <a:lnTo>
                    <a:pt x="0" y="1108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r="-45" b="-3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077988" y="4833852"/>
            <a:ext cx="465515" cy="573576"/>
          </a:xfrm>
          <a:custGeom>
            <a:avLst/>
            <a:gdLst/>
            <a:ahLst/>
            <a:cxnLst/>
            <a:rect l="l" t="t" r="r" b="b"/>
            <a:pathLst>
              <a:path w="465515" h="573576">
                <a:moveTo>
                  <a:pt x="0" y="0"/>
                </a:moveTo>
                <a:lnTo>
                  <a:pt x="465516" y="0"/>
                </a:lnTo>
                <a:lnTo>
                  <a:pt x="465516" y="573576"/>
                </a:lnTo>
                <a:lnTo>
                  <a:pt x="0" y="573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1" name="Group 11"/>
          <p:cNvGrpSpPr/>
          <p:nvPr/>
        </p:nvGrpSpPr>
        <p:grpSpPr>
          <a:xfrm>
            <a:off x="6567049" y="2358047"/>
            <a:ext cx="5153892" cy="5525186"/>
            <a:chOff x="0" y="0"/>
            <a:chExt cx="6871856" cy="7366914"/>
          </a:xfrm>
        </p:grpSpPr>
        <p:sp>
          <p:nvSpPr>
            <p:cNvPr id="12" name="Freeform 12" descr="image.jpg"/>
            <p:cNvSpPr/>
            <p:nvPr/>
          </p:nvSpPr>
          <p:spPr>
            <a:xfrm>
              <a:off x="0" y="0"/>
              <a:ext cx="6871843" cy="7366889"/>
            </a:xfrm>
            <a:custGeom>
              <a:avLst/>
              <a:gdLst/>
              <a:ahLst/>
              <a:cxnLst/>
              <a:rect l="l" t="t" r="r" b="b"/>
              <a:pathLst>
                <a:path w="6871843" h="7366889">
                  <a:moveTo>
                    <a:pt x="0" y="0"/>
                  </a:moveTo>
                  <a:lnTo>
                    <a:pt x="6871843" y="0"/>
                  </a:lnTo>
                  <a:lnTo>
                    <a:pt x="6871843" y="7366889"/>
                  </a:lnTo>
                  <a:lnTo>
                    <a:pt x="0" y="7366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" r="-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28412" y="2730732"/>
            <a:ext cx="1579416" cy="1579416"/>
            <a:chOff x="0" y="0"/>
            <a:chExt cx="2105889" cy="21058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05914" cy="2105914"/>
            </a:xfrm>
            <a:custGeom>
              <a:avLst/>
              <a:gdLst/>
              <a:ahLst/>
              <a:cxnLst/>
              <a:rect l="l" t="t" r="r" b="b"/>
              <a:pathLst>
                <a:path w="2105914" h="2105914">
                  <a:moveTo>
                    <a:pt x="0" y="1052957"/>
                  </a:moveTo>
                  <a:cubicBezTo>
                    <a:pt x="0" y="471424"/>
                    <a:pt x="471424" y="0"/>
                    <a:pt x="1052957" y="0"/>
                  </a:cubicBezTo>
                  <a:cubicBezTo>
                    <a:pt x="1634490" y="0"/>
                    <a:pt x="2105914" y="471424"/>
                    <a:pt x="2105914" y="1052957"/>
                  </a:cubicBezTo>
                  <a:cubicBezTo>
                    <a:pt x="2105914" y="1634490"/>
                    <a:pt x="1634490" y="2105914"/>
                    <a:pt x="1052957" y="2105914"/>
                  </a:cubicBezTo>
                  <a:cubicBezTo>
                    <a:pt x="471424" y="2105914"/>
                    <a:pt x="0" y="1634490"/>
                    <a:pt x="0" y="105295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406640" y="3106188"/>
            <a:ext cx="822960" cy="831275"/>
            <a:chOff x="0" y="0"/>
            <a:chExt cx="1097280" cy="1108367"/>
          </a:xfrm>
        </p:grpSpPr>
        <p:sp>
          <p:nvSpPr>
            <p:cNvPr id="16" name="Freeform 16" descr="image.jpg"/>
            <p:cNvSpPr/>
            <p:nvPr/>
          </p:nvSpPr>
          <p:spPr>
            <a:xfrm>
              <a:off x="0" y="0"/>
              <a:ext cx="1097280" cy="1108329"/>
            </a:xfrm>
            <a:custGeom>
              <a:avLst/>
              <a:gdLst/>
              <a:ahLst/>
              <a:cxnLst/>
              <a:rect l="l" t="t" r="r" b="b"/>
              <a:pathLst>
                <a:path w="1097280" h="1108329">
                  <a:moveTo>
                    <a:pt x="0" y="0"/>
                  </a:moveTo>
                  <a:lnTo>
                    <a:pt x="1097280" y="0"/>
                  </a:lnTo>
                  <a:lnTo>
                    <a:pt x="1097280" y="1108329"/>
                  </a:lnTo>
                  <a:lnTo>
                    <a:pt x="0" y="1108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6" r="-45" b="-3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1747268" y="4833852"/>
            <a:ext cx="465515" cy="573576"/>
          </a:xfrm>
          <a:custGeom>
            <a:avLst/>
            <a:gdLst/>
            <a:ahLst/>
            <a:cxnLst/>
            <a:rect l="l" t="t" r="r" b="b"/>
            <a:pathLst>
              <a:path w="465515" h="573576">
                <a:moveTo>
                  <a:pt x="0" y="0"/>
                </a:moveTo>
                <a:lnTo>
                  <a:pt x="465516" y="0"/>
                </a:lnTo>
                <a:lnTo>
                  <a:pt x="465516" y="573576"/>
                </a:lnTo>
                <a:lnTo>
                  <a:pt x="0" y="5735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8" name="Group 18"/>
          <p:cNvGrpSpPr/>
          <p:nvPr/>
        </p:nvGrpSpPr>
        <p:grpSpPr>
          <a:xfrm>
            <a:off x="12236329" y="2358047"/>
            <a:ext cx="5153892" cy="5525186"/>
            <a:chOff x="0" y="0"/>
            <a:chExt cx="6871856" cy="7366914"/>
          </a:xfrm>
        </p:grpSpPr>
        <p:sp>
          <p:nvSpPr>
            <p:cNvPr id="19" name="Freeform 19" descr="image.jpg"/>
            <p:cNvSpPr/>
            <p:nvPr/>
          </p:nvSpPr>
          <p:spPr>
            <a:xfrm>
              <a:off x="0" y="0"/>
              <a:ext cx="6871843" cy="7366889"/>
            </a:xfrm>
            <a:custGeom>
              <a:avLst/>
              <a:gdLst/>
              <a:ahLst/>
              <a:cxnLst/>
              <a:rect l="l" t="t" r="r" b="b"/>
              <a:pathLst>
                <a:path w="6871843" h="7366889">
                  <a:moveTo>
                    <a:pt x="0" y="0"/>
                  </a:moveTo>
                  <a:lnTo>
                    <a:pt x="6871843" y="0"/>
                  </a:lnTo>
                  <a:lnTo>
                    <a:pt x="6871843" y="7366889"/>
                  </a:lnTo>
                  <a:lnTo>
                    <a:pt x="0" y="7366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" r="-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697692" y="2730732"/>
            <a:ext cx="1579416" cy="1579416"/>
            <a:chOff x="0" y="0"/>
            <a:chExt cx="2105889" cy="210588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05914" cy="2105914"/>
            </a:xfrm>
            <a:custGeom>
              <a:avLst/>
              <a:gdLst/>
              <a:ahLst/>
              <a:cxnLst/>
              <a:rect l="l" t="t" r="r" b="b"/>
              <a:pathLst>
                <a:path w="2105914" h="2105914">
                  <a:moveTo>
                    <a:pt x="0" y="1052957"/>
                  </a:moveTo>
                  <a:cubicBezTo>
                    <a:pt x="0" y="471424"/>
                    <a:pt x="471424" y="0"/>
                    <a:pt x="1052957" y="0"/>
                  </a:cubicBezTo>
                  <a:cubicBezTo>
                    <a:pt x="1634490" y="0"/>
                    <a:pt x="2105914" y="471424"/>
                    <a:pt x="2105914" y="1052957"/>
                  </a:cubicBezTo>
                  <a:cubicBezTo>
                    <a:pt x="2105914" y="1634490"/>
                    <a:pt x="1634490" y="2105914"/>
                    <a:pt x="1052957" y="2105914"/>
                  </a:cubicBezTo>
                  <a:cubicBezTo>
                    <a:pt x="471424" y="2105914"/>
                    <a:pt x="0" y="1634490"/>
                    <a:pt x="0" y="105295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1932" y="8308572"/>
            <a:ext cx="16484136" cy="1030776"/>
            <a:chOff x="0" y="0"/>
            <a:chExt cx="21978849" cy="13743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78874" cy="1374394"/>
            </a:xfrm>
            <a:custGeom>
              <a:avLst/>
              <a:gdLst/>
              <a:ahLst/>
              <a:cxnLst/>
              <a:rect l="l" t="t" r="r" b="b"/>
              <a:pathLst>
                <a:path w="21978874" h="1374394">
                  <a:moveTo>
                    <a:pt x="0" y="302895"/>
                  </a:moveTo>
                  <a:cubicBezTo>
                    <a:pt x="0" y="135636"/>
                    <a:pt x="135636" y="0"/>
                    <a:pt x="302895" y="0"/>
                  </a:cubicBezTo>
                  <a:lnTo>
                    <a:pt x="21675979" y="0"/>
                  </a:lnTo>
                  <a:cubicBezTo>
                    <a:pt x="21843239" y="0"/>
                    <a:pt x="21978874" y="135636"/>
                    <a:pt x="21978874" y="302895"/>
                  </a:cubicBezTo>
                  <a:lnTo>
                    <a:pt x="21978874" y="1071499"/>
                  </a:lnTo>
                  <a:cubicBezTo>
                    <a:pt x="21978874" y="1238758"/>
                    <a:pt x="21843239" y="1374394"/>
                    <a:pt x="21675979" y="1374394"/>
                  </a:cubicBezTo>
                  <a:lnTo>
                    <a:pt x="302895" y="1374394"/>
                  </a:lnTo>
                  <a:cubicBezTo>
                    <a:pt x="135636" y="1374394"/>
                    <a:pt x="0" y="1238758"/>
                    <a:pt x="0" y="1071499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905313" y="138541"/>
            <a:ext cx="1299553" cy="1299553"/>
            <a:chOff x="0" y="0"/>
            <a:chExt cx="1732737" cy="1732737"/>
          </a:xfrm>
        </p:grpSpPr>
        <p:sp>
          <p:nvSpPr>
            <p:cNvPr id="25" name="Freeform 25" descr="image.jpg"/>
            <p:cNvSpPr/>
            <p:nvPr/>
          </p:nvSpPr>
          <p:spPr>
            <a:xfrm>
              <a:off x="0" y="0"/>
              <a:ext cx="1732788" cy="1732788"/>
            </a:xfrm>
            <a:custGeom>
              <a:avLst/>
              <a:gdLst/>
              <a:ahLst/>
              <a:cxnLst/>
              <a:rect l="l" t="t" r="r" b="b"/>
              <a:pathLst>
                <a:path w="1732788" h="1732788">
                  <a:moveTo>
                    <a:pt x="0" y="0"/>
                  </a:moveTo>
                  <a:lnTo>
                    <a:pt x="1732788" y="0"/>
                  </a:lnTo>
                  <a:lnTo>
                    <a:pt x="1732788" y="1732788"/>
                  </a:lnTo>
                  <a:lnTo>
                    <a:pt x="0" y="1732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2" b="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765576" y="2842955"/>
            <a:ext cx="1443647" cy="1352198"/>
            <a:chOff x="0" y="0"/>
            <a:chExt cx="1924863" cy="1802930"/>
          </a:xfrm>
        </p:grpSpPr>
        <p:sp>
          <p:nvSpPr>
            <p:cNvPr id="27" name="Freeform 27" descr="image.jpg"/>
            <p:cNvSpPr/>
            <p:nvPr/>
          </p:nvSpPr>
          <p:spPr>
            <a:xfrm>
              <a:off x="0" y="0"/>
              <a:ext cx="1924812" cy="1802892"/>
            </a:xfrm>
            <a:custGeom>
              <a:avLst/>
              <a:gdLst/>
              <a:ahLst/>
              <a:cxnLst/>
              <a:rect l="l" t="t" r="r" b="b"/>
              <a:pathLst>
                <a:path w="1924812" h="1802892">
                  <a:moveTo>
                    <a:pt x="0" y="0"/>
                  </a:moveTo>
                  <a:lnTo>
                    <a:pt x="1924812" y="0"/>
                  </a:lnTo>
                  <a:lnTo>
                    <a:pt x="1924812" y="1802892"/>
                  </a:lnTo>
                  <a:lnTo>
                    <a:pt x="0" y="1802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7" r="-2" b="-29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7324" y="781926"/>
            <a:ext cx="7000675" cy="961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Proposed Solution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94736" y="2987573"/>
            <a:ext cx="1101357" cy="1022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6825" b="1">
                <a:solidFill>
                  <a:srgbClr val="00A0D3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4391" y="4592907"/>
            <a:ext cx="3481826" cy="990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Immersive Detection  Engine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74429" y="5720705"/>
            <a:ext cx="3909984" cy="1507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Tracks behavioral markers and  gaze patterns to identify the  transition into the dopamine- scrolling trance.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63958" y="2987573"/>
            <a:ext cx="1101357" cy="1022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6825" b="1">
                <a:solidFill>
                  <a:srgbClr val="00A0D3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43718" y="4592907"/>
            <a:ext cx="3972316" cy="990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Dynamic Environmental  Modulation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43595" y="5720705"/>
            <a:ext cx="4337904" cy="114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Alters the virtual environment’s  visual and auditory parameters to  restore inhibitory control.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633181" y="2987573"/>
            <a:ext cx="1101357" cy="1022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6825" b="1">
                <a:solidFill>
                  <a:srgbClr val="00A0D3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712998" y="4592907"/>
            <a:ext cx="2809818" cy="990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Active Inhibitory  Engagement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712913" y="5720705"/>
            <a:ext cx="4048516" cy="187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Prompts conscious user agency  through deliberate interaction  tasks that demand intentional  effort, strengthening prefrontal  inhibitory control.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48992" y="8524885"/>
            <a:ext cx="10971952" cy="53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Closed-loop architecture: Detection  →  Modulation  →  Engagement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060513" y="9561557"/>
            <a:ext cx="199549" cy="34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932" y="810492"/>
            <a:ext cx="1213656" cy="1213656"/>
            <a:chOff x="0" y="0"/>
            <a:chExt cx="1618209" cy="1618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8234" cy="1618234"/>
            </a:xfrm>
            <a:custGeom>
              <a:avLst/>
              <a:gdLst/>
              <a:ahLst/>
              <a:cxnLst/>
              <a:rect l="l" t="t" r="r" b="b"/>
              <a:pathLst>
                <a:path w="1618234" h="1618234">
                  <a:moveTo>
                    <a:pt x="0" y="809117"/>
                  </a:moveTo>
                  <a:cubicBezTo>
                    <a:pt x="0" y="362204"/>
                    <a:pt x="362204" y="0"/>
                    <a:pt x="809117" y="0"/>
                  </a:cubicBezTo>
                  <a:cubicBezTo>
                    <a:pt x="1256030" y="0"/>
                    <a:pt x="1618234" y="362204"/>
                    <a:pt x="1618234" y="809117"/>
                  </a:cubicBezTo>
                  <a:cubicBezTo>
                    <a:pt x="1618234" y="1256030"/>
                    <a:pt x="1256030" y="1618234"/>
                    <a:pt x="809117" y="1618234"/>
                  </a:cubicBezTo>
                  <a:cubicBezTo>
                    <a:pt x="362204" y="1618234"/>
                    <a:pt x="0" y="1255903"/>
                    <a:pt x="0" y="80911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88720" y="1097280"/>
            <a:ext cx="640080" cy="642852"/>
            <a:chOff x="0" y="0"/>
            <a:chExt cx="853440" cy="857136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853440" cy="857123"/>
            </a:xfrm>
            <a:custGeom>
              <a:avLst/>
              <a:gdLst/>
              <a:ahLst/>
              <a:cxnLst/>
              <a:rect l="l" t="t" r="r" b="b"/>
              <a:pathLst>
                <a:path w="853440" h="857123">
                  <a:moveTo>
                    <a:pt x="0" y="0"/>
                  </a:moveTo>
                  <a:lnTo>
                    <a:pt x="853440" y="0"/>
                  </a:lnTo>
                  <a:lnTo>
                    <a:pt x="853440" y="857123"/>
                  </a:lnTo>
                  <a:lnTo>
                    <a:pt x="0" y="857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7" r="-215" b="-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0541" y="2358047"/>
            <a:ext cx="9725892" cy="2047704"/>
            <a:chOff x="0" y="0"/>
            <a:chExt cx="12967856" cy="2730271"/>
          </a:xfrm>
        </p:grpSpPr>
        <p:sp>
          <p:nvSpPr>
            <p:cNvPr id="7" name="Freeform 7" descr="image.jpg"/>
            <p:cNvSpPr/>
            <p:nvPr/>
          </p:nvSpPr>
          <p:spPr>
            <a:xfrm>
              <a:off x="0" y="0"/>
              <a:ext cx="12967843" cy="2730246"/>
            </a:xfrm>
            <a:custGeom>
              <a:avLst/>
              <a:gdLst/>
              <a:ahLst/>
              <a:cxnLst/>
              <a:rect l="l" t="t" r="r" b="b"/>
              <a:pathLst>
                <a:path w="12967843" h="2730246">
                  <a:moveTo>
                    <a:pt x="0" y="0"/>
                  </a:moveTo>
                  <a:lnTo>
                    <a:pt x="12967843" y="0"/>
                  </a:lnTo>
                  <a:lnTo>
                    <a:pt x="12967843" y="2730246"/>
                  </a:lnTo>
                  <a:lnTo>
                    <a:pt x="0" y="2730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" b="-6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0541" y="4649581"/>
            <a:ext cx="9725892" cy="2039388"/>
            <a:chOff x="0" y="0"/>
            <a:chExt cx="12967856" cy="2719184"/>
          </a:xfrm>
        </p:grpSpPr>
        <p:sp>
          <p:nvSpPr>
            <p:cNvPr id="9" name="Freeform 9" descr="image.jpg"/>
            <p:cNvSpPr/>
            <p:nvPr/>
          </p:nvSpPr>
          <p:spPr>
            <a:xfrm>
              <a:off x="0" y="0"/>
              <a:ext cx="12967843" cy="2719197"/>
            </a:xfrm>
            <a:custGeom>
              <a:avLst/>
              <a:gdLst/>
              <a:ahLst/>
              <a:cxnLst/>
              <a:rect l="l" t="t" r="r" b="b"/>
              <a:pathLst>
                <a:path w="12967843" h="2719197">
                  <a:moveTo>
                    <a:pt x="0" y="0"/>
                  </a:moveTo>
                  <a:lnTo>
                    <a:pt x="12967843" y="0"/>
                  </a:lnTo>
                  <a:lnTo>
                    <a:pt x="12967843" y="2719197"/>
                  </a:lnTo>
                  <a:lnTo>
                    <a:pt x="0" y="2719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4" b="-2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932" y="6936972"/>
            <a:ext cx="9717576" cy="2219496"/>
            <a:chOff x="0" y="0"/>
            <a:chExt cx="12956769" cy="29593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956794" cy="2959354"/>
            </a:xfrm>
            <a:custGeom>
              <a:avLst/>
              <a:gdLst/>
              <a:ahLst/>
              <a:cxnLst/>
              <a:rect l="l" t="t" r="r" b="b"/>
              <a:pathLst>
                <a:path w="12956794" h="2959354">
                  <a:moveTo>
                    <a:pt x="0" y="298958"/>
                  </a:moveTo>
                  <a:cubicBezTo>
                    <a:pt x="0" y="133858"/>
                    <a:pt x="133858" y="0"/>
                    <a:pt x="298958" y="0"/>
                  </a:cubicBezTo>
                  <a:lnTo>
                    <a:pt x="12657836" y="0"/>
                  </a:lnTo>
                  <a:cubicBezTo>
                    <a:pt x="12822936" y="0"/>
                    <a:pt x="12956794" y="133858"/>
                    <a:pt x="12956794" y="298958"/>
                  </a:cubicBezTo>
                  <a:lnTo>
                    <a:pt x="12956794" y="2660396"/>
                  </a:lnTo>
                  <a:cubicBezTo>
                    <a:pt x="12956794" y="2825496"/>
                    <a:pt x="12822936" y="2959354"/>
                    <a:pt x="12657836" y="2959354"/>
                  </a:cubicBezTo>
                  <a:lnTo>
                    <a:pt x="298958" y="2959354"/>
                  </a:lnTo>
                  <a:cubicBezTo>
                    <a:pt x="133858" y="2959354"/>
                    <a:pt x="0" y="2825496"/>
                    <a:pt x="0" y="2660396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1932" y="6936972"/>
            <a:ext cx="9717576" cy="2219496"/>
            <a:chOff x="0" y="0"/>
            <a:chExt cx="12956769" cy="29593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56794" cy="2959354"/>
            </a:xfrm>
            <a:custGeom>
              <a:avLst/>
              <a:gdLst/>
              <a:ahLst/>
              <a:cxnLst/>
              <a:rect l="l" t="t" r="r" b="b"/>
              <a:pathLst>
                <a:path w="12956794" h="2959354">
                  <a:moveTo>
                    <a:pt x="0" y="298958"/>
                  </a:moveTo>
                  <a:cubicBezTo>
                    <a:pt x="0" y="133858"/>
                    <a:pt x="133858" y="0"/>
                    <a:pt x="298958" y="0"/>
                  </a:cubicBezTo>
                  <a:lnTo>
                    <a:pt x="12657836" y="0"/>
                  </a:lnTo>
                  <a:cubicBezTo>
                    <a:pt x="12822936" y="0"/>
                    <a:pt x="12956794" y="133858"/>
                    <a:pt x="12956794" y="298958"/>
                  </a:cubicBezTo>
                  <a:lnTo>
                    <a:pt x="12956794" y="2660396"/>
                  </a:lnTo>
                  <a:cubicBezTo>
                    <a:pt x="12956794" y="2825496"/>
                    <a:pt x="12822936" y="2959354"/>
                    <a:pt x="12657836" y="2959354"/>
                  </a:cubicBezTo>
                  <a:lnTo>
                    <a:pt x="298958" y="2959354"/>
                  </a:lnTo>
                  <a:cubicBezTo>
                    <a:pt x="133858" y="2959354"/>
                    <a:pt x="0" y="2825496"/>
                    <a:pt x="0" y="2660396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39049" y="900541"/>
            <a:ext cx="6251172" cy="8260080"/>
            <a:chOff x="0" y="0"/>
            <a:chExt cx="8334896" cy="11013440"/>
          </a:xfrm>
        </p:grpSpPr>
        <p:sp>
          <p:nvSpPr>
            <p:cNvPr id="15" name="Freeform 15" descr="image.jpg"/>
            <p:cNvSpPr/>
            <p:nvPr/>
          </p:nvSpPr>
          <p:spPr>
            <a:xfrm>
              <a:off x="0" y="0"/>
              <a:ext cx="8334883" cy="11013440"/>
            </a:xfrm>
            <a:custGeom>
              <a:avLst/>
              <a:gdLst/>
              <a:ahLst/>
              <a:cxnLst/>
              <a:rect l="l" t="t" r="r" b="b"/>
              <a:pathLst>
                <a:path w="8334883" h="11013440">
                  <a:moveTo>
                    <a:pt x="0" y="0"/>
                  </a:moveTo>
                  <a:lnTo>
                    <a:pt x="8334883" y="0"/>
                  </a:lnTo>
                  <a:lnTo>
                    <a:pt x="8334883" y="11013440"/>
                  </a:lnTo>
                  <a:lnTo>
                    <a:pt x="0" y="1101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" b="-10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91852" y="1359132"/>
            <a:ext cx="1213656" cy="1213656"/>
            <a:chOff x="0" y="0"/>
            <a:chExt cx="1618209" cy="16182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18234" cy="1618234"/>
            </a:xfrm>
            <a:custGeom>
              <a:avLst/>
              <a:gdLst/>
              <a:ahLst/>
              <a:cxnLst/>
              <a:rect l="l" t="t" r="r" b="b"/>
              <a:pathLst>
                <a:path w="1618234" h="1618234">
                  <a:moveTo>
                    <a:pt x="0" y="809117"/>
                  </a:moveTo>
                  <a:cubicBezTo>
                    <a:pt x="0" y="362204"/>
                    <a:pt x="362204" y="0"/>
                    <a:pt x="809117" y="0"/>
                  </a:cubicBezTo>
                  <a:cubicBezTo>
                    <a:pt x="1256030" y="0"/>
                    <a:pt x="1618234" y="362204"/>
                    <a:pt x="1618234" y="809117"/>
                  </a:cubicBezTo>
                  <a:cubicBezTo>
                    <a:pt x="1618234" y="1256030"/>
                    <a:pt x="1256030" y="1618234"/>
                    <a:pt x="809117" y="1618234"/>
                  </a:cubicBezTo>
                  <a:cubicBezTo>
                    <a:pt x="362204" y="1618234"/>
                    <a:pt x="0" y="1255903"/>
                    <a:pt x="0" y="80911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978640" y="1648692"/>
            <a:ext cx="642852" cy="634536"/>
            <a:chOff x="0" y="0"/>
            <a:chExt cx="857136" cy="846049"/>
          </a:xfrm>
        </p:grpSpPr>
        <p:sp>
          <p:nvSpPr>
            <p:cNvPr id="19" name="Freeform 19" descr="image.jpg"/>
            <p:cNvSpPr/>
            <p:nvPr/>
          </p:nvSpPr>
          <p:spPr>
            <a:xfrm>
              <a:off x="0" y="0"/>
              <a:ext cx="857123" cy="846074"/>
            </a:xfrm>
            <a:custGeom>
              <a:avLst/>
              <a:gdLst/>
              <a:ahLst/>
              <a:cxnLst/>
              <a:rect l="l" t="t" r="r" b="b"/>
              <a:pathLst>
                <a:path w="857123" h="846074">
                  <a:moveTo>
                    <a:pt x="0" y="0"/>
                  </a:moveTo>
                  <a:lnTo>
                    <a:pt x="857123" y="0"/>
                  </a:lnTo>
                  <a:lnTo>
                    <a:pt x="857123" y="846074"/>
                  </a:lnTo>
                  <a:lnTo>
                    <a:pt x="0" y="846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8" r="-1" b="-57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631384" y="3771205"/>
            <a:ext cx="2396833" cy="2108664"/>
            <a:chOff x="0" y="0"/>
            <a:chExt cx="3195777" cy="2811551"/>
          </a:xfrm>
        </p:grpSpPr>
        <p:sp>
          <p:nvSpPr>
            <p:cNvPr id="21" name="Freeform 21" descr="image.jpg"/>
            <p:cNvSpPr/>
            <p:nvPr/>
          </p:nvSpPr>
          <p:spPr>
            <a:xfrm>
              <a:off x="0" y="0"/>
              <a:ext cx="3195828" cy="2811526"/>
            </a:xfrm>
            <a:custGeom>
              <a:avLst/>
              <a:gdLst/>
              <a:ahLst/>
              <a:cxnLst/>
              <a:rect l="l" t="t" r="r" b="b"/>
              <a:pathLst>
                <a:path w="3195828" h="2811526">
                  <a:moveTo>
                    <a:pt x="0" y="0"/>
                  </a:moveTo>
                  <a:lnTo>
                    <a:pt x="3195828" y="0"/>
                  </a:lnTo>
                  <a:lnTo>
                    <a:pt x="3195828" y="2811526"/>
                  </a:lnTo>
                  <a:lnTo>
                    <a:pt x="0" y="281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0" r="1" b="-20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60080" y="1526772"/>
            <a:ext cx="2729341" cy="1149925"/>
            <a:chOff x="0" y="0"/>
            <a:chExt cx="3639122" cy="1533233"/>
          </a:xfrm>
        </p:grpSpPr>
        <p:sp>
          <p:nvSpPr>
            <p:cNvPr id="23" name="Freeform 23" descr="image.jpg"/>
            <p:cNvSpPr/>
            <p:nvPr/>
          </p:nvSpPr>
          <p:spPr>
            <a:xfrm>
              <a:off x="0" y="0"/>
              <a:ext cx="3639185" cy="1533271"/>
            </a:xfrm>
            <a:custGeom>
              <a:avLst/>
              <a:gdLst/>
              <a:ahLst/>
              <a:cxnLst/>
              <a:rect l="l" t="t" r="r" b="b"/>
              <a:pathLst>
                <a:path w="3639185" h="1533271">
                  <a:moveTo>
                    <a:pt x="0" y="0"/>
                  </a:moveTo>
                  <a:lnTo>
                    <a:pt x="3639185" y="0"/>
                  </a:lnTo>
                  <a:lnTo>
                    <a:pt x="3639185" y="1533271"/>
                  </a:lnTo>
                  <a:lnTo>
                    <a:pt x="0" y="1533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1" r="-30" b="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980513" y="665016"/>
            <a:ext cx="2139144" cy="1072344"/>
            <a:chOff x="0" y="0"/>
            <a:chExt cx="2852191" cy="1429791"/>
          </a:xfrm>
        </p:grpSpPr>
        <p:sp>
          <p:nvSpPr>
            <p:cNvPr id="25" name="Freeform 25" descr="image.jpg"/>
            <p:cNvSpPr/>
            <p:nvPr/>
          </p:nvSpPr>
          <p:spPr>
            <a:xfrm>
              <a:off x="0" y="0"/>
              <a:ext cx="2852166" cy="1429766"/>
            </a:xfrm>
            <a:custGeom>
              <a:avLst/>
              <a:gdLst/>
              <a:ahLst/>
              <a:cxnLst/>
              <a:rect l="l" t="t" r="r" b="b"/>
              <a:pathLst>
                <a:path w="2852166" h="1429766">
                  <a:moveTo>
                    <a:pt x="0" y="0"/>
                  </a:moveTo>
                  <a:lnTo>
                    <a:pt x="2852166" y="0"/>
                  </a:lnTo>
                  <a:lnTo>
                    <a:pt x="2852166" y="1429766"/>
                  </a:lnTo>
                  <a:lnTo>
                    <a:pt x="0" y="1429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5" r="-16" b="-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276616" y="138541"/>
            <a:ext cx="928249" cy="928249"/>
            <a:chOff x="0" y="0"/>
            <a:chExt cx="1237666" cy="1237666"/>
          </a:xfrm>
        </p:grpSpPr>
        <p:sp>
          <p:nvSpPr>
            <p:cNvPr id="27" name="Freeform 27" descr="image.jpg"/>
            <p:cNvSpPr/>
            <p:nvPr/>
          </p:nvSpPr>
          <p:spPr>
            <a:xfrm>
              <a:off x="0" y="0"/>
              <a:ext cx="1237615" cy="1237615"/>
            </a:xfrm>
            <a:custGeom>
              <a:avLst/>
              <a:gdLst/>
              <a:ahLst/>
              <a:cxnLst/>
              <a:rect l="l" t="t" r="r" b="b"/>
              <a:pathLst>
                <a:path w="1237615" h="1237615">
                  <a:moveTo>
                    <a:pt x="0" y="0"/>
                  </a:moveTo>
                  <a:lnTo>
                    <a:pt x="1237615" y="0"/>
                  </a:lnTo>
                  <a:lnTo>
                    <a:pt x="1237615" y="1237615"/>
                  </a:lnTo>
                  <a:lnTo>
                    <a:pt x="0" y="123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4" b="-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380355" y="1040578"/>
            <a:ext cx="5769388" cy="72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Competitor Analysis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2932" y="2546347"/>
            <a:ext cx="8041786" cy="480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Inmersive VR Therapy </a:t>
            </a:r>
            <a:r>
              <a:rPr lang="en-US" sz="217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(PsyTech VR, Psious/Amelia Virtual Care)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2856" y="3165196"/>
            <a:ext cx="8184023" cy="818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Strength</a:t>
            </a: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: virtual enviroments. </a:t>
            </a:r>
            <a:r>
              <a:rPr lang="en-US" sz="25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Weakness</a:t>
            </a: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: aimed to substance  addiction; are guided by a therapist.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2932" y="4832347"/>
            <a:ext cx="3933939" cy="480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 Blockers</a:t>
            </a:r>
            <a:r>
              <a:rPr lang="en-US" sz="217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(Freedom, Opal)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2856" y="5451310"/>
            <a:ext cx="8628850" cy="81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Strength</a:t>
            </a: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: strong hard-blocking. </a:t>
            </a:r>
            <a:r>
              <a:rPr lang="en-US" sz="25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Weakness</a:t>
            </a: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: punitive design drives  churn and ignores underlying dopamine-seeking triggers.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82932" y="7108822"/>
            <a:ext cx="4472911" cy="48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 Advantage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2856" y="7701210"/>
            <a:ext cx="8770515" cy="119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Combines immersive VR presence with closed-loop neuroadaptive  triggers, aimed to self-regulate impulse dysregulation and help to  restore inhibitory control.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07206" y="2822505"/>
            <a:ext cx="3916280" cy="66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State of the Art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865731" y="3788654"/>
            <a:ext cx="5245065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Scoping reviews show passive media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061688" y="4171102"/>
            <a:ext cx="4508697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consumption degrades cognitive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061688" y="4550740"/>
            <a:ext cx="4584916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flexibility and worsens emotional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061688" y="4933036"/>
            <a:ext cx="1624193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exhaustion.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865731" y="5517747"/>
            <a:ext cx="5314655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Closed-loop physiological monitoring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061688" y="5897394"/>
            <a:ext cx="4922939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and standalone VR headsets enable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061688" y="6279680"/>
            <a:ext cx="5019046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high-fidelity detection of attentional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061688" y="6659328"/>
            <a:ext cx="1084012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fatigue.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865731" y="7244039"/>
            <a:ext cx="5099247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1486" lvl="1" indent="-230743" algn="l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 Real-time sensory redirection shifts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061688" y="7623705"/>
            <a:ext cx="4916319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the field from static app blocking to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061688" y="8005972"/>
            <a:ext cx="5113830" cy="436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active neurobehavioral rehabilitation.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060513" y="9561557"/>
            <a:ext cx="199549" cy="34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8381"/>
            <a:chOff x="0" y="0"/>
            <a:chExt cx="24384000" cy="137178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7905"/>
            </a:xfrm>
            <a:custGeom>
              <a:avLst/>
              <a:gdLst/>
              <a:ahLst/>
              <a:cxnLst/>
              <a:rect l="l" t="t" r="r" b="b"/>
              <a:pathLst>
                <a:path w="24384000" h="13717905">
                  <a:moveTo>
                    <a:pt x="0" y="0"/>
                  </a:moveTo>
                  <a:lnTo>
                    <a:pt x="24384000" y="0"/>
                  </a:lnTo>
                  <a:lnTo>
                    <a:pt x="24384000" y="13717905"/>
                  </a:lnTo>
                  <a:lnTo>
                    <a:pt x="0" y="13717905"/>
                  </a:lnTo>
                  <a:close/>
                </a:path>
              </a:pathLst>
            </a:custGeom>
            <a:solidFill>
              <a:srgbClr val="006F9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84812" y="2090652"/>
            <a:ext cx="6059976" cy="6059976"/>
            <a:chOff x="0" y="0"/>
            <a:chExt cx="8079969" cy="80799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79994" cy="8079994"/>
            </a:xfrm>
            <a:custGeom>
              <a:avLst/>
              <a:gdLst/>
              <a:ahLst/>
              <a:cxnLst/>
              <a:rect l="l" t="t" r="r" b="b"/>
              <a:pathLst>
                <a:path w="8079994" h="8079994">
                  <a:moveTo>
                    <a:pt x="0" y="4039997"/>
                  </a:moveTo>
                  <a:cubicBezTo>
                    <a:pt x="0" y="1808734"/>
                    <a:pt x="1808734" y="0"/>
                    <a:pt x="4039997" y="0"/>
                  </a:cubicBezTo>
                  <a:cubicBezTo>
                    <a:pt x="6271260" y="0"/>
                    <a:pt x="8079994" y="1808734"/>
                    <a:pt x="8079994" y="4039997"/>
                  </a:cubicBezTo>
                  <a:cubicBezTo>
                    <a:pt x="8079994" y="6271260"/>
                    <a:pt x="6271260" y="8079994"/>
                    <a:pt x="4039997" y="8079994"/>
                  </a:cubicBezTo>
                  <a:cubicBezTo>
                    <a:pt x="1808734" y="8079994"/>
                    <a:pt x="0" y="6271260"/>
                    <a:pt x="0" y="4039997"/>
                  </a:cubicBezTo>
                  <a:close/>
                </a:path>
              </a:pathLst>
            </a:custGeom>
            <a:solidFill>
              <a:srgbClr val="00A0D3"/>
            </a:solidFill>
            <a:ln w="24937" cap="sq">
              <a:solidFill>
                <a:srgbClr val="00A0D3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16332" y="2822172"/>
            <a:ext cx="4596936" cy="4596936"/>
            <a:chOff x="0" y="0"/>
            <a:chExt cx="6129249" cy="61292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29274" cy="6129274"/>
            </a:xfrm>
            <a:custGeom>
              <a:avLst/>
              <a:gdLst/>
              <a:ahLst/>
              <a:cxnLst/>
              <a:rect l="l" t="t" r="r" b="b"/>
              <a:pathLst>
                <a:path w="6129274" h="6129274">
                  <a:moveTo>
                    <a:pt x="0" y="3064637"/>
                  </a:moveTo>
                  <a:cubicBezTo>
                    <a:pt x="0" y="1372108"/>
                    <a:pt x="1372108" y="0"/>
                    <a:pt x="3064637" y="0"/>
                  </a:cubicBezTo>
                  <a:cubicBezTo>
                    <a:pt x="4757166" y="0"/>
                    <a:pt x="6129274" y="1372108"/>
                    <a:pt x="6129274" y="3064637"/>
                  </a:cubicBezTo>
                  <a:cubicBezTo>
                    <a:pt x="6129274" y="4757166"/>
                    <a:pt x="4757166" y="6129274"/>
                    <a:pt x="3064637" y="6129274"/>
                  </a:cubicBezTo>
                  <a:cubicBezTo>
                    <a:pt x="1372108" y="6129274"/>
                    <a:pt x="0" y="4757166"/>
                    <a:pt x="0" y="3064637"/>
                  </a:cubicBezTo>
                  <a:close/>
                </a:path>
              </a:pathLst>
            </a:custGeom>
            <a:solidFill>
              <a:srgbClr val="66CCE9"/>
            </a:solidFill>
            <a:ln w="24937" cap="sq">
              <a:solidFill>
                <a:srgbClr val="66CCE9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17765" y="3832165"/>
            <a:ext cx="2396833" cy="2396833"/>
            <a:chOff x="0" y="0"/>
            <a:chExt cx="3195777" cy="3195777"/>
          </a:xfrm>
        </p:grpSpPr>
        <p:sp>
          <p:nvSpPr>
            <p:cNvPr id="9" name="Freeform 9" descr="image.jpg"/>
            <p:cNvSpPr/>
            <p:nvPr/>
          </p:nvSpPr>
          <p:spPr>
            <a:xfrm>
              <a:off x="0" y="0"/>
              <a:ext cx="3195828" cy="3195828"/>
            </a:xfrm>
            <a:custGeom>
              <a:avLst/>
              <a:gdLst/>
              <a:ahLst/>
              <a:cxnLst/>
              <a:rect l="l" t="t" r="r" b="b"/>
              <a:pathLst>
                <a:path w="3195828" h="3195828">
                  <a:moveTo>
                    <a:pt x="0" y="0"/>
                  </a:moveTo>
                  <a:lnTo>
                    <a:pt x="3195828" y="0"/>
                  </a:lnTo>
                  <a:lnTo>
                    <a:pt x="3195828" y="3195828"/>
                  </a:lnTo>
                  <a:lnTo>
                    <a:pt x="0" y="3195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232277" y="451847"/>
            <a:ext cx="8901817" cy="3145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1" spc="646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INNOVATION FACTOR</a:t>
            </a:r>
          </a:p>
          <a:p>
            <a:pPr algn="l">
              <a:lnSpc>
                <a:spcPts val="6750"/>
              </a:lnSpc>
            </a:pPr>
            <a:r>
              <a:rPr lang="en-US" sz="5625" b="1" spc="1385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 closed-loop therapeutic  intervention model within  immersive VR.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32324" y="4096998"/>
            <a:ext cx="9247956" cy="327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first market solution combining real-time EEG signals  with immersive VR to self-regulate dopamine scrolling,  featuring a telemetry-driven neuroadaptive ecosystem  with dynamic environmental shifts tailored for compulsive  digital behaviors rather than traditional substance  therapies or static apps which forces to stop the use of  digital devices.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60513" y="9561557"/>
            <a:ext cx="199549" cy="34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1932" y="2364972"/>
            <a:ext cx="9534696" cy="6791496"/>
            <a:chOff x="0" y="0"/>
            <a:chExt cx="12712929" cy="90553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12954" cy="9055354"/>
            </a:xfrm>
            <a:custGeom>
              <a:avLst/>
              <a:gdLst/>
              <a:ahLst/>
              <a:cxnLst/>
              <a:rect l="l" t="t" r="r" b="b"/>
              <a:pathLst>
                <a:path w="12712954" h="9055354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12416282" y="0"/>
                  </a:lnTo>
                  <a:cubicBezTo>
                    <a:pt x="12580112" y="0"/>
                    <a:pt x="12712954" y="132842"/>
                    <a:pt x="12712954" y="296672"/>
                  </a:cubicBezTo>
                  <a:lnTo>
                    <a:pt x="12712954" y="8758682"/>
                  </a:lnTo>
                  <a:cubicBezTo>
                    <a:pt x="12712954" y="8922512"/>
                    <a:pt x="12580112" y="9055354"/>
                    <a:pt x="12416282" y="9055354"/>
                  </a:cubicBezTo>
                  <a:lnTo>
                    <a:pt x="296672" y="9055354"/>
                  </a:lnTo>
                  <a:cubicBezTo>
                    <a:pt x="132842" y="9055354"/>
                    <a:pt x="0" y="8922512"/>
                    <a:pt x="0" y="8758682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1932" y="2364972"/>
            <a:ext cx="9534696" cy="6791496"/>
            <a:chOff x="0" y="0"/>
            <a:chExt cx="12712929" cy="90553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12954" cy="9055354"/>
            </a:xfrm>
            <a:custGeom>
              <a:avLst/>
              <a:gdLst/>
              <a:ahLst/>
              <a:cxnLst/>
              <a:rect l="l" t="t" r="r" b="b"/>
              <a:pathLst>
                <a:path w="12712954" h="9055354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12416282" y="0"/>
                  </a:lnTo>
                  <a:cubicBezTo>
                    <a:pt x="12580112" y="0"/>
                    <a:pt x="12712954" y="132842"/>
                    <a:pt x="12712954" y="296672"/>
                  </a:cubicBezTo>
                  <a:lnTo>
                    <a:pt x="12712954" y="8758682"/>
                  </a:lnTo>
                  <a:cubicBezTo>
                    <a:pt x="12712954" y="8922512"/>
                    <a:pt x="12580112" y="9055354"/>
                    <a:pt x="12416282" y="9055354"/>
                  </a:cubicBezTo>
                  <a:lnTo>
                    <a:pt x="296672" y="9055354"/>
                  </a:lnTo>
                  <a:cubicBezTo>
                    <a:pt x="132842" y="9055354"/>
                    <a:pt x="0" y="8922512"/>
                    <a:pt x="0" y="8758682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08572" y="2730732"/>
            <a:ext cx="1487976" cy="1487976"/>
            <a:chOff x="0" y="0"/>
            <a:chExt cx="1983969" cy="19839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83994" cy="1983994"/>
            </a:xfrm>
            <a:custGeom>
              <a:avLst/>
              <a:gdLst/>
              <a:ahLst/>
              <a:cxnLst/>
              <a:rect l="l" t="t" r="r" b="b"/>
              <a:pathLst>
                <a:path w="1983994" h="1983994">
                  <a:moveTo>
                    <a:pt x="0" y="991997"/>
                  </a:moveTo>
                  <a:cubicBezTo>
                    <a:pt x="0" y="444119"/>
                    <a:pt x="444119" y="0"/>
                    <a:pt x="991997" y="0"/>
                  </a:cubicBezTo>
                  <a:cubicBezTo>
                    <a:pt x="1539875" y="0"/>
                    <a:pt x="1983994" y="444119"/>
                    <a:pt x="1983994" y="991997"/>
                  </a:cubicBezTo>
                  <a:cubicBezTo>
                    <a:pt x="1983994" y="1539875"/>
                    <a:pt x="1539875" y="1983994"/>
                    <a:pt x="991997" y="1983994"/>
                  </a:cubicBezTo>
                  <a:cubicBezTo>
                    <a:pt x="444119" y="1983994"/>
                    <a:pt x="0" y="1539875"/>
                    <a:pt x="0" y="991997"/>
                  </a:cubicBezTo>
                  <a:close/>
                </a:path>
              </a:pathLst>
            </a:custGeom>
            <a:solidFill>
              <a:srgbClr val="66CCE9"/>
            </a:solidFill>
            <a:ln w="24937" cap="sq">
              <a:solidFill>
                <a:srgbClr val="66CCE9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661864" y="3084024"/>
            <a:ext cx="778621" cy="778621"/>
            <a:chOff x="0" y="0"/>
            <a:chExt cx="1038162" cy="1038162"/>
          </a:xfrm>
        </p:grpSpPr>
        <p:sp>
          <p:nvSpPr>
            <p:cNvPr id="9" name="Freeform 9" descr="image.jpg"/>
            <p:cNvSpPr/>
            <p:nvPr/>
          </p:nvSpPr>
          <p:spPr>
            <a:xfrm>
              <a:off x="0" y="0"/>
              <a:ext cx="1038225" cy="1038225"/>
            </a:xfrm>
            <a:custGeom>
              <a:avLst/>
              <a:gdLst/>
              <a:ahLst/>
              <a:cxnLst/>
              <a:rect l="l" t="t" r="r" b="b"/>
              <a:pathLst>
                <a:path w="1038225" h="1038225">
                  <a:moveTo>
                    <a:pt x="0" y="0"/>
                  </a:moveTo>
                  <a:lnTo>
                    <a:pt x="1038225" y="0"/>
                  </a:lnTo>
                  <a:lnTo>
                    <a:pt x="1038225" y="1038225"/>
                  </a:lnTo>
                  <a:lnTo>
                    <a:pt x="0" y="1038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6" b="6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867501" y="2358047"/>
            <a:ext cx="6522720" cy="6802584"/>
            <a:chOff x="0" y="0"/>
            <a:chExt cx="8696960" cy="9070111"/>
          </a:xfrm>
        </p:grpSpPr>
        <p:sp>
          <p:nvSpPr>
            <p:cNvPr id="11" name="Freeform 11" descr="image.jpg"/>
            <p:cNvSpPr/>
            <p:nvPr/>
          </p:nvSpPr>
          <p:spPr>
            <a:xfrm>
              <a:off x="0" y="0"/>
              <a:ext cx="8696960" cy="9070086"/>
            </a:xfrm>
            <a:custGeom>
              <a:avLst/>
              <a:gdLst/>
              <a:ahLst/>
              <a:cxnLst/>
              <a:rect l="l" t="t" r="r" b="b"/>
              <a:pathLst>
                <a:path w="8696960" h="9070086">
                  <a:moveTo>
                    <a:pt x="0" y="0"/>
                  </a:moveTo>
                  <a:lnTo>
                    <a:pt x="8696960" y="0"/>
                  </a:lnTo>
                  <a:lnTo>
                    <a:pt x="8696960" y="9070086"/>
                  </a:lnTo>
                  <a:lnTo>
                    <a:pt x="0" y="9070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17532" y="3919452"/>
            <a:ext cx="1487976" cy="1487976"/>
            <a:chOff x="0" y="0"/>
            <a:chExt cx="1983969" cy="19839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83994" cy="1983994"/>
            </a:xfrm>
            <a:custGeom>
              <a:avLst/>
              <a:gdLst/>
              <a:ahLst/>
              <a:cxnLst/>
              <a:rect l="l" t="t" r="r" b="b"/>
              <a:pathLst>
                <a:path w="1983994" h="1983994">
                  <a:moveTo>
                    <a:pt x="0" y="991997"/>
                  </a:moveTo>
                  <a:cubicBezTo>
                    <a:pt x="0" y="444119"/>
                    <a:pt x="444119" y="0"/>
                    <a:pt x="991997" y="0"/>
                  </a:cubicBezTo>
                  <a:cubicBezTo>
                    <a:pt x="1539875" y="0"/>
                    <a:pt x="1983994" y="444119"/>
                    <a:pt x="1983994" y="991997"/>
                  </a:cubicBezTo>
                  <a:cubicBezTo>
                    <a:pt x="1983994" y="1539875"/>
                    <a:pt x="1539875" y="1983994"/>
                    <a:pt x="991997" y="1983994"/>
                  </a:cubicBezTo>
                  <a:cubicBezTo>
                    <a:pt x="444119" y="1983994"/>
                    <a:pt x="0" y="1539875"/>
                    <a:pt x="0" y="99199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6367" y="4269972"/>
            <a:ext cx="775849" cy="786936"/>
            <a:chOff x="0" y="0"/>
            <a:chExt cx="1034466" cy="1049249"/>
          </a:xfrm>
        </p:grpSpPr>
        <p:sp>
          <p:nvSpPr>
            <p:cNvPr id="15" name="Freeform 15" descr="image.jpg"/>
            <p:cNvSpPr/>
            <p:nvPr/>
          </p:nvSpPr>
          <p:spPr>
            <a:xfrm>
              <a:off x="0" y="0"/>
              <a:ext cx="1034415" cy="1049274"/>
            </a:xfrm>
            <a:custGeom>
              <a:avLst/>
              <a:gdLst/>
              <a:ahLst/>
              <a:cxnLst/>
              <a:rect l="l" t="t" r="r" b="b"/>
              <a:pathLst>
                <a:path w="1034415" h="1049274">
                  <a:moveTo>
                    <a:pt x="0" y="0"/>
                  </a:moveTo>
                  <a:lnTo>
                    <a:pt x="1034415" y="0"/>
                  </a:lnTo>
                  <a:lnTo>
                    <a:pt x="1034415" y="1049274"/>
                  </a:lnTo>
                  <a:lnTo>
                    <a:pt x="0" y="1049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7" r="-232" b="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54892" y="3919452"/>
            <a:ext cx="1487976" cy="1487976"/>
            <a:chOff x="0" y="0"/>
            <a:chExt cx="1983969" cy="19839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83994" cy="1983994"/>
            </a:xfrm>
            <a:custGeom>
              <a:avLst/>
              <a:gdLst/>
              <a:ahLst/>
              <a:cxnLst/>
              <a:rect l="l" t="t" r="r" b="b"/>
              <a:pathLst>
                <a:path w="1983994" h="1983994">
                  <a:moveTo>
                    <a:pt x="0" y="991997"/>
                  </a:moveTo>
                  <a:cubicBezTo>
                    <a:pt x="0" y="444119"/>
                    <a:pt x="444119" y="0"/>
                    <a:pt x="991997" y="0"/>
                  </a:cubicBezTo>
                  <a:cubicBezTo>
                    <a:pt x="1539875" y="0"/>
                    <a:pt x="1983994" y="444119"/>
                    <a:pt x="1983994" y="991997"/>
                  </a:cubicBezTo>
                  <a:cubicBezTo>
                    <a:pt x="1983994" y="1539875"/>
                    <a:pt x="1539875" y="1983994"/>
                    <a:pt x="991997" y="1983994"/>
                  </a:cubicBezTo>
                  <a:cubicBezTo>
                    <a:pt x="444119" y="1983994"/>
                    <a:pt x="0" y="1539875"/>
                    <a:pt x="0" y="99199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513718" y="4269972"/>
            <a:ext cx="778621" cy="786936"/>
            <a:chOff x="0" y="0"/>
            <a:chExt cx="1038162" cy="1049249"/>
          </a:xfrm>
        </p:grpSpPr>
        <p:sp>
          <p:nvSpPr>
            <p:cNvPr id="19" name="Freeform 19" descr="image.jpg"/>
            <p:cNvSpPr/>
            <p:nvPr/>
          </p:nvSpPr>
          <p:spPr>
            <a:xfrm>
              <a:off x="0" y="0"/>
              <a:ext cx="1038225" cy="1049274"/>
            </a:xfrm>
            <a:custGeom>
              <a:avLst/>
              <a:gdLst/>
              <a:ahLst/>
              <a:cxnLst/>
              <a:rect l="l" t="t" r="r" b="b"/>
              <a:pathLst>
                <a:path w="1038225" h="1049274">
                  <a:moveTo>
                    <a:pt x="0" y="0"/>
                  </a:moveTo>
                  <a:lnTo>
                    <a:pt x="1038225" y="0"/>
                  </a:lnTo>
                  <a:lnTo>
                    <a:pt x="1038225" y="1049274"/>
                  </a:lnTo>
                  <a:lnTo>
                    <a:pt x="0" y="1049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7" r="-42" b="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05313" y="138541"/>
            <a:ext cx="1299553" cy="1299553"/>
            <a:chOff x="0" y="0"/>
            <a:chExt cx="1732737" cy="1732737"/>
          </a:xfrm>
        </p:grpSpPr>
        <p:sp>
          <p:nvSpPr>
            <p:cNvPr id="21" name="Freeform 21" descr="image.jpg"/>
            <p:cNvSpPr/>
            <p:nvPr/>
          </p:nvSpPr>
          <p:spPr>
            <a:xfrm>
              <a:off x="0" y="0"/>
              <a:ext cx="1732788" cy="1732788"/>
            </a:xfrm>
            <a:custGeom>
              <a:avLst/>
              <a:gdLst/>
              <a:ahLst/>
              <a:cxnLst/>
              <a:rect l="l" t="t" r="r" b="b"/>
              <a:pathLst>
                <a:path w="1732788" h="1732788">
                  <a:moveTo>
                    <a:pt x="0" y="0"/>
                  </a:moveTo>
                  <a:lnTo>
                    <a:pt x="1732788" y="0"/>
                  </a:lnTo>
                  <a:lnTo>
                    <a:pt x="1732788" y="1732788"/>
                  </a:lnTo>
                  <a:lnTo>
                    <a:pt x="0" y="1732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17324" y="781926"/>
            <a:ext cx="5403323" cy="961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Target Market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57185" y="2885970"/>
            <a:ext cx="3700339" cy="40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PRIMARY SEGMENT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57490" y="3823697"/>
            <a:ext cx="4489971" cy="1795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18–35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57290" y="5505650"/>
            <a:ext cx="1568806" cy="56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years old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57176" y="6604730"/>
            <a:ext cx="8324907" cy="990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Generation Z and Millennials experiencing high daily  screen dependency and attentional fatigue.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32800" y="2885970"/>
            <a:ext cx="4229843" cy="409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spc="600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SECONDARY SEGMENT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32753" y="5873191"/>
            <a:ext cx="5652345" cy="1904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Educational institutions and clinical  psychology practices specializing in  behavioral addiction and executive  function training.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930278" y="9561557"/>
            <a:ext cx="330860" cy="34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0541" y="2358047"/>
            <a:ext cx="8077200" cy="3053544"/>
            <a:chOff x="0" y="0"/>
            <a:chExt cx="10769600" cy="4071391"/>
          </a:xfrm>
        </p:grpSpPr>
        <p:sp>
          <p:nvSpPr>
            <p:cNvPr id="3" name="Freeform 3" descr="image.jpg"/>
            <p:cNvSpPr/>
            <p:nvPr/>
          </p:nvSpPr>
          <p:spPr>
            <a:xfrm>
              <a:off x="0" y="0"/>
              <a:ext cx="10769600" cy="4071366"/>
            </a:xfrm>
            <a:custGeom>
              <a:avLst/>
              <a:gdLst/>
              <a:ahLst/>
              <a:cxnLst/>
              <a:rect l="l" t="t" r="r" b="b"/>
              <a:pathLst>
                <a:path w="10769600" h="4071366">
                  <a:moveTo>
                    <a:pt x="0" y="0"/>
                  </a:moveTo>
                  <a:lnTo>
                    <a:pt x="10769600" y="0"/>
                  </a:lnTo>
                  <a:lnTo>
                    <a:pt x="10769600" y="4071366"/>
                  </a:lnTo>
                  <a:lnTo>
                    <a:pt x="0" y="4071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" r="-16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50572" y="3135287"/>
            <a:ext cx="1487976" cy="1487976"/>
            <a:chOff x="0" y="0"/>
            <a:chExt cx="1983969" cy="19839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3994" cy="1983994"/>
            </a:xfrm>
            <a:custGeom>
              <a:avLst/>
              <a:gdLst/>
              <a:ahLst/>
              <a:cxnLst/>
              <a:rect l="l" t="t" r="r" b="b"/>
              <a:pathLst>
                <a:path w="1983994" h="1983994">
                  <a:moveTo>
                    <a:pt x="0" y="991997"/>
                  </a:moveTo>
                  <a:cubicBezTo>
                    <a:pt x="0" y="444119"/>
                    <a:pt x="444119" y="0"/>
                    <a:pt x="991997" y="0"/>
                  </a:cubicBezTo>
                  <a:cubicBezTo>
                    <a:pt x="1539875" y="0"/>
                    <a:pt x="1983994" y="444119"/>
                    <a:pt x="1983994" y="991997"/>
                  </a:cubicBezTo>
                  <a:cubicBezTo>
                    <a:pt x="1983994" y="1539875"/>
                    <a:pt x="1539875" y="1983994"/>
                    <a:pt x="991997" y="1983994"/>
                  </a:cubicBezTo>
                  <a:cubicBezTo>
                    <a:pt x="444119" y="1983994"/>
                    <a:pt x="0" y="1539875"/>
                    <a:pt x="0" y="99199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6626" y="3485807"/>
            <a:ext cx="778621" cy="784165"/>
            <a:chOff x="0" y="0"/>
            <a:chExt cx="1038162" cy="1045553"/>
          </a:xfrm>
        </p:grpSpPr>
        <p:sp>
          <p:nvSpPr>
            <p:cNvPr id="7" name="Freeform 7" descr="image.jpg"/>
            <p:cNvSpPr/>
            <p:nvPr/>
          </p:nvSpPr>
          <p:spPr>
            <a:xfrm>
              <a:off x="0" y="0"/>
              <a:ext cx="1038225" cy="1045591"/>
            </a:xfrm>
            <a:custGeom>
              <a:avLst/>
              <a:gdLst/>
              <a:ahLst/>
              <a:cxnLst/>
              <a:rect l="l" t="t" r="r" b="b"/>
              <a:pathLst>
                <a:path w="1038225" h="1045591">
                  <a:moveTo>
                    <a:pt x="0" y="0"/>
                  </a:moveTo>
                  <a:lnTo>
                    <a:pt x="1038225" y="0"/>
                  </a:lnTo>
                  <a:lnTo>
                    <a:pt x="1038225" y="1045591"/>
                  </a:lnTo>
                  <a:lnTo>
                    <a:pt x="0" y="1045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8" r="6" b="-125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10249" y="2358047"/>
            <a:ext cx="8079972" cy="3053544"/>
            <a:chOff x="0" y="0"/>
            <a:chExt cx="10773296" cy="4071391"/>
          </a:xfrm>
        </p:grpSpPr>
        <p:sp>
          <p:nvSpPr>
            <p:cNvPr id="9" name="Freeform 9" descr="image.jpg"/>
            <p:cNvSpPr/>
            <p:nvPr/>
          </p:nvSpPr>
          <p:spPr>
            <a:xfrm>
              <a:off x="0" y="0"/>
              <a:ext cx="10773283" cy="4071366"/>
            </a:xfrm>
            <a:custGeom>
              <a:avLst/>
              <a:gdLst/>
              <a:ahLst/>
              <a:cxnLst/>
              <a:rect l="l" t="t" r="r" b="b"/>
              <a:pathLst>
                <a:path w="10773283" h="4071366">
                  <a:moveTo>
                    <a:pt x="0" y="0"/>
                  </a:moveTo>
                  <a:lnTo>
                    <a:pt x="10773283" y="0"/>
                  </a:lnTo>
                  <a:lnTo>
                    <a:pt x="10773283" y="4071366"/>
                  </a:lnTo>
                  <a:lnTo>
                    <a:pt x="0" y="4071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" b="-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63052" y="3135287"/>
            <a:ext cx="1487976" cy="1487976"/>
            <a:chOff x="0" y="0"/>
            <a:chExt cx="1983969" cy="198396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83994" cy="1983994"/>
            </a:xfrm>
            <a:custGeom>
              <a:avLst/>
              <a:gdLst/>
              <a:ahLst/>
              <a:cxnLst/>
              <a:rect l="l" t="t" r="r" b="b"/>
              <a:pathLst>
                <a:path w="1983994" h="1983994">
                  <a:moveTo>
                    <a:pt x="0" y="991997"/>
                  </a:moveTo>
                  <a:cubicBezTo>
                    <a:pt x="0" y="444119"/>
                    <a:pt x="444119" y="0"/>
                    <a:pt x="991997" y="0"/>
                  </a:cubicBezTo>
                  <a:cubicBezTo>
                    <a:pt x="1539875" y="0"/>
                    <a:pt x="1983994" y="444119"/>
                    <a:pt x="1983994" y="991997"/>
                  </a:cubicBezTo>
                  <a:cubicBezTo>
                    <a:pt x="1983994" y="1539875"/>
                    <a:pt x="1539875" y="1983994"/>
                    <a:pt x="991997" y="1983994"/>
                  </a:cubicBezTo>
                  <a:cubicBezTo>
                    <a:pt x="444119" y="1983994"/>
                    <a:pt x="0" y="1539875"/>
                    <a:pt x="0" y="99199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19106" y="3485807"/>
            <a:ext cx="778621" cy="784165"/>
            <a:chOff x="0" y="0"/>
            <a:chExt cx="1038162" cy="1045553"/>
          </a:xfrm>
        </p:grpSpPr>
        <p:sp>
          <p:nvSpPr>
            <p:cNvPr id="13" name="Freeform 13" descr="image.jpg"/>
            <p:cNvSpPr/>
            <p:nvPr/>
          </p:nvSpPr>
          <p:spPr>
            <a:xfrm>
              <a:off x="0" y="0"/>
              <a:ext cx="1038225" cy="1045591"/>
            </a:xfrm>
            <a:custGeom>
              <a:avLst/>
              <a:gdLst/>
              <a:ahLst/>
              <a:cxnLst/>
              <a:rect l="l" t="t" r="r" b="b"/>
              <a:pathLst>
                <a:path w="1038225" h="1045591">
                  <a:moveTo>
                    <a:pt x="0" y="0"/>
                  </a:moveTo>
                  <a:lnTo>
                    <a:pt x="1038225" y="0"/>
                  </a:lnTo>
                  <a:lnTo>
                    <a:pt x="1038225" y="1045591"/>
                  </a:lnTo>
                  <a:lnTo>
                    <a:pt x="0" y="1045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8" r="6" b="-125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0541" y="5744099"/>
            <a:ext cx="8077200" cy="3053544"/>
            <a:chOff x="0" y="0"/>
            <a:chExt cx="10769600" cy="4071391"/>
          </a:xfrm>
        </p:grpSpPr>
        <p:sp>
          <p:nvSpPr>
            <p:cNvPr id="15" name="Freeform 15" descr="image.jpg"/>
            <p:cNvSpPr/>
            <p:nvPr/>
          </p:nvSpPr>
          <p:spPr>
            <a:xfrm>
              <a:off x="0" y="0"/>
              <a:ext cx="10769600" cy="4071366"/>
            </a:xfrm>
            <a:custGeom>
              <a:avLst/>
              <a:gdLst/>
              <a:ahLst/>
              <a:cxnLst/>
              <a:rect l="l" t="t" r="r" b="b"/>
              <a:pathLst>
                <a:path w="10769600" h="4071366">
                  <a:moveTo>
                    <a:pt x="0" y="0"/>
                  </a:moveTo>
                  <a:lnTo>
                    <a:pt x="10769600" y="0"/>
                  </a:lnTo>
                  <a:lnTo>
                    <a:pt x="10769600" y="4071366"/>
                  </a:lnTo>
                  <a:lnTo>
                    <a:pt x="0" y="4071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" r="-16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50572" y="6518567"/>
            <a:ext cx="1487976" cy="1487976"/>
            <a:chOff x="0" y="0"/>
            <a:chExt cx="1983969" cy="198396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83994" cy="1983994"/>
            </a:xfrm>
            <a:custGeom>
              <a:avLst/>
              <a:gdLst/>
              <a:ahLst/>
              <a:cxnLst/>
              <a:rect l="l" t="t" r="r" b="b"/>
              <a:pathLst>
                <a:path w="1983994" h="1983994">
                  <a:moveTo>
                    <a:pt x="0" y="991997"/>
                  </a:moveTo>
                  <a:cubicBezTo>
                    <a:pt x="0" y="444119"/>
                    <a:pt x="444119" y="0"/>
                    <a:pt x="991997" y="0"/>
                  </a:cubicBezTo>
                  <a:cubicBezTo>
                    <a:pt x="1539875" y="0"/>
                    <a:pt x="1983994" y="444119"/>
                    <a:pt x="1983994" y="991997"/>
                  </a:cubicBezTo>
                  <a:cubicBezTo>
                    <a:pt x="1983994" y="1539875"/>
                    <a:pt x="1539875" y="1983994"/>
                    <a:pt x="991997" y="1983994"/>
                  </a:cubicBezTo>
                  <a:cubicBezTo>
                    <a:pt x="444119" y="1983994"/>
                    <a:pt x="0" y="1539875"/>
                    <a:pt x="0" y="99199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806626" y="6871859"/>
            <a:ext cx="778621" cy="775849"/>
            <a:chOff x="0" y="0"/>
            <a:chExt cx="1038162" cy="1034466"/>
          </a:xfrm>
        </p:grpSpPr>
        <p:sp>
          <p:nvSpPr>
            <p:cNvPr id="19" name="Freeform 19" descr="image.jpg"/>
            <p:cNvSpPr/>
            <p:nvPr/>
          </p:nvSpPr>
          <p:spPr>
            <a:xfrm>
              <a:off x="0" y="0"/>
              <a:ext cx="1038225" cy="1034415"/>
            </a:xfrm>
            <a:custGeom>
              <a:avLst/>
              <a:gdLst/>
              <a:ahLst/>
              <a:cxnLst/>
              <a:rect l="l" t="t" r="r" b="b"/>
              <a:pathLst>
                <a:path w="1038225" h="1034415">
                  <a:moveTo>
                    <a:pt x="0" y="0"/>
                  </a:moveTo>
                  <a:lnTo>
                    <a:pt x="1038225" y="0"/>
                  </a:lnTo>
                  <a:lnTo>
                    <a:pt x="1038225" y="1034415"/>
                  </a:lnTo>
                  <a:lnTo>
                    <a:pt x="0" y="1034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78" r="6" b="-18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10249" y="5744099"/>
            <a:ext cx="8079972" cy="3053544"/>
            <a:chOff x="0" y="0"/>
            <a:chExt cx="10773296" cy="4071391"/>
          </a:xfrm>
        </p:grpSpPr>
        <p:sp>
          <p:nvSpPr>
            <p:cNvPr id="21" name="Freeform 21" descr="image.jpg"/>
            <p:cNvSpPr/>
            <p:nvPr/>
          </p:nvSpPr>
          <p:spPr>
            <a:xfrm>
              <a:off x="0" y="0"/>
              <a:ext cx="10773283" cy="4071366"/>
            </a:xfrm>
            <a:custGeom>
              <a:avLst/>
              <a:gdLst/>
              <a:ahLst/>
              <a:cxnLst/>
              <a:rect l="l" t="t" r="r" b="b"/>
              <a:pathLst>
                <a:path w="10773283" h="4071366">
                  <a:moveTo>
                    <a:pt x="0" y="0"/>
                  </a:moveTo>
                  <a:lnTo>
                    <a:pt x="10773283" y="0"/>
                  </a:lnTo>
                  <a:lnTo>
                    <a:pt x="10773283" y="4071366"/>
                  </a:lnTo>
                  <a:lnTo>
                    <a:pt x="0" y="4071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" b="-1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863052" y="6518567"/>
            <a:ext cx="1487976" cy="1487976"/>
            <a:chOff x="0" y="0"/>
            <a:chExt cx="1983969" cy="198396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83994" cy="1983994"/>
            </a:xfrm>
            <a:custGeom>
              <a:avLst/>
              <a:gdLst/>
              <a:ahLst/>
              <a:cxnLst/>
              <a:rect l="l" t="t" r="r" b="b"/>
              <a:pathLst>
                <a:path w="1983994" h="1983994">
                  <a:moveTo>
                    <a:pt x="0" y="991997"/>
                  </a:moveTo>
                  <a:cubicBezTo>
                    <a:pt x="0" y="444119"/>
                    <a:pt x="444119" y="0"/>
                    <a:pt x="991997" y="0"/>
                  </a:cubicBezTo>
                  <a:cubicBezTo>
                    <a:pt x="1539875" y="0"/>
                    <a:pt x="1983994" y="444119"/>
                    <a:pt x="1983994" y="991997"/>
                  </a:cubicBezTo>
                  <a:cubicBezTo>
                    <a:pt x="1983994" y="1539875"/>
                    <a:pt x="1539875" y="1983994"/>
                    <a:pt x="991997" y="1983994"/>
                  </a:cubicBezTo>
                  <a:cubicBezTo>
                    <a:pt x="444119" y="1983994"/>
                    <a:pt x="0" y="1539875"/>
                    <a:pt x="0" y="991997"/>
                  </a:cubicBezTo>
                  <a:close/>
                </a:path>
              </a:pathLst>
            </a:custGeom>
            <a:solidFill>
              <a:srgbClr val="006F95"/>
            </a:solidFill>
            <a:ln w="24937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19106" y="6871859"/>
            <a:ext cx="778621" cy="775849"/>
            <a:chOff x="0" y="0"/>
            <a:chExt cx="1038162" cy="1034466"/>
          </a:xfrm>
        </p:grpSpPr>
        <p:sp>
          <p:nvSpPr>
            <p:cNvPr id="25" name="Freeform 25" descr="image.jpg"/>
            <p:cNvSpPr/>
            <p:nvPr/>
          </p:nvSpPr>
          <p:spPr>
            <a:xfrm>
              <a:off x="0" y="0"/>
              <a:ext cx="1038225" cy="1034415"/>
            </a:xfrm>
            <a:custGeom>
              <a:avLst/>
              <a:gdLst/>
              <a:ahLst/>
              <a:cxnLst/>
              <a:rect l="l" t="t" r="r" b="b"/>
              <a:pathLst>
                <a:path w="1038225" h="1034415">
                  <a:moveTo>
                    <a:pt x="0" y="0"/>
                  </a:moveTo>
                  <a:lnTo>
                    <a:pt x="1038225" y="0"/>
                  </a:lnTo>
                  <a:lnTo>
                    <a:pt x="1038225" y="1034415"/>
                  </a:lnTo>
                  <a:lnTo>
                    <a:pt x="0" y="1034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78" r="6" b="-18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905313" y="138541"/>
            <a:ext cx="1299553" cy="1299553"/>
            <a:chOff x="0" y="0"/>
            <a:chExt cx="1732737" cy="1732737"/>
          </a:xfrm>
        </p:grpSpPr>
        <p:sp>
          <p:nvSpPr>
            <p:cNvPr id="27" name="Freeform 27" descr="image.jpg"/>
            <p:cNvSpPr/>
            <p:nvPr/>
          </p:nvSpPr>
          <p:spPr>
            <a:xfrm>
              <a:off x="0" y="0"/>
              <a:ext cx="1732788" cy="1732788"/>
            </a:xfrm>
            <a:custGeom>
              <a:avLst/>
              <a:gdLst/>
              <a:ahLst/>
              <a:cxnLst/>
              <a:rect l="l" t="t" r="r" b="b"/>
              <a:pathLst>
                <a:path w="1732788" h="1732788">
                  <a:moveTo>
                    <a:pt x="0" y="0"/>
                  </a:moveTo>
                  <a:lnTo>
                    <a:pt x="1732788" y="0"/>
                  </a:lnTo>
                  <a:lnTo>
                    <a:pt x="1732788" y="1732788"/>
                  </a:lnTo>
                  <a:lnTo>
                    <a:pt x="0" y="1732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2" b="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7324" y="781926"/>
            <a:ext cx="7053148" cy="961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Technologies Used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94536" y="2672763"/>
            <a:ext cx="4954448" cy="53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Game Engine &amp; VR Framework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94621" y="3325282"/>
            <a:ext cx="4607176" cy="85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Unity (C#) with OpenXR for cross- platform.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07082" y="2672763"/>
            <a:ext cx="3316519" cy="53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&amp; Analytics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07082" y="3325282"/>
            <a:ext cx="5180000" cy="85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(Flask, Pandas) for processing  telemetry data and session metrics.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94536" y="6055985"/>
            <a:ext cx="3900478" cy="53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Version Control &amp; CI/CD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94621" y="6708610"/>
            <a:ext cx="4673784" cy="855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Git, GitHub, and automated build  pipelines.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07082" y="6055985"/>
            <a:ext cx="2709405" cy="533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Hardware Target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07082" y="6708610"/>
            <a:ext cx="4106304" cy="459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VR Headset and AURA device.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060513" y="9561557"/>
            <a:ext cx="199549" cy="34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9980">
            <a:off x="2705681" y="3364230"/>
            <a:ext cx="12876628" cy="0"/>
          </a:xfrm>
          <a:prstGeom prst="line">
            <a:avLst/>
          </a:prstGeom>
          <a:ln w="38100" cap="rnd">
            <a:solidFill>
              <a:srgbClr val="66CC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2065715" y="2705795"/>
            <a:ext cx="1354969" cy="1354969"/>
            <a:chOff x="0" y="0"/>
            <a:chExt cx="1806626" cy="18066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06702" cy="1806702"/>
            </a:xfrm>
            <a:custGeom>
              <a:avLst/>
              <a:gdLst/>
              <a:ahLst/>
              <a:cxnLst/>
              <a:rect l="l" t="t" r="r" b="b"/>
              <a:pathLst>
                <a:path w="1806702" h="1806702">
                  <a:moveTo>
                    <a:pt x="0" y="903351"/>
                  </a:moveTo>
                  <a:cubicBezTo>
                    <a:pt x="0" y="404368"/>
                    <a:pt x="404368" y="0"/>
                    <a:pt x="903351" y="0"/>
                  </a:cubicBezTo>
                  <a:cubicBezTo>
                    <a:pt x="1402334" y="0"/>
                    <a:pt x="1806702" y="404368"/>
                    <a:pt x="1806702" y="903351"/>
                  </a:cubicBezTo>
                  <a:cubicBezTo>
                    <a:pt x="1806702" y="1402334"/>
                    <a:pt x="1402334" y="1806702"/>
                    <a:pt x="903351" y="1806702"/>
                  </a:cubicBezTo>
                  <a:cubicBezTo>
                    <a:pt x="404368" y="1806702"/>
                    <a:pt x="0" y="1402207"/>
                    <a:pt x="0" y="903351"/>
                  </a:cubicBezTo>
                  <a:close/>
                </a:path>
              </a:pathLst>
            </a:custGeom>
            <a:solidFill>
              <a:srgbClr val="006F95"/>
            </a:solidFill>
            <a:ln w="74814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0541" y="4558141"/>
            <a:ext cx="3779520" cy="4602480"/>
            <a:chOff x="0" y="0"/>
            <a:chExt cx="5039360" cy="6136640"/>
          </a:xfrm>
        </p:grpSpPr>
        <p:sp>
          <p:nvSpPr>
            <p:cNvPr id="6" name="Freeform 6" descr="image.jpg"/>
            <p:cNvSpPr/>
            <p:nvPr/>
          </p:nvSpPr>
          <p:spPr>
            <a:xfrm>
              <a:off x="0" y="0"/>
              <a:ext cx="5039360" cy="6136640"/>
            </a:xfrm>
            <a:custGeom>
              <a:avLst/>
              <a:gdLst/>
              <a:ahLst/>
              <a:cxnLst/>
              <a:rect l="l" t="t" r="r" b="b"/>
              <a:pathLst>
                <a:path w="5039360" h="6136640">
                  <a:moveTo>
                    <a:pt x="0" y="0"/>
                  </a:moveTo>
                  <a:lnTo>
                    <a:pt x="5039360" y="0"/>
                  </a:lnTo>
                  <a:lnTo>
                    <a:pt x="5039360" y="6136640"/>
                  </a:lnTo>
                  <a:lnTo>
                    <a:pt x="0" y="6136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0" b="-10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310741" y="2705795"/>
            <a:ext cx="1354969" cy="1354969"/>
            <a:chOff x="0" y="0"/>
            <a:chExt cx="1806626" cy="18066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06702" cy="1806702"/>
            </a:xfrm>
            <a:custGeom>
              <a:avLst/>
              <a:gdLst/>
              <a:ahLst/>
              <a:cxnLst/>
              <a:rect l="l" t="t" r="r" b="b"/>
              <a:pathLst>
                <a:path w="1806702" h="1806702">
                  <a:moveTo>
                    <a:pt x="0" y="903351"/>
                  </a:moveTo>
                  <a:cubicBezTo>
                    <a:pt x="0" y="404368"/>
                    <a:pt x="404368" y="0"/>
                    <a:pt x="903351" y="0"/>
                  </a:cubicBezTo>
                  <a:cubicBezTo>
                    <a:pt x="1402334" y="0"/>
                    <a:pt x="1806702" y="404368"/>
                    <a:pt x="1806702" y="903351"/>
                  </a:cubicBezTo>
                  <a:cubicBezTo>
                    <a:pt x="1806702" y="1402334"/>
                    <a:pt x="1402334" y="1806702"/>
                    <a:pt x="903351" y="1806702"/>
                  </a:cubicBezTo>
                  <a:cubicBezTo>
                    <a:pt x="404368" y="1806702"/>
                    <a:pt x="0" y="1402207"/>
                    <a:pt x="0" y="903351"/>
                  </a:cubicBezTo>
                  <a:close/>
                </a:path>
              </a:pathLst>
            </a:custGeom>
            <a:solidFill>
              <a:srgbClr val="006F95"/>
            </a:solidFill>
            <a:ln w="74814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40033" y="4558141"/>
            <a:ext cx="3785064" cy="4602480"/>
            <a:chOff x="0" y="0"/>
            <a:chExt cx="5046751" cy="6136640"/>
          </a:xfrm>
        </p:grpSpPr>
        <p:sp>
          <p:nvSpPr>
            <p:cNvPr id="10" name="Freeform 10" descr="image.jpg"/>
            <p:cNvSpPr/>
            <p:nvPr/>
          </p:nvSpPr>
          <p:spPr>
            <a:xfrm>
              <a:off x="0" y="0"/>
              <a:ext cx="5046726" cy="6136640"/>
            </a:xfrm>
            <a:custGeom>
              <a:avLst/>
              <a:gdLst/>
              <a:ahLst/>
              <a:cxnLst/>
              <a:rect l="l" t="t" r="r" b="b"/>
              <a:pathLst>
                <a:path w="5046726" h="6136640">
                  <a:moveTo>
                    <a:pt x="0" y="0"/>
                  </a:moveTo>
                  <a:lnTo>
                    <a:pt x="5046726" y="0"/>
                  </a:lnTo>
                  <a:lnTo>
                    <a:pt x="5046726" y="6136640"/>
                  </a:lnTo>
                  <a:lnTo>
                    <a:pt x="0" y="6136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" r="-16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553005" y="2705795"/>
            <a:ext cx="1354969" cy="1354969"/>
            <a:chOff x="0" y="0"/>
            <a:chExt cx="1806626" cy="18066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06702" cy="1806702"/>
            </a:xfrm>
            <a:custGeom>
              <a:avLst/>
              <a:gdLst/>
              <a:ahLst/>
              <a:cxnLst/>
              <a:rect l="l" t="t" r="r" b="b"/>
              <a:pathLst>
                <a:path w="1806702" h="1806702">
                  <a:moveTo>
                    <a:pt x="0" y="903351"/>
                  </a:moveTo>
                  <a:cubicBezTo>
                    <a:pt x="0" y="404368"/>
                    <a:pt x="404368" y="0"/>
                    <a:pt x="903351" y="0"/>
                  </a:cubicBezTo>
                  <a:cubicBezTo>
                    <a:pt x="1402334" y="0"/>
                    <a:pt x="1806702" y="404368"/>
                    <a:pt x="1806702" y="903351"/>
                  </a:cubicBezTo>
                  <a:cubicBezTo>
                    <a:pt x="1806702" y="1402334"/>
                    <a:pt x="1402334" y="1806702"/>
                    <a:pt x="903351" y="1806702"/>
                  </a:cubicBezTo>
                  <a:cubicBezTo>
                    <a:pt x="404368" y="1806702"/>
                    <a:pt x="0" y="1402207"/>
                    <a:pt x="0" y="903351"/>
                  </a:cubicBezTo>
                  <a:close/>
                </a:path>
              </a:pathLst>
            </a:custGeom>
            <a:solidFill>
              <a:srgbClr val="006F95"/>
            </a:solidFill>
            <a:ln w="74814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87840" y="4558141"/>
            <a:ext cx="3776748" cy="4602480"/>
            <a:chOff x="0" y="0"/>
            <a:chExt cx="5035664" cy="6136640"/>
          </a:xfrm>
        </p:grpSpPr>
        <p:sp>
          <p:nvSpPr>
            <p:cNvPr id="14" name="Freeform 14" descr="image.jpg"/>
            <p:cNvSpPr/>
            <p:nvPr/>
          </p:nvSpPr>
          <p:spPr>
            <a:xfrm>
              <a:off x="0" y="0"/>
              <a:ext cx="5035677" cy="6136640"/>
            </a:xfrm>
            <a:custGeom>
              <a:avLst/>
              <a:gdLst/>
              <a:ahLst/>
              <a:cxnLst/>
              <a:rect l="l" t="t" r="r" b="b"/>
              <a:pathLst>
                <a:path w="5035677" h="6136640">
                  <a:moveTo>
                    <a:pt x="0" y="0"/>
                  </a:moveTo>
                  <a:lnTo>
                    <a:pt x="5035677" y="0"/>
                  </a:lnTo>
                  <a:lnTo>
                    <a:pt x="5035677" y="6136640"/>
                  </a:lnTo>
                  <a:lnTo>
                    <a:pt x="0" y="6136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r="-25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795268" y="2705795"/>
            <a:ext cx="1354969" cy="1354969"/>
            <a:chOff x="0" y="0"/>
            <a:chExt cx="1806626" cy="18066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06702" cy="1806702"/>
            </a:xfrm>
            <a:custGeom>
              <a:avLst/>
              <a:gdLst/>
              <a:ahLst/>
              <a:cxnLst/>
              <a:rect l="l" t="t" r="r" b="b"/>
              <a:pathLst>
                <a:path w="1806702" h="1806702">
                  <a:moveTo>
                    <a:pt x="0" y="903351"/>
                  </a:moveTo>
                  <a:cubicBezTo>
                    <a:pt x="0" y="404368"/>
                    <a:pt x="404368" y="0"/>
                    <a:pt x="903351" y="0"/>
                  </a:cubicBezTo>
                  <a:cubicBezTo>
                    <a:pt x="1402334" y="0"/>
                    <a:pt x="1806702" y="404368"/>
                    <a:pt x="1806702" y="903351"/>
                  </a:cubicBezTo>
                  <a:cubicBezTo>
                    <a:pt x="1806702" y="1402334"/>
                    <a:pt x="1402334" y="1806702"/>
                    <a:pt x="903351" y="1806702"/>
                  </a:cubicBezTo>
                  <a:cubicBezTo>
                    <a:pt x="404368" y="1806702"/>
                    <a:pt x="0" y="1402207"/>
                    <a:pt x="0" y="903351"/>
                  </a:cubicBezTo>
                  <a:close/>
                </a:path>
              </a:pathLst>
            </a:custGeom>
            <a:solidFill>
              <a:srgbClr val="006F95"/>
            </a:solidFill>
            <a:ln w="74814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627332" y="4558141"/>
            <a:ext cx="3776748" cy="4602480"/>
            <a:chOff x="0" y="0"/>
            <a:chExt cx="5035664" cy="6136640"/>
          </a:xfrm>
        </p:grpSpPr>
        <p:sp>
          <p:nvSpPr>
            <p:cNvPr id="18" name="Freeform 18" descr="image.jpg"/>
            <p:cNvSpPr/>
            <p:nvPr/>
          </p:nvSpPr>
          <p:spPr>
            <a:xfrm>
              <a:off x="0" y="0"/>
              <a:ext cx="5035677" cy="6136640"/>
            </a:xfrm>
            <a:custGeom>
              <a:avLst/>
              <a:gdLst/>
              <a:ahLst/>
              <a:cxnLst/>
              <a:rect l="l" t="t" r="r" b="b"/>
              <a:pathLst>
                <a:path w="5035677" h="6136640">
                  <a:moveTo>
                    <a:pt x="0" y="0"/>
                  </a:moveTo>
                  <a:lnTo>
                    <a:pt x="5035677" y="0"/>
                  </a:lnTo>
                  <a:lnTo>
                    <a:pt x="5035677" y="6136640"/>
                  </a:lnTo>
                  <a:lnTo>
                    <a:pt x="0" y="6136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" r="-25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905313" y="138541"/>
            <a:ext cx="1299553" cy="1299553"/>
            <a:chOff x="0" y="0"/>
            <a:chExt cx="1732737" cy="1732737"/>
          </a:xfrm>
        </p:grpSpPr>
        <p:sp>
          <p:nvSpPr>
            <p:cNvPr id="20" name="Freeform 20" descr="image.jpg"/>
            <p:cNvSpPr/>
            <p:nvPr/>
          </p:nvSpPr>
          <p:spPr>
            <a:xfrm>
              <a:off x="0" y="0"/>
              <a:ext cx="1732788" cy="1732788"/>
            </a:xfrm>
            <a:custGeom>
              <a:avLst/>
              <a:gdLst/>
              <a:ahLst/>
              <a:cxnLst/>
              <a:rect l="l" t="t" r="r" b="b"/>
              <a:pathLst>
                <a:path w="1732788" h="1732788">
                  <a:moveTo>
                    <a:pt x="0" y="0"/>
                  </a:moveTo>
                  <a:lnTo>
                    <a:pt x="1732788" y="0"/>
                  </a:lnTo>
                  <a:lnTo>
                    <a:pt x="1732788" y="1732788"/>
                  </a:lnTo>
                  <a:lnTo>
                    <a:pt x="0" y="1732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17324" y="781926"/>
            <a:ext cx="6967871" cy="961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Development Plan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79703" y="3035951"/>
            <a:ext cx="403946" cy="66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1530" y="4774140"/>
            <a:ext cx="1379972" cy="56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8631" y="5426440"/>
            <a:ext cx="3642684" cy="253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 and  hardware  familiarization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Conceptual ideation,  prototyping, and  asset mapping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21919" y="3035951"/>
            <a:ext cx="403946" cy="66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33803" y="4774140"/>
            <a:ext cx="1379982" cy="56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64126" y="3035951"/>
            <a:ext cx="403946" cy="66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75876" y="4774140"/>
            <a:ext cx="1379972" cy="56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309342" y="3035951"/>
            <a:ext cx="403946" cy="66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sz="435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920883" y="4774140"/>
            <a:ext cx="1379972" cy="56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060513" y="9561557"/>
            <a:ext cx="199549" cy="34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50875" y="5426440"/>
            <a:ext cx="3587153" cy="3355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Development and  building of the core  Virtual Reality scene  and UI components  in Unity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Initial signal  acquisition testing  and validation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93110" y="5426440"/>
            <a:ext cx="3309709" cy="3355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End-to-end  integration testing  between the VR  environment,  Python processing  pipeline, and Data  Management  System.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738184" y="5426440"/>
            <a:ext cx="3580200" cy="253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Preparation and  execution of live,  real-time interactive  demonstrations of  the neuroadaptive  platform.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2103120"/>
            <a:ext cx="16459200" cy="587435"/>
            <a:chOff x="0" y="0"/>
            <a:chExt cx="21945600" cy="7832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783209"/>
            </a:xfrm>
            <a:custGeom>
              <a:avLst/>
              <a:gdLst/>
              <a:ahLst/>
              <a:cxnLst/>
              <a:rect l="l" t="t" r="r" b="b"/>
              <a:pathLst>
                <a:path w="21945600" h="783209">
                  <a:moveTo>
                    <a:pt x="0" y="195834"/>
                  </a:moveTo>
                  <a:cubicBezTo>
                    <a:pt x="0" y="87630"/>
                    <a:pt x="87630" y="0"/>
                    <a:pt x="195834" y="0"/>
                  </a:cubicBezTo>
                  <a:lnTo>
                    <a:pt x="21749765" y="0"/>
                  </a:lnTo>
                  <a:cubicBezTo>
                    <a:pt x="21857970" y="0"/>
                    <a:pt x="21945600" y="87630"/>
                    <a:pt x="21945600" y="195834"/>
                  </a:cubicBezTo>
                  <a:lnTo>
                    <a:pt x="21945600" y="587375"/>
                  </a:lnTo>
                  <a:cubicBezTo>
                    <a:pt x="21945600" y="695579"/>
                    <a:pt x="21857970" y="783209"/>
                    <a:pt x="21749765" y="783209"/>
                  </a:cubicBezTo>
                  <a:lnTo>
                    <a:pt x="195834" y="783209"/>
                  </a:lnTo>
                  <a:cubicBezTo>
                    <a:pt x="87630" y="783209"/>
                    <a:pt x="0" y="695579"/>
                    <a:pt x="0" y="587375"/>
                  </a:cubicBezTo>
                  <a:close/>
                </a:path>
              </a:pathLst>
            </a:custGeom>
            <a:solidFill>
              <a:srgbClr val="006F9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8856" y="2826325"/>
            <a:ext cx="16473049" cy="1482433"/>
            <a:chOff x="0" y="0"/>
            <a:chExt cx="21964066" cy="1976577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21964014" cy="1976628"/>
            </a:xfrm>
            <a:custGeom>
              <a:avLst/>
              <a:gdLst/>
              <a:ahLst/>
              <a:cxnLst/>
              <a:rect l="l" t="t" r="r" b="b"/>
              <a:pathLst>
                <a:path w="21964014" h="1976628">
                  <a:moveTo>
                    <a:pt x="0" y="0"/>
                  </a:moveTo>
                  <a:lnTo>
                    <a:pt x="21964014" y="0"/>
                  </a:lnTo>
                  <a:lnTo>
                    <a:pt x="21964014" y="1976628"/>
                  </a:lnTo>
                  <a:lnTo>
                    <a:pt x="0" y="197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6" r="-46" b="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8856" y="5752405"/>
            <a:ext cx="16473049" cy="1479661"/>
            <a:chOff x="0" y="0"/>
            <a:chExt cx="21964066" cy="1972882"/>
          </a:xfrm>
        </p:grpSpPr>
        <p:sp>
          <p:nvSpPr>
            <p:cNvPr id="7" name="Freeform 7" descr="image.jpg"/>
            <p:cNvSpPr/>
            <p:nvPr/>
          </p:nvSpPr>
          <p:spPr>
            <a:xfrm>
              <a:off x="0" y="0"/>
              <a:ext cx="21964014" cy="1972945"/>
            </a:xfrm>
            <a:custGeom>
              <a:avLst/>
              <a:gdLst/>
              <a:ahLst/>
              <a:cxnLst/>
              <a:rect l="l" t="t" r="r" b="b"/>
              <a:pathLst>
                <a:path w="21964014" h="1972945">
                  <a:moveTo>
                    <a:pt x="0" y="0"/>
                  </a:moveTo>
                  <a:lnTo>
                    <a:pt x="21964014" y="0"/>
                  </a:lnTo>
                  <a:lnTo>
                    <a:pt x="21964014" y="1972945"/>
                  </a:lnTo>
                  <a:lnTo>
                    <a:pt x="0" y="1972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6" b="-4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89224" y="2834640"/>
            <a:ext cx="11087" cy="673332"/>
            <a:chOff x="0" y="0"/>
            <a:chExt cx="14783" cy="8977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89224" y="3546767"/>
            <a:ext cx="11087" cy="673332"/>
            <a:chOff x="0" y="0"/>
            <a:chExt cx="14783" cy="8977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89224" y="4258885"/>
            <a:ext cx="11087" cy="673332"/>
            <a:chOff x="0" y="0"/>
            <a:chExt cx="14783" cy="8977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732" cy="897763"/>
            </a:xfrm>
            <a:custGeom>
              <a:avLst/>
              <a:gdLst/>
              <a:ahLst/>
              <a:cxnLst/>
              <a:rect l="l" t="t" r="r" b="b"/>
              <a:pathLst>
                <a:path w="14732" h="897763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1185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4732" y="591185"/>
                  </a:lnTo>
                  <a:moveTo>
                    <a:pt x="14732" y="709422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4732" y="709295"/>
                  </a:lnTo>
                  <a:moveTo>
                    <a:pt x="14732" y="827532"/>
                  </a:moveTo>
                  <a:lnTo>
                    <a:pt x="14732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4732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89224" y="4968240"/>
            <a:ext cx="11087" cy="673332"/>
            <a:chOff x="0" y="0"/>
            <a:chExt cx="14783" cy="8977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89224" y="5680367"/>
            <a:ext cx="11087" cy="673332"/>
            <a:chOff x="0" y="0"/>
            <a:chExt cx="14783" cy="8977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589224" y="6392485"/>
            <a:ext cx="11087" cy="673332"/>
            <a:chOff x="0" y="0"/>
            <a:chExt cx="14783" cy="8977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732" cy="897763"/>
            </a:xfrm>
            <a:custGeom>
              <a:avLst/>
              <a:gdLst/>
              <a:ahLst/>
              <a:cxnLst/>
              <a:rect l="l" t="t" r="r" b="b"/>
              <a:pathLst>
                <a:path w="14732" h="897763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1185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4732" y="591185"/>
                  </a:lnTo>
                  <a:moveTo>
                    <a:pt x="14732" y="709422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4732" y="709295"/>
                  </a:lnTo>
                  <a:moveTo>
                    <a:pt x="14732" y="827532"/>
                  </a:moveTo>
                  <a:lnTo>
                    <a:pt x="14732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4732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89224" y="7101840"/>
            <a:ext cx="11087" cy="673332"/>
            <a:chOff x="0" y="0"/>
            <a:chExt cx="14783" cy="8977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89224" y="7813967"/>
            <a:ext cx="11087" cy="850668"/>
            <a:chOff x="0" y="0"/>
            <a:chExt cx="14783" cy="113422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732" cy="1134237"/>
            </a:xfrm>
            <a:custGeom>
              <a:avLst/>
              <a:gdLst/>
              <a:ahLst/>
              <a:cxnLst/>
              <a:rect l="l" t="t" r="r" b="b"/>
              <a:pathLst>
                <a:path w="14732" h="1134237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  <a:moveTo>
                    <a:pt x="14732" y="949452"/>
                  </a:moveTo>
                  <a:lnTo>
                    <a:pt x="14732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4732" y="949452"/>
                  </a:lnTo>
                  <a:moveTo>
                    <a:pt x="14732" y="1067689"/>
                  </a:moveTo>
                  <a:lnTo>
                    <a:pt x="14732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4732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67355" y="2834640"/>
            <a:ext cx="13849" cy="673332"/>
            <a:chOff x="0" y="0"/>
            <a:chExt cx="18466" cy="8977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567355" y="3546767"/>
            <a:ext cx="13849" cy="673332"/>
            <a:chOff x="0" y="0"/>
            <a:chExt cx="18466" cy="8977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67355" y="4258885"/>
            <a:ext cx="13849" cy="673332"/>
            <a:chOff x="0" y="0"/>
            <a:chExt cx="18466" cy="89777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67355" y="4968240"/>
            <a:ext cx="13849" cy="673332"/>
            <a:chOff x="0" y="0"/>
            <a:chExt cx="18466" cy="89777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67355" y="5680367"/>
            <a:ext cx="13849" cy="673332"/>
            <a:chOff x="0" y="0"/>
            <a:chExt cx="18466" cy="8977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67355" y="6392485"/>
            <a:ext cx="13849" cy="673332"/>
            <a:chOff x="0" y="0"/>
            <a:chExt cx="18466" cy="89777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67355" y="7101840"/>
            <a:ext cx="13849" cy="673332"/>
            <a:chOff x="0" y="0"/>
            <a:chExt cx="18466" cy="89777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567355" y="7813967"/>
            <a:ext cx="13849" cy="850668"/>
            <a:chOff x="0" y="0"/>
            <a:chExt cx="18466" cy="113422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8415" cy="1134237"/>
            </a:xfrm>
            <a:custGeom>
              <a:avLst/>
              <a:gdLst/>
              <a:ahLst/>
              <a:cxnLst/>
              <a:rect l="l" t="t" r="r" b="b"/>
              <a:pathLst>
                <a:path w="18415" h="1134237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  <a:moveTo>
                    <a:pt x="18415" y="949452"/>
                  </a:moveTo>
                  <a:lnTo>
                    <a:pt x="18415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8415" y="949452"/>
                  </a:lnTo>
                  <a:moveTo>
                    <a:pt x="18415" y="1067689"/>
                  </a:moveTo>
                  <a:lnTo>
                    <a:pt x="18415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8415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548249" y="2834640"/>
            <a:ext cx="13849" cy="673332"/>
            <a:chOff x="0" y="0"/>
            <a:chExt cx="18466" cy="89777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548249" y="3546767"/>
            <a:ext cx="13849" cy="673332"/>
            <a:chOff x="0" y="0"/>
            <a:chExt cx="18466" cy="89777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548249" y="4258885"/>
            <a:ext cx="13849" cy="673332"/>
            <a:chOff x="0" y="0"/>
            <a:chExt cx="18466" cy="89777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548249" y="4968240"/>
            <a:ext cx="13849" cy="673332"/>
            <a:chOff x="0" y="0"/>
            <a:chExt cx="18466" cy="89777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548249" y="5680367"/>
            <a:ext cx="13849" cy="673332"/>
            <a:chOff x="0" y="0"/>
            <a:chExt cx="18466" cy="89777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548249" y="6392485"/>
            <a:ext cx="13849" cy="673332"/>
            <a:chOff x="0" y="0"/>
            <a:chExt cx="18466" cy="89777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548249" y="7101840"/>
            <a:ext cx="13849" cy="673332"/>
            <a:chOff x="0" y="0"/>
            <a:chExt cx="18466" cy="89777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548249" y="7813967"/>
            <a:ext cx="13849" cy="850668"/>
            <a:chOff x="0" y="0"/>
            <a:chExt cx="18466" cy="113422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8415" cy="1134237"/>
            </a:xfrm>
            <a:custGeom>
              <a:avLst/>
              <a:gdLst/>
              <a:ahLst/>
              <a:cxnLst/>
              <a:rect l="l" t="t" r="r" b="b"/>
              <a:pathLst>
                <a:path w="18415" h="1134237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  <a:moveTo>
                    <a:pt x="18415" y="949452"/>
                  </a:moveTo>
                  <a:lnTo>
                    <a:pt x="18415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8415" y="949452"/>
                  </a:lnTo>
                  <a:moveTo>
                    <a:pt x="18415" y="1067689"/>
                  </a:moveTo>
                  <a:lnTo>
                    <a:pt x="18415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8415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29153" y="2834640"/>
            <a:ext cx="11087" cy="673332"/>
            <a:chOff x="0" y="0"/>
            <a:chExt cx="14783" cy="89777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529153" y="3546767"/>
            <a:ext cx="11087" cy="673332"/>
            <a:chOff x="0" y="0"/>
            <a:chExt cx="14783" cy="89777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529153" y="4258885"/>
            <a:ext cx="11087" cy="673332"/>
            <a:chOff x="0" y="0"/>
            <a:chExt cx="14783" cy="89777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732" cy="897763"/>
            </a:xfrm>
            <a:custGeom>
              <a:avLst/>
              <a:gdLst/>
              <a:ahLst/>
              <a:cxnLst/>
              <a:rect l="l" t="t" r="r" b="b"/>
              <a:pathLst>
                <a:path w="14732" h="897763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1185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4732" y="591185"/>
                  </a:lnTo>
                  <a:moveTo>
                    <a:pt x="14732" y="709422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4732" y="709295"/>
                  </a:lnTo>
                  <a:moveTo>
                    <a:pt x="14732" y="827532"/>
                  </a:moveTo>
                  <a:lnTo>
                    <a:pt x="14732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4732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529153" y="4968240"/>
            <a:ext cx="11087" cy="673332"/>
            <a:chOff x="0" y="0"/>
            <a:chExt cx="14783" cy="89777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529153" y="5680367"/>
            <a:ext cx="11087" cy="673332"/>
            <a:chOff x="0" y="0"/>
            <a:chExt cx="14783" cy="89777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529153" y="6392485"/>
            <a:ext cx="11087" cy="673332"/>
            <a:chOff x="0" y="0"/>
            <a:chExt cx="14783" cy="89777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4732" cy="897763"/>
            </a:xfrm>
            <a:custGeom>
              <a:avLst/>
              <a:gdLst/>
              <a:ahLst/>
              <a:cxnLst/>
              <a:rect l="l" t="t" r="r" b="b"/>
              <a:pathLst>
                <a:path w="14732" h="897763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1185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4732" y="591185"/>
                  </a:lnTo>
                  <a:moveTo>
                    <a:pt x="14732" y="709422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4732" y="709295"/>
                  </a:lnTo>
                  <a:moveTo>
                    <a:pt x="14732" y="827532"/>
                  </a:moveTo>
                  <a:lnTo>
                    <a:pt x="14732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4732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529153" y="7101840"/>
            <a:ext cx="11087" cy="673332"/>
            <a:chOff x="0" y="0"/>
            <a:chExt cx="14783" cy="89777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529153" y="7813967"/>
            <a:ext cx="11087" cy="850668"/>
            <a:chOff x="0" y="0"/>
            <a:chExt cx="14783" cy="113422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4732" cy="1134237"/>
            </a:xfrm>
            <a:custGeom>
              <a:avLst/>
              <a:gdLst/>
              <a:ahLst/>
              <a:cxnLst/>
              <a:rect l="l" t="t" r="r" b="b"/>
              <a:pathLst>
                <a:path w="14732" h="1134237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  <a:moveTo>
                    <a:pt x="14732" y="949452"/>
                  </a:moveTo>
                  <a:lnTo>
                    <a:pt x="14732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4732" y="949452"/>
                  </a:lnTo>
                  <a:moveTo>
                    <a:pt x="14732" y="1067689"/>
                  </a:moveTo>
                  <a:lnTo>
                    <a:pt x="14732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4732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507285" y="2834640"/>
            <a:ext cx="13849" cy="673332"/>
            <a:chOff x="0" y="0"/>
            <a:chExt cx="18466" cy="89777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507285" y="3546767"/>
            <a:ext cx="13849" cy="673332"/>
            <a:chOff x="0" y="0"/>
            <a:chExt cx="18466" cy="89777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507285" y="4258885"/>
            <a:ext cx="13849" cy="673332"/>
            <a:chOff x="0" y="0"/>
            <a:chExt cx="18466" cy="89777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507285" y="4968240"/>
            <a:ext cx="13849" cy="673332"/>
            <a:chOff x="0" y="0"/>
            <a:chExt cx="18466" cy="89777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507285" y="5680367"/>
            <a:ext cx="13849" cy="673332"/>
            <a:chOff x="0" y="0"/>
            <a:chExt cx="18466" cy="89777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0507285" y="6392485"/>
            <a:ext cx="13849" cy="673332"/>
            <a:chOff x="0" y="0"/>
            <a:chExt cx="18466" cy="89777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507285" y="7101840"/>
            <a:ext cx="13849" cy="673332"/>
            <a:chOff x="0" y="0"/>
            <a:chExt cx="18466" cy="89777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507285" y="7813967"/>
            <a:ext cx="13849" cy="850668"/>
            <a:chOff x="0" y="0"/>
            <a:chExt cx="18466" cy="113422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8415" cy="1134237"/>
            </a:xfrm>
            <a:custGeom>
              <a:avLst/>
              <a:gdLst/>
              <a:ahLst/>
              <a:cxnLst/>
              <a:rect l="l" t="t" r="r" b="b"/>
              <a:pathLst>
                <a:path w="18415" h="1134237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  <a:moveTo>
                    <a:pt x="18415" y="949452"/>
                  </a:moveTo>
                  <a:lnTo>
                    <a:pt x="18415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8415" y="949452"/>
                  </a:lnTo>
                  <a:moveTo>
                    <a:pt x="18415" y="1067689"/>
                  </a:moveTo>
                  <a:lnTo>
                    <a:pt x="18415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8415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1488188" y="2834640"/>
            <a:ext cx="13849" cy="673332"/>
            <a:chOff x="0" y="0"/>
            <a:chExt cx="18466" cy="89777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1488188" y="3546767"/>
            <a:ext cx="13849" cy="673332"/>
            <a:chOff x="0" y="0"/>
            <a:chExt cx="18466" cy="897776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1488188" y="4258885"/>
            <a:ext cx="13849" cy="673332"/>
            <a:chOff x="0" y="0"/>
            <a:chExt cx="18466" cy="89777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488188" y="4968240"/>
            <a:ext cx="13849" cy="673332"/>
            <a:chOff x="0" y="0"/>
            <a:chExt cx="18466" cy="89777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1488188" y="5680367"/>
            <a:ext cx="13849" cy="673332"/>
            <a:chOff x="0" y="0"/>
            <a:chExt cx="18466" cy="897776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1488188" y="6392485"/>
            <a:ext cx="13849" cy="673332"/>
            <a:chOff x="0" y="0"/>
            <a:chExt cx="18466" cy="897776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1488188" y="7101840"/>
            <a:ext cx="13849" cy="673332"/>
            <a:chOff x="0" y="0"/>
            <a:chExt cx="18466" cy="897776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1488188" y="7813967"/>
            <a:ext cx="13849" cy="850668"/>
            <a:chOff x="0" y="0"/>
            <a:chExt cx="18466" cy="1134224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8415" cy="1134237"/>
            </a:xfrm>
            <a:custGeom>
              <a:avLst/>
              <a:gdLst/>
              <a:ahLst/>
              <a:cxnLst/>
              <a:rect l="l" t="t" r="r" b="b"/>
              <a:pathLst>
                <a:path w="18415" h="1134237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  <a:moveTo>
                    <a:pt x="18415" y="949452"/>
                  </a:moveTo>
                  <a:lnTo>
                    <a:pt x="18415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8415" y="949452"/>
                  </a:lnTo>
                  <a:moveTo>
                    <a:pt x="18415" y="1067689"/>
                  </a:moveTo>
                  <a:lnTo>
                    <a:pt x="18415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8415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2469092" y="2834640"/>
            <a:ext cx="11087" cy="673332"/>
            <a:chOff x="0" y="0"/>
            <a:chExt cx="14783" cy="89777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2469092" y="3546767"/>
            <a:ext cx="11087" cy="673332"/>
            <a:chOff x="0" y="0"/>
            <a:chExt cx="14783" cy="897776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2469092" y="4258885"/>
            <a:ext cx="11087" cy="673332"/>
            <a:chOff x="0" y="0"/>
            <a:chExt cx="14783" cy="897776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4732" cy="897763"/>
            </a:xfrm>
            <a:custGeom>
              <a:avLst/>
              <a:gdLst/>
              <a:ahLst/>
              <a:cxnLst/>
              <a:rect l="l" t="t" r="r" b="b"/>
              <a:pathLst>
                <a:path w="14732" h="897763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1185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4732" y="591185"/>
                  </a:lnTo>
                  <a:moveTo>
                    <a:pt x="14732" y="709422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4732" y="709295"/>
                  </a:lnTo>
                  <a:moveTo>
                    <a:pt x="14732" y="827532"/>
                  </a:moveTo>
                  <a:lnTo>
                    <a:pt x="14732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4732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2469092" y="4968240"/>
            <a:ext cx="11087" cy="673332"/>
            <a:chOff x="0" y="0"/>
            <a:chExt cx="14783" cy="897776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2469092" y="5680367"/>
            <a:ext cx="11087" cy="673332"/>
            <a:chOff x="0" y="0"/>
            <a:chExt cx="14783" cy="897776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2469092" y="6392485"/>
            <a:ext cx="11087" cy="673332"/>
            <a:chOff x="0" y="0"/>
            <a:chExt cx="14783" cy="897776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4732" cy="897763"/>
            </a:xfrm>
            <a:custGeom>
              <a:avLst/>
              <a:gdLst/>
              <a:ahLst/>
              <a:cxnLst/>
              <a:rect l="l" t="t" r="r" b="b"/>
              <a:pathLst>
                <a:path w="14732" h="897763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1185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4732" y="591185"/>
                  </a:lnTo>
                  <a:moveTo>
                    <a:pt x="14732" y="709422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4732" y="709295"/>
                  </a:lnTo>
                  <a:moveTo>
                    <a:pt x="14732" y="827532"/>
                  </a:moveTo>
                  <a:lnTo>
                    <a:pt x="14732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4732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2469092" y="7101840"/>
            <a:ext cx="11087" cy="673332"/>
            <a:chOff x="0" y="0"/>
            <a:chExt cx="14783" cy="897776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2469092" y="7813967"/>
            <a:ext cx="11087" cy="850668"/>
            <a:chOff x="0" y="0"/>
            <a:chExt cx="14783" cy="1134224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4732" cy="1134237"/>
            </a:xfrm>
            <a:custGeom>
              <a:avLst/>
              <a:gdLst/>
              <a:ahLst/>
              <a:cxnLst/>
              <a:rect l="l" t="t" r="r" b="b"/>
              <a:pathLst>
                <a:path w="14732" h="1134237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  <a:moveTo>
                    <a:pt x="14732" y="949452"/>
                  </a:moveTo>
                  <a:lnTo>
                    <a:pt x="14732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4732" y="949452"/>
                  </a:lnTo>
                  <a:moveTo>
                    <a:pt x="14732" y="1067689"/>
                  </a:moveTo>
                  <a:lnTo>
                    <a:pt x="14732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4732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3447224" y="2834640"/>
            <a:ext cx="13849" cy="673332"/>
            <a:chOff x="0" y="0"/>
            <a:chExt cx="18466" cy="897776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3447224" y="3546767"/>
            <a:ext cx="13849" cy="673332"/>
            <a:chOff x="0" y="0"/>
            <a:chExt cx="18466" cy="897776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3447224" y="4258885"/>
            <a:ext cx="13849" cy="673332"/>
            <a:chOff x="0" y="0"/>
            <a:chExt cx="18466" cy="897776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3447224" y="4968240"/>
            <a:ext cx="13849" cy="673332"/>
            <a:chOff x="0" y="0"/>
            <a:chExt cx="18466" cy="897776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3447224" y="5680367"/>
            <a:ext cx="13849" cy="673332"/>
            <a:chOff x="0" y="0"/>
            <a:chExt cx="18466" cy="897776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3447224" y="6392485"/>
            <a:ext cx="13849" cy="673332"/>
            <a:chOff x="0" y="0"/>
            <a:chExt cx="18466" cy="897776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13447224" y="7101840"/>
            <a:ext cx="13849" cy="673332"/>
            <a:chOff x="0" y="0"/>
            <a:chExt cx="18466" cy="897776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3447224" y="7813967"/>
            <a:ext cx="13849" cy="850668"/>
            <a:chOff x="0" y="0"/>
            <a:chExt cx="18466" cy="1134224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18415" cy="1134237"/>
            </a:xfrm>
            <a:custGeom>
              <a:avLst/>
              <a:gdLst/>
              <a:ahLst/>
              <a:cxnLst/>
              <a:rect l="l" t="t" r="r" b="b"/>
              <a:pathLst>
                <a:path w="18415" h="1134237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  <a:moveTo>
                    <a:pt x="18415" y="949452"/>
                  </a:moveTo>
                  <a:lnTo>
                    <a:pt x="18415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8415" y="949452"/>
                  </a:lnTo>
                  <a:moveTo>
                    <a:pt x="18415" y="1067689"/>
                  </a:moveTo>
                  <a:lnTo>
                    <a:pt x="18415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8415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14428127" y="2834640"/>
            <a:ext cx="13849" cy="673332"/>
            <a:chOff x="0" y="0"/>
            <a:chExt cx="18466" cy="897776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14428127" y="3546767"/>
            <a:ext cx="13849" cy="673332"/>
            <a:chOff x="0" y="0"/>
            <a:chExt cx="18466" cy="897776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14428127" y="4258885"/>
            <a:ext cx="13849" cy="673332"/>
            <a:chOff x="0" y="0"/>
            <a:chExt cx="18466" cy="897776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4428127" y="4968240"/>
            <a:ext cx="13849" cy="673332"/>
            <a:chOff x="0" y="0"/>
            <a:chExt cx="18466" cy="897776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14428127" y="5680367"/>
            <a:ext cx="13849" cy="673332"/>
            <a:chOff x="0" y="0"/>
            <a:chExt cx="18466" cy="897776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4428127" y="6392485"/>
            <a:ext cx="13849" cy="673332"/>
            <a:chOff x="0" y="0"/>
            <a:chExt cx="18466" cy="897776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14428127" y="7101840"/>
            <a:ext cx="13849" cy="673332"/>
            <a:chOff x="0" y="0"/>
            <a:chExt cx="18466" cy="897776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14428127" y="7813967"/>
            <a:ext cx="13849" cy="850668"/>
            <a:chOff x="0" y="0"/>
            <a:chExt cx="18466" cy="1134224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18415" cy="1134237"/>
            </a:xfrm>
            <a:custGeom>
              <a:avLst/>
              <a:gdLst/>
              <a:ahLst/>
              <a:cxnLst/>
              <a:rect l="l" t="t" r="r" b="b"/>
              <a:pathLst>
                <a:path w="18415" h="1134237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  <a:moveTo>
                    <a:pt x="18415" y="949452"/>
                  </a:moveTo>
                  <a:lnTo>
                    <a:pt x="18415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8415" y="949452"/>
                  </a:lnTo>
                  <a:moveTo>
                    <a:pt x="18415" y="1067689"/>
                  </a:moveTo>
                  <a:lnTo>
                    <a:pt x="18415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8415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15409031" y="2834640"/>
            <a:ext cx="11087" cy="673332"/>
            <a:chOff x="0" y="0"/>
            <a:chExt cx="14783" cy="897776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15409031" y="3546767"/>
            <a:ext cx="11087" cy="673332"/>
            <a:chOff x="0" y="0"/>
            <a:chExt cx="14783" cy="897776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6" name="Group 156"/>
          <p:cNvGrpSpPr/>
          <p:nvPr/>
        </p:nvGrpSpPr>
        <p:grpSpPr>
          <a:xfrm>
            <a:off x="15409031" y="4258885"/>
            <a:ext cx="11087" cy="673332"/>
            <a:chOff x="0" y="0"/>
            <a:chExt cx="14783" cy="897776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14732" cy="897763"/>
            </a:xfrm>
            <a:custGeom>
              <a:avLst/>
              <a:gdLst/>
              <a:ahLst/>
              <a:cxnLst/>
              <a:rect l="l" t="t" r="r" b="b"/>
              <a:pathLst>
                <a:path w="14732" h="897763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1185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4732" y="591185"/>
                  </a:lnTo>
                  <a:moveTo>
                    <a:pt x="14732" y="709422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4732" y="709295"/>
                  </a:lnTo>
                  <a:moveTo>
                    <a:pt x="14732" y="827532"/>
                  </a:moveTo>
                  <a:lnTo>
                    <a:pt x="14732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4732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15409031" y="4968240"/>
            <a:ext cx="11087" cy="673332"/>
            <a:chOff x="0" y="0"/>
            <a:chExt cx="14783" cy="897776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0" name="Group 160"/>
          <p:cNvGrpSpPr/>
          <p:nvPr/>
        </p:nvGrpSpPr>
        <p:grpSpPr>
          <a:xfrm>
            <a:off x="15409031" y="5680367"/>
            <a:ext cx="11087" cy="673332"/>
            <a:chOff x="0" y="0"/>
            <a:chExt cx="14783" cy="897776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2" name="Group 162"/>
          <p:cNvGrpSpPr/>
          <p:nvPr/>
        </p:nvGrpSpPr>
        <p:grpSpPr>
          <a:xfrm>
            <a:off x="15409031" y="6392485"/>
            <a:ext cx="11087" cy="673332"/>
            <a:chOff x="0" y="0"/>
            <a:chExt cx="14783" cy="897776"/>
          </a:xfrm>
        </p:grpSpPr>
        <p:sp>
          <p:nvSpPr>
            <p:cNvPr id="163" name="Freeform 163"/>
            <p:cNvSpPr/>
            <p:nvPr/>
          </p:nvSpPr>
          <p:spPr>
            <a:xfrm>
              <a:off x="0" y="0"/>
              <a:ext cx="14732" cy="897763"/>
            </a:xfrm>
            <a:custGeom>
              <a:avLst/>
              <a:gdLst/>
              <a:ahLst/>
              <a:cxnLst/>
              <a:rect l="l" t="t" r="r" b="b"/>
              <a:pathLst>
                <a:path w="14732" h="897763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1185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4732" y="591185"/>
                  </a:lnTo>
                  <a:moveTo>
                    <a:pt x="14732" y="709422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4732" y="709295"/>
                  </a:lnTo>
                  <a:moveTo>
                    <a:pt x="14732" y="827532"/>
                  </a:moveTo>
                  <a:lnTo>
                    <a:pt x="14732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4732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4" name="Group 164"/>
          <p:cNvGrpSpPr/>
          <p:nvPr/>
        </p:nvGrpSpPr>
        <p:grpSpPr>
          <a:xfrm>
            <a:off x="15409031" y="7101840"/>
            <a:ext cx="11087" cy="673332"/>
            <a:chOff x="0" y="0"/>
            <a:chExt cx="14783" cy="897776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6" name="Group 166"/>
          <p:cNvGrpSpPr/>
          <p:nvPr/>
        </p:nvGrpSpPr>
        <p:grpSpPr>
          <a:xfrm>
            <a:off x="15409031" y="7813967"/>
            <a:ext cx="11087" cy="850668"/>
            <a:chOff x="0" y="0"/>
            <a:chExt cx="14783" cy="1134224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14732" cy="1134237"/>
            </a:xfrm>
            <a:custGeom>
              <a:avLst/>
              <a:gdLst/>
              <a:ahLst/>
              <a:cxnLst/>
              <a:rect l="l" t="t" r="r" b="b"/>
              <a:pathLst>
                <a:path w="14732" h="1134237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  <a:moveTo>
                    <a:pt x="14732" y="949452"/>
                  </a:moveTo>
                  <a:lnTo>
                    <a:pt x="14732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4732" y="949452"/>
                  </a:lnTo>
                  <a:moveTo>
                    <a:pt x="14732" y="1067689"/>
                  </a:moveTo>
                  <a:lnTo>
                    <a:pt x="14732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4732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16389925" y="2834640"/>
            <a:ext cx="11087" cy="673332"/>
            <a:chOff x="0" y="0"/>
            <a:chExt cx="14783" cy="897776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16389925" y="3546767"/>
            <a:ext cx="11087" cy="673332"/>
            <a:chOff x="0" y="0"/>
            <a:chExt cx="14783" cy="897776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16389925" y="4258885"/>
            <a:ext cx="11087" cy="673332"/>
            <a:chOff x="0" y="0"/>
            <a:chExt cx="14783" cy="897776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14732" cy="897763"/>
            </a:xfrm>
            <a:custGeom>
              <a:avLst/>
              <a:gdLst/>
              <a:ahLst/>
              <a:cxnLst/>
              <a:rect l="l" t="t" r="r" b="b"/>
              <a:pathLst>
                <a:path w="14732" h="897763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1185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4732" y="591185"/>
                  </a:lnTo>
                  <a:moveTo>
                    <a:pt x="14732" y="709422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4732" y="709295"/>
                  </a:lnTo>
                  <a:moveTo>
                    <a:pt x="14732" y="827532"/>
                  </a:moveTo>
                  <a:lnTo>
                    <a:pt x="14732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4732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16389925" y="4968240"/>
            <a:ext cx="11087" cy="673332"/>
            <a:chOff x="0" y="0"/>
            <a:chExt cx="14783" cy="897776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16389925" y="5680367"/>
            <a:ext cx="11087" cy="673332"/>
            <a:chOff x="0" y="0"/>
            <a:chExt cx="14783" cy="897776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78" name="Group 178"/>
          <p:cNvGrpSpPr/>
          <p:nvPr/>
        </p:nvGrpSpPr>
        <p:grpSpPr>
          <a:xfrm>
            <a:off x="16389925" y="6392485"/>
            <a:ext cx="11087" cy="673332"/>
            <a:chOff x="0" y="0"/>
            <a:chExt cx="14783" cy="897776"/>
          </a:xfrm>
        </p:grpSpPr>
        <p:sp>
          <p:nvSpPr>
            <p:cNvPr id="179" name="Freeform 179"/>
            <p:cNvSpPr/>
            <p:nvPr/>
          </p:nvSpPr>
          <p:spPr>
            <a:xfrm>
              <a:off x="0" y="0"/>
              <a:ext cx="14732" cy="897763"/>
            </a:xfrm>
            <a:custGeom>
              <a:avLst/>
              <a:gdLst/>
              <a:ahLst/>
              <a:cxnLst/>
              <a:rect l="l" t="t" r="r" b="b"/>
              <a:pathLst>
                <a:path w="14732" h="897763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1185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4732" y="591185"/>
                  </a:lnTo>
                  <a:moveTo>
                    <a:pt x="14732" y="709422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4732" y="709295"/>
                  </a:lnTo>
                  <a:moveTo>
                    <a:pt x="14732" y="827532"/>
                  </a:moveTo>
                  <a:lnTo>
                    <a:pt x="14732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4732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0" name="Group 180"/>
          <p:cNvGrpSpPr/>
          <p:nvPr/>
        </p:nvGrpSpPr>
        <p:grpSpPr>
          <a:xfrm>
            <a:off x="16389925" y="7101840"/>
            <a:ext cx="11087" cy="673332"/>
            <a:chOff x="0" y="0"/>
            <a:chExt cx="14783" cy="897776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14732" cy="897890"/>
            </a:xfrm>
            <a:custGeom>
              <a:avLst/>
              <a:gdLst/>
              <a:ahLst/>
              <a:cxnLst/>
              <a:rect l="l" t="t" r="r" b="b"/>
              <a:pathLst>
                <a:path w="14732" h="897890">
                  <a:moveTo>
                    <a:pt x="14732" y="0"/>
                  </a:moveTo>
                  <a:lnTo>
                    <a:pt x="14732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21920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4732" y="121920"/>
                  </a:lnTo>
                  <a:moveTo>
                    <a:pt x="14732" y="240157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4732" y="240157"/>
                  </a:lnTo>
                  <a:moveTo>
                    <a:pt x="14732" y="358394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4732" y="358394"/>
                  </a:lnTo>
                  <a:moveTo>
                    <a:pt x="14732" y="476631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4732" y="476631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16389925" y="7813967"/>
            <a:ext cx="11087" cy="850668"/>
            <a:chOff x="0" y="0"/>
            <a:chExt cx="14783" cy="1134224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14732" cy="1134237"/>
            </a:xfrm>
            <a:custGeom>
              <a:avLst/>
              <a:gdLst/>
              <a:ahLst/>
              <a:cxnLst/>
              <a:rect l="l" t="t" r="r" b="b"/>
              <a:pathLst>
                <a:path w="14732" h="1134237">
                  <a:moveTo>
                    <a:pt x="14732" y="0"/>
                  </a:moveTo>
                  <a:lnTo>
                    <a:pt x="14732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4732" y="0"/>
                  </a:lnTo>
                  <a:moveTo>
                    <a:pt x="14732" y="118237"/>
                  </a:moveTo>
                  <a:lnTo>
                    <a:pt x="14732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4732" y="118237"/>
                  </a:lnTo>
                  <a:moveTo>
                    <a:pt x="14732" y="236474"/>
                  </a:moveTo>
                  <a:lnTo>
                    <a:pt x="14732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4732" y="236474"/>
                  </a:lnTo>
                  <a:moveTo>
                    <a:pt x="14732" y="354711"/>
                  </a:moveTo>
                  <a:lnTo>
                    <a:pt x="14732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4732" y="354711"/>
                  </a:lnTo>
                  <a:moveTo>
                    <a:pt x="14732" y="472948"/>
                  </a:moveTo>
                  <a:lnTo>
                    <a:pt x="14732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4732" y="472948"/>
                  </a:lnTo>
                  <a:moveTo>
                    <a:pt x="14732" y="594868"/>
                  </a:moveTo>
                  <a:lnTo>
                    <a:pt x="14732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4732" y="594868"/>
                  </a:lnTo>
                  <a:moveTo>
                    <a:pt x="14732" y="713105"/>
                  </a:moveTo>
                  <a:lnTo>
                    <a:pt x="14732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4732" y="713105"/>
                  </a:lnTo>
                  <a:moveTo>
                    <a:pt x="14732" y="831342"/>
                  </a:moveTo>
                  <a:lnTo>
                    <a:pt x="14732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4732" y="831215"/>
                  </a:lnTo>
                  <a:moveTo>
                    <a:pt x="14732" y="949452"/>
                  </a:moveTo>
                  <a:lnTo>
                    <a:pt x="14732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4732" y="949452"/>
                  </a:lnTo>
                  <a:moveTo>
                    <a:pt x="14732" y="1067689"/>
                  </a:moveTo>
                  <a:lnTo>
                    <a:pt x="14732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4732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17368056" y="2834640"/>
            <a:ext cx="13849" cy="673332"/>
            <a:chOff x="0" y="0"/>
            <a:chExt cx="18466" cy="897776"/>
          </a:xfrm>
        </p:grpSpPr>
        <p:sp>
          <p:nvSpPr>
            <p:cNvPr id="185" name="Freeform 185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6" name="Group 186"/>
          <p:cNvGrpSpPr/>
          <p:nvPr/>
        </p:nvGrpSpPr>
        <p:grpSpPr>
          <a:xfrm>
            <a:off x="17368056" y="3546767"/>
            <a:ext cx="13849" cy="673332"/>
            <a:chOff x="0" y="0"/>
            <a:chExt cx="18466" cy="897776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8" name="Group 188"/>
          <p:cNvGrpSpPr/>
          <p:nvPr/>
        </p:nvGrpSpPr>
        <p:grpSpPr>
          <a:xfrm>
            <a:off x="17368056" y="4258885"/>
            <a:ext cx="13849" cy="673332"/>
            <a:chOff x="0" y="0"/>
            <a:chExt cx="18466" cy="897776"/>
          </a:xfrm>
        </p:grpSpPr>
        <p:sp>
          <p:nvSpPr>
            <p:cNvPr id="189" name="Freeform 189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90" name="Group 190"/>
          <p:cNvGrpSpPr/>
          <p:nvPr/>
        </p:nvGrpSpPr>
        <p:grpSpPr>
          <a:xfrm>
            <a:off x="17368056" y="4968240"/>
            <a:ext cx="13849" cy="673332"/>
            <a:chOff x="0" y="0"/>
            <a:chExt cx="18466" cy="897776"/>
          </a:xfrm>
        </p:grpSpPr>
        <p:sp>
          <p:nvSpPr>
            <p:cNvPr id="191" name="Freeform 191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92" name="Group 192"/>
          <p:cNvGrpSpPr/>
          <p:nvPr/>
        </p:nvGrpSpPr>
        <p:grpSpPr>
          <a:xfrm>
            <a:off x="17368056" y="5680367"/>
            <a:ext cx="13849" cy="673332"/>
            <a:chOff x="0" y="0"/>
            <a:chExt cx="18466" cy="897776"/>
          </a:xfrm>
        </p:grpSpPr>
        <p:sp>
          <p:nvSpPr>
            <p:cNvPr id="193" name="Freeform 193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94" name="Group 194"/>
          <p:cNvGrpSpPr/>
          <p:nvPr/>
        </p:nvGrpSpPr>
        <p:grpSpPr>
          <a:xfrm>
            <a:off x="17368056" y="6392485"/>
            <a:ext cx="13849" cy="673332"/>
            <a:chOff x="0" y="0"/>
            <a:chExt cx="18466" cy="897776"/>
          </a:xfrm>
        </p:grpSpPr>
        <p:sp>
          <p:nvSpPr>
            <p:cNvPr id="195" name="Freeform 195"/>
            <p:cNvSpPr/>
            <p:nvPr/>
          </p:nvSpPr>
          <p:spPr>
            <a:xfrm>
              <a:off x="0" y="0"/>
              <a:ext cx="18415" cy="897763"/>
            </a:xfrm>
            <a:custGeom>
              <a:avLst/>
              <a:gdLst/>
              <a:ahLst/>
              <a:cxnLst/>
              <a:rect l="l" t="t" r="r" b="b"/>
              <a:pathLst>
                <a:path w="18415" h="897763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4785"/>
                  </a:lnTo>
                  <a:lnTo>
                    <a:pt x="0" y="184785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3022"/>
                  </a:lnTo>
                  <a:lnTo>
                    <a:pt x="0" y="303022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1259"/>
                  </a:lnTo>
                  <a:lnTo>
                    <a:pt x="0" y="421259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39496"/>
                  </a:lnTo>
                  <a:lnTo>
                    <a:pt x="0" y="539496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1185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1185"/>
                  </a:lnTo>
                  <a:lnTo>
                    <a:pt x="18415" y="591185"/>
                  </a:lnTo>
                  <a:moveTo>
                    <a:pt x="18415" y="709422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09295"/>
                  </a:lnTo>
                  <a:lnTo>
                    <a:pt x="18415" y="709295"/>
                  </a:lnTo>
                  <a:moveTo>
                    <a:pt x="18415" y="827532"/>
                  </a:moveTo>
                  <a:lnTo>
                    <a:pt x="18415" y="897763"/>
                  </a:lnTo>
                  <a:lnTo>
                    <a:pt x="0" y="897763"/>
                  </a:lnTo>
                  <a:lnTo>
                    <a:pt x="0" y="827532"/>
                  </a:lnTo>
                  <a:lnTo>
                    <a:pt x="18415" y="827532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96" name="Group 196"/>
          <p:cNvGrpSpPr/>
          <p:nvPr/>
        </p:nvGrpSpPr>
        <p:grpSpPr>
          <a:xfrm>
            <a:off x="17368056" y="7101840"/>
            <a:ext cx="13849" cy="673332"/>
            <a:chOff x="0" y="0"/>
            <a:chExt cx="18466" cy="897776"/>
          </a:xfrm>
        </p:grpSpPr>
        <p:sp>
          <p:nvSpPr>
            <p:cNvPr id="197" name="Freeform 197"/>
            <p:cNvSpPr/>
            <p:nvPr/>
          </p:nvSpPr>
          <p:spPr>
            <a:xfrm>
              <a:off x="0" y="0"/>
              <a:ext cx="18415" cy="897890"/>
            </a:xfrm>
            <a:custGeom>
              <a:avLst/>
              <a:gdLst/>
              <a:ahLst/>
              <a:cxnLst/>
              <a:rect l="l" t="t" r="r" b="b"/>
              <a:pathLst>
                <a:path w="18415" h="897890">
                  <a:moveTo>
                    <a:pt x="18415" y="0"/>
                  </a:moveTo>
                  <a:lnTo>
                    <a:pt x="18415" y="70231"/>
                  </a:lnTo>
                  <a:lnTo>
                    <a:pt x="0" y="70231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21920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21920"/>
                  </a:lnTo>
                  <a:lnTo>
                    <a:pt x="18415" y="121920"/>
                  </a:lnTo>
                  <a:moveTo>
                    <a:pt x="18415" y="240157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40157"/>
                  </a:lnTo>
                  <a:lnTo>
                    <a:pt x="18415" y="240157"/>
                  </a:lnTo>
                  <a:moveTo>
                    <a:pt x="18415" y="358394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8394"/>
                  </a:lnTo>
                  <a:lnTo>
                    <a:pt x="18415" y="358394"/>
                  </a:lnTo>
                  <a:moveTo>
                    <a:pt x="18415" y="476631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6631"/>
                  </a:lnTo>
                  <a:lnTo>
                    <a:pt x="18415" y="476631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98" name="Group 198"/>
          <p:cNvGrpSpPr/>
          <p:nvPr/>
        </p:nvGrpSpPr>
        <p:grpSpPr>
          <a:xfrm>
            <a:off x="17368056" y="7813967"/>
            <a:ext cx="13849" cy="850668"/>
            <a:chOff x="0" y="0"/>
            <a:chExt cx="18466" cy="1134224"/>
          </a:xfrm>
        </p:grpSpPr>
        <p:sp>
          <p:nvSpPr>
            <p:cNvPr id="199" name="Freeform 199"/>
            <p:cNvSpPr/>
            <p:nvPr/>
          </p:nvSpPr>
          <p:spPr>
            <a:xfrm>
              <a:off x="0" y="0"/>
              <a:ext cx="18415" cy="1134237"/>
            </a:xfrm>
            <a:custGeom>
              <a:avLst/>
              <a:gdLst/>
              <a:ahLst/>
              <a:cxnLst/>
              <a:rect l="l" t="t" r="r" b="b"/>
              <a:pathLst>
                <a:path w="18415" h="1134237">
                  <a:moveTo>
                    <a:pt x="18415" y="0"/>
                  </a:moveTo>
                  <a:lnTo>
                    <a:pt x="18415" y="66548"/>
                  </a:lnTo>
                  <a:lnTo>
                    <a:pt x="0" y="66548"/>
                  </a:lnTo>
                  <a:lnTo>
                    <a:pt x="0" y="0"/>
                  </a:lnTo>
                  <a:lnTo>
                    <a:pt x="18415" y="0"/>
                  </a:lnTo>
                  <a:moveTo>
                    <a:pt x="18415" y="118237"/>
                  </a:moveTo>
                  <a:lnTo>
                    <a:pt x="18415" y="188468"/>
                  </a:lnTo>
                  <a:lnTo>
                    <a:pt x="0" y="188468"/>
                  </a:lnTo>
                  <a:lnTo>
                    <a:pt x="0" y="118237"/>
                  </a:lnTo>
                  <a:lnTo>
                    <a:pt x="18415" y="118237"/>
                  </a:lnTo>
                  <a:moveTo>
                    <a:pt x="18415" y="236474"/>
                  </a:moveTo>
                  <a:lnTo>
                    <a:pt x="18415" y="306705"/>
                  </a:lnTo>
                  <a:lnTo>
                    <a:pt x="0" y="306705"/>
                  </a:lnTo>
                  <a:lnTo>
                    <a:pt x="0" y="236474"/>
                  </a:lnTo>
                  <a:lnTo>
                    <a:pt x="18415" y="236474"/>
                  </a:lnTo>
                  <a:moveTo>
                    <a:pt x="18415" y="354711"/>
                  </a:moveTo>
                  <a:lnTo>
                    <a:pt x="18415" y="424942"/>
                  </a:lnTo>
                  <a:lnTo>
                    <a:pt x="0" y="424942"/>
                  </a:lnTo>
                  <a:lnTo>
                    <a:pt x="0" y="354711"/>
                  </a:lnTo>
                  <a:lnTo>
                    <a:pt x="18415" y="354711"/>
                  </a:lnTo>
                  <a:moveTo>
                    <a:pt x="18415" y="472948"/>
                  </a:moveTo>
                  <a:lnTo>
                    <a:pt x="18415" y="543179"/>
                  </a:lnTo>
                  <a:lnTo>
                    <a:pt x="0" y="543179"/>
                  </a:lnTo>
                  <a:lnTo>
                    <a:pt x="0" y="472948"/>
                  </a:lnTo>
                  <a:lnTo>
                    <a:pt x="18415" y="472948"/>
                  </a:lnTo>
                  <a:moveTo>
                    <a:pt x="18415" y="594868"/>
                  </a:moveTo>
                  <a:lnTo>
                    <a:pt x="18415" y="661416"/>
                  </a:lnTo>
                  <a:lnTo>
                    <a:pt x="0" y="661416"/>
                  </a:lnTo>
                  <a:lnTo>
                    <a:pt x="0" y="594868"/>
                  </a:lnTo>
                  <a:lnTo>
                    <a:pt x="18415" y="594868"/>
                  </a:lnTo>
                  <a:moveTo>
                    <a:pt x="18415" y="713105"/>
                  </a:moveTo>
                  <a:lnTo>
                    <a:pt x="18415" y="779653"/>
                  </a:lnTo>
                  <a:lnTo>
                    <a:pt x="0" y="779653"/>
                  </a:lnTo>
                  <a:lnTo>
                    <a:pt x="0" y="713105"/>
                  </a:lnTo>
                  <a:lnTo>
                    <a:pt x="18415" y="713105"/>
                  </a:lnTo>
                  <a:moveTo>
                    <a:pt x="18415" y="831342"/>
                  </a:moveTo>
                  <a:lnTo>
                    <a:pt x="18415" y="897890"/>
                  </a:lnTo>
                  <a:lnTo>
                    <a:pt x="0" y="897890"/>
                  </a:lnTo>
                  <a:lnTo>
                    <a:pt x="0" y="831215"/>
                  </a:lnTo>
                  <a:lnTo>
                    <a:pt x="18415" y="831215"/>
                  </a:lnTo>
                  <a:moveTo>
                    <a:pt x="18415" y="949452"/>
                  </a:moveTo>
                  <a:lnTo>
                    <a:pt x="18415" y="1016000"/>
                  </a:lnTo>
                  <a:lnTo>
                    <a:pt x="0" y="1016000"/>
                  </a:lnTo>
                  <a:lnTo>
                    <a:pt x="0" y="949452"/>
                  </a:lnTo>
                  <a:lnTo>
                    <a:pt x="18415" y="949452"/>
                  </a:lnTo>
                  <a:moveTo>
                    <a:pt x="18415" y="1067689"/>
                  </a:moveTo>
                  <a:lnTo>
                    <a:pt x="18415" y="1134237"/>
                  </a:lnTo>
                  <a:lnTo>
                    <a:pt x="0" y="1134237"/>
                  </a:lnTo>
                  <a:lnTo>
                    <a:pt x="0" y="1067689"/>
                  </a:lnTo>
                  <a:lnTo>
                    <a:pt x="18415" y="1067689"/>
                  </a:lnTo>
                </a:path>
              </a:pathLst>
            </a:custGeom>
            <a:solidFill>
              <a:srgbClr val="66CCE9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0" name="Freeform 200"/>
          <p:cNvSpPr/>
          <p:nvPr/>
        </p:nvSpPr>
        <p:spPr>
          <a:xfrm>
            <a:off x="1097280" y="3000899"/>
            <a:ext cx="1280160" cy="401784"/>
          </a:xfrm>
          <a:custGeom>
            <a:avLst/>
            <a:gdLst/>
            <a:ahLst/>
            <a:cxnLst/>
            <a:rect l="l" t="t" r="r" b="b"/>
            <a:pathLst>
              <a:path w="1280160" h="401784">
                <a:moveTo>
                  <a:pt x="0" y="0"/>
                </a:moveTo>
                <a:lnTo>
                  <a:pt x="1280160" y="0"/>
                </a:lnTo>
                <a:lnTo>
                  <a:pt x="1280160" y="401783"/>
                </a:lnTo>
                <a:lnTo>
                  <a:pt x="0" y="401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01" name="Group 201"/>
          <p:cNvGrpSpPr/>
          <p:nvPr/>
        </p:nvGrpSpPr>
        <p:grpSpPr>
          <a:xfrm>
            <a:off x="6632172" y="2971800"/>
            <a:ext cx="1886988" cy="459972"/>
            <a:chOff x="0" y="0"/>
            <a:chExt cx="2515984" cy="613296"/>
          </a:xfrm>
        </p:grpSpPr>
        <p:sp>
          <p:nvSpPr>
            <p:cNvPr id="202" name="Freeform 202"/>
            <p:cNvSpPr/>
            <p:nvPr/>
          </p:nvSpPr>
          <p:spPr>
            <a:xfrm>
              <a:off x="0" y="0"/>
              <a:ext cx="2515997" cy="613283"/>
            </a:xfrm>
            <a:custGeom>
              <a:avLst/>
              <a:gdLst/>
              <a:ahLst/>
              <a:cxnLst/>
              <a:rect l="l" t="t" r="r" b="b"/>
              <a:pathLst>
                <a:path w="2515997" h="613283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330831" y="0"/>
                  </a:lnTo>
                  <a:cubicBezTo>
                    <a:pt x="2433066" y="0"/>
                    <a:pt x="2515997" y="82931"/>
                    <a:pt x="2515997" y="185166"/>
                  </a:cubicBezTo>
                  <a:lnTo>
                    <a:pt x="2515997" y="428117"/>
                  </a:lnTo>
                  <a:cubicBezTo>
                    <a:pt x="2515997" y="530352"/>
                    <a:pt x="2433066" y="613283"/>
                    <a:pt x="2330831" y="613283"/>
                  </a:cubicBezTo>
                  <a:lnTo>
                    <a:pt x="185166" y="613283"/>
                  </a:lnTo>
                  <a:cubicBezTo>
                    <a:pt x="82931" y="613283"/>
                    <a:pt x="0" y="530352"/>
                    <a:pt x="0" y="428117"/>
                  </a:cubicBezTo>
                  <a:close/>
                </a:path>
              </a:pathLst>
            </a:custGeom>
            <a:solidFill>
              <a:srgbClr val="66CCE9"/>
            </a:solidFill>
            <a:ln w="19395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3" name="Freeform 203"/>
          <p:cNvSpPr/>
          <p:nvPr/>
        </p:nvSpPr>
        <p:spPr>
          <a:xfrm>
            <a:off x="1097280" y="3732419"/>
            <a:ext cx="1280160" cy="401784"/>
          </a:xfrm>
          <a:custGeom>
            <a:avLst/>
            <a:gdLst/>
            <a:ahLst/>
            <a:cxnLst/>
            <a:rect l="l" t="t" r="r" b="b"/>
            <a:pathLst>
              <a:path w="1280160" h="401784">
                <a:moveTo>
                  <a:pt x="0" y="0"/>
                </a:moveTo>
                <a:lnTo>
                  <a:pt x="1280160" y="0"/>
                </a:lnTo>
                <a:lnTo>
                  <a:pt x="1280160" y="401783"/>
                </a:lnTo>
                <a:lnTo>
                  <a:pt x="0" y="401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04" name="Group 204"/>
          <p:cNvGrpSpPr/>
          <p:nvPr/>
        </p:nvGrpSpPr>
        <p:grpSpPr>
          <a:xfrm>
            <a:off x="7610304" y="3703320"/>
            <a:ext cx="1889760" cy="459972"/>
            <a:chOff x="0" y="0"/>
            <a:chExt cx="2519680" cy="613296"/>
          </a:xfrm>
        </p:grpSpPr>
        <p:sp>
          <p:nvSpPr>
            <p:cNvPr id="205" name="Freeform 205"/>
            <p:cNvSpPr/>
            <p:nvPr/>
          </p:nvSpPr>
          <p:spPr>
            <a:xfrm>
              <a:off x="0" y="0"/>
              <a:ext cx="2519680" cy="613283"/>
            </a:xfrm>
            <a:custGeom>
              <a:avLst/>
              <a:gdLst/>
              <a:ahLst/>
              <a:cxnLst/>
              <a:rect l="l" t="t" r="r" b="b"/>
              <a:pathLst>
                <a:path w="2519680" h="613283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334514" y="0"/>
                  </a:lnTo>
                  <a:cubicBezTo>
                    <a:pt x="2436749" y="0"/>
                    <a:pt x="2519680" y="82931"/>
                    <a:pt x="2519680" y="185166"/>
                  </a:cubicBezTo>
                  <a:lnTo>
                    <a:pt x="2519680" y="428117"/>
                  </a:lnTo>
                  <a:cubicBezTo>
                    <a:pt x="2519680" y="530352"/>
                    <a:pt x="2436749" y="613283"/>
                    <a:pt x="2334514" y="613283"/>
                  </a:cubicBezTo>
                  <a:lnTo>
                    <a:pt x="185166" y="613283"/>
                  </a:lnTo>
                  <a:cubicBezTo>
                    <a:pt x="82931" y="613283"/>
                    <a:pt x="0" y="530352"/>
                    <a:pt x="0" y="428117"/>
                  </a:cubicBezTo>
                  <a:close/>
                </a:path>
              </a:pathLst>
            </a:custGeom>
            <a:solidFill>
              <a:srgbClr val="66CCE9"/>
            </a:solidFill>
            <a:ln w="19395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6" name="Freeform 206"/>
          <p:cNvSpPr/>
          <p:nvPr/>
        </p:nvSpPr>
        <p:spPr>
          <a:xfrm>
            <a:off x="1097280" y="4463939"/>
            <a:ext cx="1280160" cy="401784"/>
          </a:xfrm>
          <a:custGeom>
            <a:avLst/>
            <a:gdLst/>
            <a:ahLst/>
            <a:cxnLst/>
            <a:rect l="l" t="t" r="r" b="b"/>
            <a:pathLst>
              <a:path w="1280160" h="401784">
                <a:moveTo>
                  <a:pt x="0" y="0"/>
                </a:moveTo>
                <a:lnTo>
                  <a:pt x="1280160" y="0"/>
                </a:lnTo>
                <a:lnTo>
                  <a:pt x="1280160" y="401783"/>
                </a:lnTo>
                <a:lnTo>
                  <a:pt x="0" y="401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07" name="Group 207"/>
          <p:cNvGrpSpPr/>
          <p:nvPr/>
        </p:nvGrpSpPr>
        <p:grpSpPr>
          <a:xfrm>
            <a:off x="8591207" y="4434840"/>
            <a:ext cx="3848786" cy="459972"/>
            <a:chOff x="0" y="0"/>
            <a:chExt cx="5131714" cy="613296"/>
          </a:xfrm>
        </p:grpSpPr>
        <p:sp>
          <p:nvSpPr>
            <p:cNvPr id="208" name="Freeform 208"/>
            <p:cNvSpPr/>
            <p:nvPr/>
          </p:nvSpPr>
          <p:spPr>
            <a:xfrm>
              <a:off x="0" y="0"/>
              <a:ext cx="5131689" cy="613283"/>
            </a:xfrm>
            <a:custGeom>
              <a:avLst/>
              <a:gdLst/>
              <a:ahLst/>
              <a:cxnLst/>
              <a:rect l="l" t="t" r="r" b="b"/>
              <a:pathLst>
                <a:path w="5131689" h="613283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4946523" y="0"/>
                  </a:lnTo>
                  <a:cubicBezTo>
                    <a:pt x="5048758" y="0"/>
                    <a:pt x="5131689" y="82931"/>
                    <a:pt x="5131689" y="185166"/>
                  </a:cubicBezTo>
                  <a:lnTo>
                    <a:pt x="5131689" y="428117"/>
                  </a:lnTo>
                  <a:cubicBezTo>
                    <a:pt x="5131689" y="530352"/>
                    <a:pt x="5048758" y="613283"/>
                    <a:pt x="4946523" y="613283"/>
                  </a:cubicBezTo>
                  <a:lnTo>
                    <a:pt x="185166" y="613283"/>
                  </a:lnTo>
                  <a:cubicBezTo>
                    <a:pt x="82931" y="613283"/>
                    <a:pt x="0" y="530352"/>
                    <a:pt x="0" y="428117"/>
                  </a:cubicBezTo>
                  <a:close/>
                </a:path>
              </a:pathLst>
            </a:custGeom>
            <a:solidFill>
              <a:srgbClr val="006F95"/>
            </a:solidFill>
            <a:ln w="19395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9" name="Freeform 209"/>
          <p:cNvSpPr/>
          <p:nvPr/>
        </p:nvSpPr>
        <p:spPr>
          <a:xfrm>
            <a:off x="1097280" y="5195459"/>
            <a:ext cx="1280160" cy="401784"/>
          </a:xfrm>
          <a:custGeom>
            <a:avLst/>
            <a:gdLst/>
            <a:ahLst/>
            <a:cxnLst/>
            <a:rect l="l" t="t" r="r" b="b"/>
            <a:pathLst>
              <a:path w="1280160" h="401784">
                <a:moveTo>
                  <a:pt x="0" y="0"/>
                </a:moveTo>
                <a:lnTo>
                  <a:pt x="1280160" y="0"/>
                </a:lnTo>
                <a:lnTo>
                  <a:pt x="1280160" y="401783"/>
                </a:lnTo>
                <a:lnTo>
                  <a:pt x="0" y="401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10" name="Group 210"/>
          <p:cNvGrpSpPr/>
          <p:nvPr/>
        </p:nvGrpSpPr>
        <p:grpSpPr>
          <a:xfrm>
            <a:off x="9572111" y="5166360"/>
            <a:ext cx="2867892" cy="459972"/>
            <a:chOff x="0" y="0"/>
            <a:chExt cx="3823856" cy="613296"/>
          </a:xfrm>
        </p:grpSpPr>
        <p:sp>
          <p:nvSpPr>
            <p:cNvPr id="211" name="Freeform 211"/>
            <p:cNvSpPr/>
            <p:nvPr/>
          </p:nvSpPr>
          <p:spPr>
            <a:xfrm>
              <a:off x="0" y="0"/>
              <a:ext cx="3823843" cy="613283"/>
            </a:xfrm>
            <a:custGeom>
              <a:avLst/>
              <a:gdLst/>
              <a:ahLst/>
              <a:cxnLst/>
              <a:rect l="l" t="t" r="r" b="b"/>
              <a:pathLst>
                <a:path w="3823843" h="613283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3638677" y="0"/>
                  </a:lnTo>
                  <a:cubicBezTo>
                    <a:pt x="3740912" y="0"/>
                    <a:pt x="3823843" y="82931"/>
                    <a:pt x="3823843" y="185166"/>
                  </a:cubicBezTo>
                  <a:lnTo>
                    <a:pt x="3823843" y="428117"/>
                  </a:lnTo>
                  <a:cubicBezTo>
                    <a:pt x="3823843" y="530352"/>
                    <a:pt x="3740912" y="613283"/>
                    <a:pt x="3638677" y="613283"/>
                  </a:cubicBezTo>
                  <a:lnTo>
                    <a:pt x="185166" y="613283"/>
                  </a:lnTo>
                  <a:cubicBezTo>
                    <a:pt x="82931" y="613283"/>
                    <a:pt x="0" y="530352"/>
                    <a:pt x="0" y="428117"/>
                  </a:cubicBezTo>
                  <a:close/>
                </a:path>
              </a:pathLst>
            </a:custGeom>
            <a:solidFill>
              <a:srgbClr val="006F95"/>
            </a:solidFill>
            <a:ln w="19395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12" name="Freeform 212"/>
          <p:cNvSpPr/>
          <p:nvPr/>
        </p:nvSpPr>
        <p:spPr>
          <a:xfrm>
            <a:off x="1097280" y="5926979"/>
            <a:ext cx="1280160" cy="401784"/>
          </a:xfrm>
          <a:custGeom>
            <a:avLst/>
            <a:gdLst/>
            <a:ahLst/>
            <a:cxnLst/>
            <a:rect l="l" t="t" r="r" b="b"/>
            <a:pathLst>
              <a:path w="1280160" h="401784">
                <a:moveTo>
                  <a:pt x="0" y="0"/>
                </a:moveTo>
                <a:lnTo>
                  <a:pt x="1280160" y="0"/>
                </a:lnTo>
                <a:lnTo>
                  <a:pt x="1280160" y="401783"/>
                </a:lnTo>
                <a:lnTo>
                  <a:pt x="0" y="401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13" name="Group 213"/>
          <p:cNvGrpSpPr/>
          <p:nvPr/>
        </p:nvGrpSpPr>
        <p:grpSpPr>
          <a:xfrm>
            <a:off x="12512040" y="5897880"/>
            <a:ext cx="1886988" cy="459972"/>
            <a:chOff x="0" y="0"/>
            <a:chExt cx="2515984" cy="613296"/>
          </a:xfrm>
        </p:grpSpPr>
        <p:sp>
          <p:nvSpPr>
            <p:cNvPr id="214" name="Freeform 214"/>
            <p:cNvSpPr/>
            <p:nvPr/>
          </p:nvSpPr>
          <p:spPr>
            <a:xfrm>
              <a:off x="0" y="0"/>
              <a:ext cx="2515997" cy="613283"/>
            </a:xfrm>
            <a:custGeom>
              <a:avLst/>
              <a:gdLst/>
              <a:ahLst/>
              <a:cxnLst/>
              <a:rect l="l" t="t" r="r" b="b"/>
              <a:pathLst>
                <a:path w="2515997" h="613283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330831" y="0"/>
                  </a:lnTo>
                  <a:cubicBezTo>
                    <a:pt x="2433066" y="0"/>
                    <a:pt x="2515997" y="82931"/>
                    <a:pt x="2515997" y="185166"/>
                  </a:cubicBezTo>
                  <a:lnTo>
                    <a:pt x="2515997" y="428117"/>
                  </a:lnTo>
                  <a:cubicBezTo>
                    <a:pt x="2515997" y="530352"/>
                    <a:pt x="2433066" y="613283"/>
                    <a:pt x="2330831" y="613283"/>
                  </a:cubicBezTo>
                  <a:lnTo>
                    <a:pt x="185166" y="613283"/>
                  </a:lnTo>
                  <a:cubicBezTo>
                    <a:pt x="82931" y="613283"/>
                    <a:pt x="0" y="530352"/>
                    <a:pt x="0" y="428117"/>
                  </a:cubicBezTo>
                  <a:close/>
                </a:path>
              </a:pathLst>
            </a:custGeom>
            <a:solidFill>
              <a:srgbClr val="006F95"/>
            </a:solidFill>
            <a:ln w="19395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15" name="Freeform 215"/>
          <p:cNvSpPr/>
          <p:nvPr/>
        </p:nvSpPr>
        <p:spPr>
          <a:xfrm>
            <a:off x="1097280" y="6658499"/>
            <a:ext cx="1280160" cy="401784"/>
          </a:xfrm>
          <a:custGeom>
            <a:avLst/>
            <a:gdLst/>
            <a:ahLst/>
            <a:cxnLst/>
            <a:rect l="l" t="t" r="r" b="b"/>
            <a:pathLst>
              <a:path w="1280160" h="401784">
                <a:moveTo>
                  <a:pt x="0" y="0"/>
                </a:moveTo>
                <a:lnTo>
                  <a:pt x="1280160" y="0"/>
                </a:lnTo>
                <a:lnTo>
                  <a:pt x="1280160" y="401783"/>
                </a:lnTo>
                <a:lnTo>
                  <a:pt x="0" y="401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16" name="Group 216"/>
          <p:cNvGrpSpPr/>
          <p:nvPr/>
        </p:nvGrpSpPr>
        <p:grpSpPr>
          <a:xfrm>
            <a:off x="13490172" y="6629400"/>
            <a:ext cx="1889760" cy="459972"/>
            <a:chOff x="0" y="0"/>
            <a:chExt cx="2519680" cy="613296"/>
          </a:xfrm>
        </p:grpSpPr>
        <p:sp>
          <p:nvSpPr>
            <p:cNvPr id="217" name="Freeform 217"/>
            <p:cNvSpPr/>
            <p:nvPr/>
          </p:nvSpPr>
          <p:spPr>
            <a:xfrm>
              <a:off x="0" y="0"/>
              <a:ext cx="2519680" cy="613283"/>
            </a:xfrm>
            <a:custGeom>
              <a:avLst/>
              <a:gdLst/>
              <a:ahLst/>
              <a:cxnLst/>
              <a:rect l="l" t="t" r="r" b="b"/>
              <a:pathLst>
                <a:path w="2519680" h="613283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334514" y="0"/>
                  </a:lnTo>
                  <a:cubicBezTo>
                    <a:pt x="2436749" y="0"/>
                    <a:pt x="2519680" y="82931"/>
                    <a:pt x="2519680" y="185166"/>
                  </a:cubicBezTo>
                  <a:lnTo>
                    <a:pt x="2519680" y="428117"/>
                  </a:lnTo>
                  <a:cubicBezTo>
                    <a:pt x="2519680" y="530352"/>
                    <a:pt x="2436749" y="613283"/>
                    <a:pt x="2334514" y="613283"/>
                  </a:cubicBezTo>
                  <a:lnTo>
                    <a:pt x="185166" y="613283"/>
                  </a:lnTo>
                  <a:cubicBezTo>
                    <a:pt x="82931" y="613283"/>
                    <a:pt x="0" y="530352"/>
                    <a:pt x="0" y="428117"/>
                  </a:cubicBezTo>
                  <a:close/>
                </a:path>
              </a:pathLst>
            </a:custGeom>
            <a:solidFill>
              <a:srgbClr val="006F95"/>
            </a:solidFill>
            <a:ln w="19395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18" name="Freeform 218"/>
          <p:cNvSpPr/>
          <p:nvPr/>
        </p:nvSpPr>
        <p:spPr>
          <a:xfrm>
            <a:off x="1097280" y="7390019"/>
            <a:ext cx="1280160" cy="401784"/>
          </a:xfrm>
          <a:custGeom>
            <a:avLst/>
            <a:gdLst/>
            <a:ahLst/>
            <a:cxnLst/>
            <a:rect l="l" t="t" r="r" b="b"/>
            <a:pathLst>
              <a:path w="1280160" h="401784">
                <a:moveTo>
                  <a:pt x="0" y="0"/>
                </a:moveTo>
                <a:lnTo>
                  <a:pt x="1280160" y="0"/>
                </a:lnTo>
                <a:lnTo>
                  <a:pt x="1280160" y="401783"/>
                </a:lnTo>
                <a:lnTo>
                  <a:pt x="0" y="401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19" name="Group 219"/>
          <p:cNvGrpSpPr/>
          <p:nvPr/>
        </p:nvGrpSpPr>
        <p:grpSpPr>
          <a:xfrm>
            <a:off x="14471075" y="7360920"/>
            <a:ext cx="1886988" cy="459972"/>
            <a:chOff x="0" y="0"/>
            <a:chExt cx="2515984" cy="613296"/>
          </a:xfrm>
        </p:grpSpPr>
        <p:sp>
          <p:nvSpPr>
            <p:cNvPr id="220" name="Freeform 220"/>
            <p:cNvSpPr/>
            <p:nvPr/>
          </p:nvSpPr>
          <p:spPr>
            <a:xfrm>
              <a:off x="0" y="0"/>
              <a:ext cx="2515997" cy="613283"/>
            </a:xfrm>
            <a:custGeom>
              <a:avLst/>
              <a:gdLst/>
              <a:ahLst/>
              <a:cxnLst/>
              <a:rect l="l" t="t" r="r" b="b"/>
              <a:pathLst>
                <a:path w="2515997" h="613283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2330831" y="0"/>
                  </a:lnTo>
                  <a:cubicBezTo>
                    <a:pt x="2433066" y="0"/>
                    <a:pt x="2515997" y="82931"/>
                    <a:pt x="2515997" y="185166"/>
                  </a:cubicBezTo>
                  <a:lnTo>
                    <a:pt x="2515997" y="428117"/>
                  </a:lnTo>
                  <a:cubicBezTo>
                    <a:pt x="2515997" y="530352"/>
                    <a:pt x="2433066" y="613283"/>
                    <a:pt x="2330831" y="613283"/>
                  </a:cubicBezTo>
                  <a:lnTo>
                    <a:pt x="185166" y="613283"/>
                  </a:lnTo>
                  <a:cubicBezTo>
                    <a:pt x="82931" y="613283"/>
                    <a:pt x="0" y="530352"/>
                    <a:pt x="0" y="428117"/>
                  </a:cubicBezTo>
                  <a:close/>
                </a:path>
              </a:pathLst>
            </a:custGeom>
            <a:solidFill>
              <a:srgbClr val="66CCE9"/>
            </a:solidFill>
            <a:ln w="19395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21" name="Freeform 221"/>
          <p:cNvSpPr/>
          <p:nvPr/>
        </p:nvSpPr>
        <p:spPr>
          <a:xfrm>
            <a:off x="1097280" y="8121539"/>
            <a:ext cx="1280160" cy="401784"/>
          </a:xfrm>
          <a:custGeom>
            <a:avLst/>
            <a:gdLst/>
            <a:ahLst/>
            <a:cxnLst/>
            <a:rect l="l" t="t" r="r" b="b"/>
            <a:pathLst>
              <a:path w="1280160" h="401784">
                <a:moveTo>
                  <a:pt x="0" y="0"/>
                </a:moveTo>
                <a:lnTo>
                  <a:pt x="1280160" y="0"/>
                </a:lnTo>
                <a:lnTo>
                  <a:pt x="1280160" y="401783"/>
                </a:lnTo>
                <a:lnTo>
                  <a:pt x="0" y="4017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22" name="Group 222"/>
          <p:cNvGrpSpPr/>
          <p:nvPr/>
        </p:nvGrpSpPr>
        <p:grpSpPr>
          <a:xfrm>
            <a:off x="16430111" y="8092440"/>
            <a:ext cx="908856" cy="459972"/>
            <a:chOff x="0" y="0"/>
            <a:chExt cx="1211809" cy="613296"/>
          </a:xfrm>
        </p:grpSpPr>
        <p:sp>
          <p:nvSpPr>
            <p:cNvPr id="223" name="Freeform 223"/>
            <p:cNvSpPr/>
            <p:nvPr/>
          </p:nvSpPr>
          <p:spPr>
            <a:xfrm>
              <a:off x="0" y="0"/>
              <a:ext cx="1211834" cy="613283"/>
            </a:xfrm>
            <a:custGeom>
              <a:avLst/>
              <a:gdLst/>
              <a:ahLst/>
              <a:cxnLst/>
              <a:rect l="l" t="t" r="r" b="b"/>
              <a:pathLst>
                <a:path w="1211834" h="613283">
                  <a:moveTo>
                    <a:pt x="0" y="185166"/>
                  </a:moveTo>
                  <a:cubicBezTo>
                    <a:pt x="0" y="82931"/>
                    <a:pt x="82931" y="0"/>
                    <a:pt x="185166" y="0"/>
                  </a:cubicBezTo>
                  <a:lnTo>
                    <a:pt x="1026668" y="0"/>
                  </a:lnTo>
                  <a:cubicBezTo>
                    <a:pt x="1128903" y="0"/>
                    <a:pt x="1211834" y="82931"/>
                    <a:pt x="1211834" y="185166"/>
                  </a:cubicBezTo>
                  <a:lnTo>
                    <a:pt x="1211834" y="428117"/>
                  </a:lnTo>
                  <a:cubicBezTo>
                    <a:pt x="1211834" y="530352"/>
                    <a:pt x="1128903" y="613283"/>
                    <a:pt x="1026668" y="613283"/>
                  </a:cubicBezTo>
                  <a:lnTo>
                    <a:pt x="185166" y="613283"/>
                  </a:lnTo>
                  <a:cubicBezTo>
                    <a:pt x="82931" y="613283"/>
                    <a:pt x="0" y="530352"/>
                    <a:pt x="0" y="428117"/>
                  </a:cubicBezTo>
                  <a:close/>
                </a:path>
              </a:pathLst>
            </a:custGeom>
            <a:solidFill>
              <a:srgbClr val="66CCE9"/>
            </a:solidFill>
            <a:ln w="19395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1097280" y="8944499"/>
            <a:ext cx="257689" cy="254927"/>
            <a:chOff x="0" y="0"/>
            <a:chExt cx="343586" cy="339903"/>
          </a:xfrm>
        </p:grpSpPr>
        <p:sp>
          <p:nvSpPr>
            <p:cNvPr id="225" name="Freeform 225"/>
            <p:cNvSpPr/>
            <p:nvPr/>
          </p:nvSpPr>
          <p:spPr>
            <a:xfrm>
              <a:off x="0" y="0"/>
              <a:ext cx="343535" cy="339852"/>
            </a:xfrm>
            <a:custGeom>
              <a:avLst/>
              <a:gdLst/>
              <a:ahLst/>
              <a:cxnLst/>
              <a:rect l="l" t="t" r="r" b="b"/>
              <a:pathLst>
                <a:path w="343535" h="339852">
                  <a:moveTo>
                    <a:pt x="0" y="88646"/>
                  </a:moveTo>
                  <a:cubicBezTo>
                    <a:pt x="0" y="39751"/>
                    <a:pt x="39751" y="0"/>
                    <a:pt x="88646" y="0"/>
                  </a:cubicBezTo>
                  <a:lnTo>
                    <a:pt x="254889" y="0"/>
                  </a:lnTo>
                  <a:cubicBezTo>
                    <a:pt x="303911" y="0"/>
                    <a:pt x="343535" y="39751"/>
                    <a:pt x="343535" y="88646"/>
                  </a:cubicBezTo>
                  <a:lnTo>
                    <a:pt x="343535" y="251206"/>
                  </a:lnTo>
                  <a:cubicBezTo>
                    <a:pt x="343535" y="300228"/>
                    <a:pt x="303784" y="339852"/>
                    <a:pt x="254889" y="339852"/>
                  </a:cubicBezTo>
                  <a:lnTo>
                    <a:pt x="88646" y="339852"/>
                  </a:lnTo>
                  <a:cubicBezTo>
                    <a:pt x="39751" y="339852"/>
                    <a:pt x="0" y="300228"/>
                    <a:pt x="0" y="251206"/>
                  </a:cubicBezTo>
                  <a:close/>
                </a:path>
              </a:pathLst>
            </a:custGeom>
            <a:solidFill>
              <a:srgbClr val="006F9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26" name="Group 226"/>
          <p:cNvGrpSpPr/>
          <p:nvPr/>
        </p:nvGrpSpPr>
        <p:grpSpPr>
          <a:xfrm>
            <a:off x="6391104" y="8934802"/>
            <a:ext cx="277092" cy="274320"/>
            <a:chOff x="0" y="0"/>
            <a:chExt cx="369456" cy="365760"/>
          </a:xfrm>
        </p:grpSpPr>
        <p:sp>
          <p:nvSpPr>
            <p:cNvPr id="227" name="Freeform 227"/>
            <p:cNvSpPr/>
            <p:nvPr/>
          </p:nvSpPr>
          <p:spPr>
            <a:xfrm>
              <a:off x="0" y="0"/>
              <a:ext cx="369443" cy="365760"/>
            </a:xfrm>
            <a:custGeom>
              <a:avLst/>
              <a:gdLst/>
              <a:ahLst/>
              <a:cxnLst/>
              <a:rect l="l" t="t" r="r" b="b"/>
              <a:pathLst>
                <a:path w="369443" h="365760">
                  <a:moveTo>
                    <a:pt x="0" y="95377"/>
                  </a:moveTo>
                  <a:cubicBezTo>
                    <a:pt x="0" y="42672"/>
                    <a:pt x="42672" y="0"/>
                    <a:pt x="95377" y="0"/>
                  </a:cubicBezTo>
                  <a:lnTo>
                    <a:pt x="274066" y="0"/>
                  </a:lnTo>
                  <a:cubicBezTo>
                    <a:pt x="326771" y="0"/>
                    <a:pt x="369443" y="42672"/>
                    <a:pt x="369443" y="95377"/>
                  </a:cubicBezTo>
                  <a:lnTo>
                    <a:pt x="369443" y="270383"/>
                  </a:lnTo>
                  <a:cubicBezTo>
                    <a:pt x="369443" y="323088"/>
                    <a:pt x="326771" y="365760"/>
                    <a:pt x="274066" y="365760"/>
                  </a:cubicBezTo>
                  <a:lnTo>
                    <a:pt x="95377" y="365760"/>
                  </a:lnTo>
                  <a:cubicBezTo>
                    <a:pt x="42672" y="365760"/>
                    <a:pt x="0" y="323088"/>
                    <a:pt x="0" y="270383"/>
                  </a:cubicBezTo>
                  <a:close/>
                </a:path>
              </a:pathLst>
            </a:custGeom>
            <a:solidFill>
              <a:srgbClr val="66CCE9"/>
            </a:solidFill>
            <a:ln w="19395" cap="sq">
              <a:solidFill>
                <a:srgbClr val="006F95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28" name="Group 228"/>
          <p:cNvGrpSpPr/>
          <p:nvPr/>
        </p:nvGrpSpPr>
        <p:grpSpPr>
          <a:xfrm>
            <a:off x="16905313" y="138541"/>
            <a:ext cx="1299553" cy="1299553"/>
            <a:chOff x="0" y="0"/>
            <a:chExt cx="1732737" cy="1732737"/>
          </a:xfrm>
        </p:grpSpPr>
        <p:sp>
          <p:nvSpPr>
            <p:cNvPr id="229" name="Freeform 229" descr="image.jpg"/>
            <p:cNvSpPr/>
            <p:nvPr/>
          </p:nvSpPr>
          <p:spPr>
            <a:xfrm>
              <a:off x="0" y="0"/>
              <a:ext cx="1732788" cy="1732788"/>
            </a:xfrm>
            <a:custGeom>
              <a:avLst/>
              <a:gdLst/>
              <a:ahLst/>
              <a:cxnLst/>
              <a:rect l="l" t="t" r="r" b="b"/>
              <a:pathLst>
                <a:path w="1732788" h="1732788">
                  <a:moveTo>
                    <a:pt x="0" y="0"/>
                  </a:moveTo>
                  <a:lnTo>
                    <a:pt x="1732788" y="0"/>
                  </a:lnTo>
                  <a:lnTo>
                    <a:pt x="1732788" y="1732788"/>
                  </a:lnTo>
                  <a:lnTo>
                    <a:pt x="0" y="1732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30" name="TextBox 230"/>
          <p:cNvSpPr txBox="1"/>
          <p:nvPr/>
        </p:nvSpPr>
        <p:spPr>
          <a:xfrm>
            <a:off x="917324" y="781926"/>
            <a:ext cx="5546827" cy="961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6375" b="1">
                <a:solidFill>
                  <a:srgbClr val="006F95"/>
                </a:solidFill>
                <a:latin typeface="Cambria Bold"/>
                <a:ea typeface="Cambria Bold"/>
                <a:cs typeface="Cambria Bold"/>
                <a:sym typeface="Cambria Bold"/>
              </a:rPr>
              <a:t>Gantt Diagram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1100033" y="2177005"/>
            <a:ext cx="2085689" cy="389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 /  Process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6907854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W1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7889310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W2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8868223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W3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9847126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W4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10828592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W5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11807495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W6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12788960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W7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13767864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W8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14746776" y="2201990"/>
            <a:ext cx="43937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W9</a:t>
            </a:r>
          </a:p>
        </p:txBody>
      </p:sp>
      <p:sp>
        <p:nvSpPr>
          <p:cNvPr id="241" name="TextBox 241"/>
          <p:cNvSpPr txBox="1"/>
          <p:nvPr/>
        </p:nvSpPr>
        <p:spPr>
          <a:xfrm>
            <a:off x="15661957" y="2201990"/>
            <a:ext cx="574586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W10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16643413" y="2201990"/>
            <a:ext cx="574596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W11</a:t>
            </a:r>
          </a:p>
        </p:txBody>
      </p:sp>
      <p:sp>
        <p:nvSpPr>
          <p:cNvPr id="243" name="TextBox 243"/>
          <p:cNvSpPr txBox="1"/>
          <p:nvPr/>
        </p:nvSpPr>
        <p:spPr>
          <a:xfrm>
            <a:off x="1371590" y="3020854"/>
            <a:ext cx="828913" cy="31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4D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1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2563063" y="2855852"/>
            <a:ext cx="2488768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Software &amp; hardware </a:t>
            </a:r>
          </a:p>
        </p:txBody>
      </p:sp>
      <p:sp>
        <p:nvSpPr>
          <p:cNvPr id="245" name="TextBox 245"/>
          <p:cNvSpPr txBox="1"/>
          <p:nvPr/>
        </p:nvSpPr>
        <p:spPr>
          <a:xfrm>
            <a:off x="2563063" y="3160690"/>
            <a:ext cx="1666894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familiarization</a:t>
            </a:r>
          </a:p>
        </p:txBody>
      </p:sp>
      <p:sp>
        <p:nvSpPr>
          <p:cNvPr id="246" name="TextBox 246"/>
          <p:cNvSpPr txBox="1"/>
          <p:nvPr/>
        </p:nvSpPr>
        <p:spPr>
          <a:xfrm>
            <a:off x="1371590" y="3752459"/>
            <a:ext cx="828913" cy="31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4D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1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2563063" y="3587391"/>
            <a:ext cx="3347761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Ideation, prototyping &amp; asset 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2563063" y="3892229"/>
            <a:ext cx="1030072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mapping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1371590" y="4483960"/>
            <a:ext cx="828913" cy="31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</a:t>
            </a:r>
          </a:p>
        </p:txBody>
      </p:sp>
      <p:sp>
        <p:nvSpPr>
          <p:cNvPr id="250" name="TextBox 250"/>
          <p:cNvSpPr txBox="1"/>
          <p:nvPr/>
        </p:nvSpPr>
        <p:spPr>
          <a:xfrm>
            <a:off x="2563063" y="4471283"/>
            <a:ext cx="4044229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VR scene &amp; UI development in Unity</a:t>
            </a:r>
          </a:p>
        </p:txBody>
      </p:sp>
      <p:sp>
        <p:nvSpPr>
          <p:cNvPr id="251" name="TextBox 251"/>
          <p:cNvSpPr txBox="1"/>
          <p:nvPr/>
        </p:nvSpPr>
        <p:spPr>
          <a:xfrm>
            <a:off x="1371590" y="5215452"/>
            <a:ext cx="828913" cy="31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</a:t>
            </a:r>
          </a:p>
        </p:txBody>
      </p:sp>
      <p:sp>
        <p:nvSpPr>
          <p:cNvPr id="252" name="TextBox 252"/>
          <p:cNvSpPr txBox="1"/>
          <p:nvPr/>
        </p:nvSpPr>
        <p:spPr>
          <a:xfrm>
            <a:off x="2563063" y="5050469"/>
            <a:ext cx="3777263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Initial signal acquisition testing &amp; </a:t>
            </a:r>
          </a:p>
        </p:txBody>
      </p:sp>
      <p:sp>
        <p:nvSpPr>
          <p:cNvPr id="253" name="TextBox 253"/>
          <p:cNvSpPr txBox="1"/>
          <p:nvPr/>
        </p:nvSpPr>
        <p:spPr>
          <a:xfrm>
            <a:off x="2563063" y="5355307"/>
            <a:ext cx="1171118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validation</a:t>
            </a:r>
          </a:p>
        </p:txBody>
      </p:sp>
      <p:sp>
        <p:nvSpPr>
          <p:cNvPr id="254" name="TextBox 254"/>
          <p:cNvSpPr txBox="1"/>
          <p:nvPr/>
        </p:nvSpPr>
        <p:spPr>
          <a:xfrm>
            <a:off x="1371590" y="5946991"/>
            <a:ext cx="828913" cy="31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</a:t>
            </a:r>
          </a:p>
        </p:txBody>
      </p:sp>
      <p:sp>
        <p:nvSpPr>
          <p:cNvPr id="255" name="TextBox 255"/>
          <p:cNvSpPr txBox="1"/>
          <p:nvPr/>
        </p:nvSpPr>
        <p:spPr>
          <a:xfrm>
            <a:off x="2563063" y="5782037"/>
            <a:ext cx="3899211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VR environment – Python pipeline </a:t>
            </a:r>
          </a:p>
        </p:txBody>
      </p:sp>
      <p:sp>
        <p:nvSpPr>
          <p:cNvPr id="256" name="TextBox 256"/>
          <p:cNvSpPr txBox="1"/>
          <p:nvPr/>
        </p:nvSpPr>
        <p:spPr>
          <a:xfrm>
            <a:off x="2563063" y="6086846"/>
            <a:ext cx="1295724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integration</a:t>
            </a:r>
          </a:p>
        </p:txBody>
      </p:sp>
      <p:sp>
        <p:nvSpPr>
          <p:cNvPr id="257" name="TextBox 257"/>
          <p:cNvSpPr txBox="1"/>
          <p:nvPr/>
        </p:nvSpPr>
        <p:spPr>
          <a:xfrm>
            <a:off x="1371590" y="6678463"/>
            <a:ext cx="828913" cy="31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2563063" y="6513557"/>
            <a:ext cx="3032265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Management System </a:t>
            </a:r>
          </a:p>
        </p:txBody>
      </p:sp>
      <p:sp>
        <p:nvSpPr>
          <p:cNvPr id="259" name="TextBox 259"/>
          <p:cNvSpPr txBox="1"/>
          <p:nvPr/>
        </p:nvSpPr>
        <p:spPr>
          <a:xfrm>
            <a:off x="2563063" y="6818290"/>
            <a:ext cx="3636207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integration &amp; end-to-end testing</a:t>
            </a:r>
          </a:p>
        </p:txBody>
      </p:sp>
      <p:sp>
        <p:nvSpPr>
          <p:cNvPr id="260" name="TextBox 260"/>
          <p:cNvSpPr txBox="1"/>
          <p:nvPr/>
        </p:nvSpPr>
        <p:spPr>
          <a:xfrm>
            <a:off x="1371590" y="7409936"/>
            <a:ext cx="828913" cy="31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4D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4</a:t>
            </a:r>
          </a:p>
        </p:txBody>
      </p:sp>
      <p:sp>
        <p:nvSpPr>
          <p:cNvPr id="261" name="TextBox 261"/>
          <p:cNvSpPr txBox="1"/>
          <p:nvPr/>
        </p:nvSpPr>
        <p:spPr>
          <a:xfrm>
            <a:off x="2563063" y="7397410"/>
            <a:ext cx="3565160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demonstration preparation</a:t>
            </a:r>
          </a:p>
        </p:txBody>
      </p:sp>
      <p:sp>
        <p:nvSpPr>
          <p:cNvPr id="262" name="TextBox 262"/>
          <p:cNvSpPr txBox="1"/>
          <p:nvPr/>
        </p:nvSpPr>
        <p:spPr>
          <a:xfrm>
            <a:off x="1371590" y="8141484"/>
            <a:ext cx="828913" cy="31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4D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4</a:t>
            </a:r>
          </a:p>
        </p:txBody>
      </p:sp>
      <p:sp>
        <p:nvSpPr>
          <p:cNvPr id="263" name="TextBox 263"/>
          <p:cNvSpPr txBox="1"/>
          <p:nvPr/>
        </p:nvSpPr>
        <p:spPr>
          <a:xfrm>
            <a:off x="2563063" y="8129006"/>
            <a:ext cx="3366316" cy="3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06F9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report &amp; Documentation</a:t>
            </a:r>
          </a:p>
        </p:txBody>
      </p:sp>
      <p:sp>
        <p:nvSpPr>
          <p:cNvPr id="264" name="TextBox 264"/>
          <p:cNvSpPr txBox="1"/>
          <p:nvPr/>
        </p:nvSpPr>
        <p:spPr>
          <a:xfrm>
            <a:off x="1465802" y="8892397"/>
            <a:ext cx="3294174" cy="31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Core development phases (2 &amp; 3)</a:t>
            </a:r>
          </a:p>
        </p:txBody>
      </p:sp>
      <p:sp>
        <p:nvSpPr>
          <p:cNvPr id="265" name="TextBox 265"/>
          <p:cNvSpPr txBox="1"/>
          <p:nvPr/>
        </p:nvSpPr>
        <p:spPr>
          <a:xfrm>
            <a:off x="6769237" y="8892397"/>
            <a:ext cx="3095654" cy="318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Setup &amp; delivery phases (1 &amp; 4)</a:t>
            </a:r>
          </a:p>
        </p:txBody>
      </p:sp>
      <p:sp>
        <p:nvSpPr>
          <p:cNvPr id="266" name="TextBox 266"/>
          <p:cNvSpPr txBox="1"/>
          <p:nvPr/>
        </p:nvSpPr>
        <p:spPr>
          <a:xfrm>
            <a:off x="16930278" y="9561557"/>
            <a:ext cx="330860" cy="349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06F95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2613</Words>
  <Application>Microsoft Office PowerPoint</Application>
  <PresentationFormat>Personalizado</PresentationFormat>
  <Paragraphs>395</Paragraphs>
  <Slides>22</Slides>
  <Notes>0</Notes>
  <HiddenSlides>11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Arial</vt:lpstr>
      <vt:lpstr>Cambria Bold</vt:lpstr>
      <vt:lpstr>Calibri (MS) Italics</vt:lpstr>
      <vt:lpstr>Calibri (MS) Bold</vt:lpstr>
      <vt:lpstr>Calibri</vt:lpstr>
      <vt:lpstr>Calibri (MS)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MIRAI Ricardo_Monrreal</dc:title>
  <cp:lastModifiedBy>Ricardo Monrreal Pool</cp:lastModifiedBy>
  <cp:revision>5</cp:revision>
  <dcterms:created xsi:type="dcterms:W3CDTF">2006-08-16T00:00:00Z</dcterms:created>
  <dcterms:modified xsi:type="dcterms:W3CDTF">2026-10-23T07:52:38Z</dcterms:modified>
  <dc:identifier>DAHYg4jEJ-g</dc:identifier>
</cp:coreProperties>
</file>