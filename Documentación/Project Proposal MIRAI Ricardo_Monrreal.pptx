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3.jpg"/><Relationship Id="rId8" Type="http://schemas.openxmlformats.org/officeDocument/2006/relationships/image" Target="../media/image24.jpg"/><Relationship Id="rId9" Type="http://schemas.openxmlformats.org/officeDocument/2006/relationships/image" Target="../media/image25.jpg"/><Relationship Id="rId10" Type="http://schemas.openxmlformats.org/officeDocument/2006/relationships/image" Target="../media/image2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Relationship Id="rId4" Type="http://schemas.openxmlformats.org/officeDocument/2006/relationships/image" Target="../media/image41.jpg"/><Relationship Id="rId5" Type="http://schemas.openxmlformats.org/officeDocument/2006/relationships/image" Target="../media/image42.jpg"/><Relationship Id="rId6" Type="http://schemas.openxmlformats.org/officeDocument/2006/relationships/image" Target="../media/image43.jpg"/><Relationship Id="rId7" Type="http://schemas.openxmlformats.org/officeDocument/2006/relationships/image" Target="../media/image44.jpg"/><Relationship Id="rId8" Type="http://schemas.openxmlformats.org/officeDocument/2006/relationships/image" Target="../media/image45.jpg"/><Relationship Id="rId9" Type="http://schemas.openxmlformats.org/officeDocument/2006/relationships/image" Target="../media/image46.jpg"/><Relationship Id="rId10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Relationship Id="rId4" Type="http://schemas.openxmlformats.org/officeDocument/2006/relationships/image" Target="../media/image50.jpg"/><Relationship Id="rId5" Type="http://schemas.openxmlformats.org/officeDocument/2006/relationships/image" Target="../media/image51.jpg"/><Relationship Id="rId6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image" Target="../media/image55.jpg"/><Relationship Id="rId4" Type="http://schemas.openxmlformats.org/officeDocument/2006/relationships/image" Target="../media/image5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922"/>
          </a:xfrm>
          <a:prstGeom prst="rect">
            <a:avLst/>
          </a:prstGeom>
          <a:solidFill>
            <a:srgbClr val="00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8493" y="1311563"/>
            <a:ext cx="3461787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49555" y="1470430"/>
            <a:ext cx="4023360" cy="4023360"/>
          </a:xfrm>
          <a:prstGeom prst="ellipse">
            <a:avLst/>
          </a:prstGeom>
          <a:noFill/>
          <a:ln w="1016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7235" y="1958110"/>
            <a:ext cx="3048000" cy="3048000"/>
          </a:xfrm>
          <a:prstGeom prst="ellipse">
            <a:avLst/>
          </a:prstGeom>
          <a:solidFill>
            <a:srgbClr val="FFFFFF"/>
          </a:solidFill>
          <a:ln w="16625">
            <a:solidFill>
              <a:srgbClr val="66C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326" y="2242589"/>
            <a:ext cx="2368202" cy="23737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866" y="1360847"/>
            <a:ext cx="2921809" cy="268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750" b="1" i="0" spc="431">
                <a:solidFill>
                  <a:srgbClr val="006F95"/>
                </a:solidFill>
                <a:latin typeface="Calibri"/>
              </a:rPr>
              <a:t>P</a:t>
            </a:r>
            <a:r>
              <a:rPr sz="1750" b="1" i="0" spc="431">
                <a:solidFill>
                  <a:srgbClr val="006F95"/>
                </a:solidFill>
                <a:latin typeface="Calibri"/>
              </a:rPr>
              <a:t>R</a:t>
            </a:r>
            <a:r>
              <a:rPr sz="1750" b="1" i="0" spc="431">
                <a:solidFill>
                  <a:srgbClr val="006F95"/>
                </a:solidFill>
                <a:latin typeface="Calibri"/>
              </a:rPr>
              <a:t>O</a:t>
            </a:r>
            <a:r>
              <a:rPr sz="1750" b="1" i="0" spc="431">
                <a:solidFill>
                  <a:srgbClr val="006F95"/>
                </a:solidFill>
                <a:latin typeface="Calibri"/>
              </a:rPr>
              <a:t>J</a:t>
            </a:r>
            <a:r>
              <a:rPr sz="1750" b="1" i="0" spc="431">
                <a:solidFill>
                  <a:srgbClr val="006F95"/>
                </a:solidFill>
                <a:latin typeface="Calibri"/>
              </a:rPr>
              <a:t>E</a:t>
            </a:r>
            <a:r>
              <a:rPr sz="1750" b="1" i="0" spc="431">
                <a:solidFill>
                  <a:srgbClr val="006F95"/>
                </a:solidFill>
                <a:latin typeface="Calibri"/>
              </a:rPr>
              <a:t>C</a:t>
            </a:r>
            <a:r>
              <a:rPr sz="1750" b="1" i="0" spc="431">
                <a:solidFill>
                  <a:srgbClr val="006F95"/>
                </a:solidFill>
                <a:latin typeface="Calibri"/>
              </a:rPr>
              <a:t>T P</a:t>
            </a:r>
            <a:r>
              <a:rPr sz="1750" b="1" i="0" spc="431">
                <a:solidFill>
                  <a:srgbClr val="006F95"/>
                </a:solidFill>
                <a:latin typeface="Calibri"/>
              </a:rPr>
              <a:t>R</a:t>
            </a:r>
            <a:r>
              <a:rPr sz="1750" b="1" i="0" spc="431">
                <a:solidFill>
                  <a:srgbClr val="006F95"/>
                </a:solidFill>
                <a:latin typeface="Calibri"/>
              </a:rPr>
              <a:t>O</a:t>
            </a:r>
            <a:r>
              <a:rPr sz="1750" b="1" i="0" spc="431">
                <a:solidFill>
                  <a:srgbClr val="006F95"/>
                </a:solidFill>
                <a:latin typeface="Calibri"/>
              </a:rPr>
              <a:t>P</a:t>
            </a:r>
            <a:r>
              <a:rPr sz="1750" b="1" i="0" spc="431">
                <a:solidFill>
                  <a:srgbClr val="006F95"/>
                </a:solidFill>
                <a:latin typeface="Calibri"/>
              </a:rPr>
              <a:t>O</a:t>
            </a:r>
            <a:r>
              <a:rPr sz="1750" b="1" i="0" spc="431">
                <a:solidFill>
                  <a:srgbClr val="006F95"/>
                </a:solidFill>
                <a:latin typeface="Calibri"/>
              </a:rPr>
              <a:t>S</a:t>
            </a:r>
            <a:r>
              <a:rPr sz="1750" b="1" i="0" spc="431">
                <a:solidFill>
                  <a:srgbClr val="006F95"/>
                </a:solidFill>
                <a:latin typeface="Calibri"/>
              </a:rPr>
              <a:t>A</a:t>
            </a:r>
            <a:r>
              <a:rPr sz="1750" b="1" i="0" spc="431">
                <a:solidFill>
                  <a:srgbClr val="006F95"/>
                </a:solidFill>
                <a:latin typeface="Calibri"/>
              </a:rP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455" y="1972094"/>
            <a:ext cx="6434504" cy="289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800" b="0" i="0">
                <a:solidFill>
                  <a:srgbClr val="FFFFFF"/>
                </a:solidFill>
                <a:latin typeface="Cambria"/>
              </a:rPr>
              <a:t>Closed-Loop </a:t>
            </a:r>
            <a:r>
              <a:rPr sz="4800" b="0" i="0">
                <a:solidFill>
                  <a:srgbClr val="FFFFFF"/>
                </a:solidFill>
                <a:latin typeface="Cambria"/>
              </a:rPr>
              <a:t> </a:t>
            </a:r>
            <a:r>
              <a:rPr sz="4800" b="0" i="0">
                <a:solidFill>
                  <a:srgbClr val="FFFFFF"/>
                </a:solidFill>
                <a:latin typeface="Cambria"/>
              </a:rPr>
              <a:t>Neuroadaptive VR </a:t>
            </a:r>
            <a:r>
              <a:rPr sz="4800" b="0" i="0">
                <a:solidFill>
                  <a:srgbClr val="FFFFFF"/>
                </a:solidFill>
                <a:latin typeface="Cambria"/>
              </a:rPr>
              <a:t> </a:t>
            </a:r>
            <a:r>
              <a:rPr sz="4800" b="0" i="0">
                <a:solidFill>
                  <a:srgbClr val="FFFFFF"/>
                </a:solidFill>
                <a:latin typeface="Cambria"/>
              </a:rPr>
              <a:t>Platform for </a:t>
            </a:r>
            <a:r>
              <a:rPr sz="4800" b="1" i="0">
                <a:solidFill>
                  <a:srgbClr val="FFFFFF"/>
                </a:solidFill>
                <a:latin typeface="Cambria"/>
              </a:rPr>
              <a:t>Dopamine </a:t>
            </a:r>
            <a:r>
              <a:rPr sz="4800" b="1" i="0">
                <a:solidFill>
                  <a:srgbClr val="FFFFFF"/>
                </a:solidFill>
                <a:latin typeface="Cambria"/>
              </a:rPr>
              <a:t> </a:t>
            </a:r>
            <a:r>
              <a:rPr sz="4800" b="1" i="0">
                <a:solidFill>
                  <a:srgbClr val="FFFFFF"/>
                </a:solidFill>
                <a:latin typeface="Cambria"/>
              </a:rPr>
              <a:t>Scrolling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306" y="5809030"/>
            <a:ext cx="3685564" cy="268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750" b="1" i="0" spc="431">
                <a:solidFill>
                  <a:srgbClr val="FFFFFF"/>
                </a:solidFill>
                <a:latin typeface="Calibri"/>
              </a:rPr>
              <a:t>B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Y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: R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I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C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A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R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D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O M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O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N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R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R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E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A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63" y="2061556"/>
            <a:ext cx="2020915" cy="276536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854035" y="2072640"/>
            <a:ext cx="1998747" cy="2743200"/>
          </a:xfrm>
          <a:prstGeom prst="roundRect">
            <a:avLst>
              <a:gd name="adj" fmla="val 7393"/>
            </a:avLst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54035" y="2072640"/>
            <a:ext cx="1998747" cy="2743200"/>
          </a:xfrm>
          <a:prstGeom prst="roundRect">
            <a:avLst>
              <a:gd name="adj" fmla="val 7393"/>
            </a:avLst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235" y="2061556"/>
            <a:ext cx="2015373" cy="2765366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824" y="2061556"/>
            <a:ext cx="2019067" cy="2765366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2566" y="2061556"/>
            <a:ext cx="2020916" cy="2765366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363" y="5109556"/>
            <a:ext cx="10993118" cy="1058487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853438" y="5242561"/>
            <a:ext cx="792478" cy="792478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167" y="5427287"/>
            <a:ext cx="423024" cy="423025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0209" y="92363"/>
            <a:ext cx="866370" cy="86636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1547" y="527637"/>
            <a:ext cx="3293352" cy="6343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250" b="1" i="0">
                <a:solidFill>
                  <a:srgbClr val="006F95"/>
                </a:solidFill>
                <a:latin typeface="Cambria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379" y="1337515"/>
            <a:ext cx="8409021" cy="3312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100" b="0" i="0">
                <a:solidFill>
                  <a:srgbClr val="006F95"/>
                </a:solidFill>
                <a:latin typeface="Calibri"/>
              </a:rPr>
              <a:t>Dopamine scrolling affects every generation, and hits the youngest hardest.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4327" y="2253939"/>
            <a:ext cx="1036787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 b="1" i="0">
                <a:solidFill>
                  <a:srgbClr val="006F95"/>
                </a:solidFill>
                <a:latin typeface="Calibri"/>
              </a:rPr>
              <a:t>Teenagers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4301" y="2595150"/>
            <a:ext cx="930776" cy="8072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450" b="0" i="0">
                <a:solidFill>
                  <a:srgbClr val="006F95"/>
                </a:solidFill>
                <a:latin typeface="Calibri"/>
              </a:rPr>
              <a:t>13–17 y/o</a:t>
            </a:r>
          </a:p>
          <a:p>
            <a:pPr>
              <a:spcBef>
                <a:spcPts val="813"/>
              </a:spcBef>
            </a:pPr>
            <a:r>
              <a:rPr sz="3200" b="1" i="0">
                <a:solidFill>
                  <a:srgbClr val="006F95"/>
                </a:solidFill>
                <a:latin typeface="Cambria"/>
              </a:rPr>
              <a:t>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4329" y="3779686"/>
            <a:ext cx="1653778" cy="7039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 i="0">
                <a:solidFill>
                  <a:srgbClr val="006F95"/>
                </a:solidFill>
                <a:latin typeface="Calibri"/>
              </a:rPr>
              <a:t>severe social media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and short-form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video addiction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6915" y="2253939"/>
            <a:ext cx="1328143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libri"/>
              </a:rPr>
              <a:t>Generation 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6890" y="2926144"/>
            <a:ext cx="930732" cy="476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mbria"/>
              </a:rPr>
              <a:t>53%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6960" y="3779686"/>
            <a:ext cx="1722345" cy="7039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Calibri"/>
              </a:rPr>
              <a:t>acute dependency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or incapacity to stop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scrolling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1352" y="2253939"/>
            <a:ext cx="1134701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 b="1" i="0">
                <a:solidFill>
                  <a:srgbClr val="006F95"/>
                </a:solidFill>
                <a:latin typeface="Calibri"/>
              </a:rPr>
              <a:t>Millennials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1419" y="2926144"/>
            <a:ext cx="930732" cy="476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3200" b="1" i="0">
                <a:solidFill>
                  <a:srgbClr val="006F95"/>
                </a:solidFill>
                <a:latin typeface="Cambria"/>
              </a:rPr>
              <a:t>46%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1389" y="3779686"/>
            <a:ext cx="1600887" cy="7039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 i="0">
                <a:solidFill>
                  <a:srgbClr val="006F95"/>
                </a:solidFill>
                <a:latin typeface="Calibri"/>
              </a:rPr>
              <a:t>chronic attentional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dysregulation,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compulsive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3956" y="2253939"/>
            <a:ext cx="1345336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 b="1" i="0">
                <a:solidFill>
                  <a:srgbClr val="006F95"/>
                </a:solidFill>
                <a:latin typeface="Calibri"/>
              </a:rPr>
              <a:t>Generation 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3964" y="2926144"/>
            <a:ext cx="1620311" cy="476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3200" b="1" i="0">
                <a:solidFill>
                  <a:srgbClr val="006F95"/>
                </a:solidFill>
                <a:latin typeface="Cambria"/>
              </a:rPr>
              <a:t>27–33%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031" y="3779686"/>
            <a:ext cx="1130712" cy="9367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 i="0">
                <a:solidFill>
                  <a:srgbClr val="006F95"/>
                </a:solidFill>
                <a:latin typeface="Calibri"/>
              </a:rPr>
              <a:t>compulsive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consumption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hurting daily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productivity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8391" y="2253939"/>
            <a:ext cx="1476206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 b="1" i="0">
                <a:solidFill>
                  <a:srgbClr val="006F95"/>
                </a:solidFill>
                <a:latin typeface="Calibri"/>
              </a:rPr>
              <a:t>Baby Boomers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8295" y="2926144"/>
            <a:ext cx="1172906" cy="476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3200" b="1" i="0">
                <a:solidFill>
                  <a:srgbClr val="006F95"/>
                </a:solidFill>
                <a:latin typeface="Cambria"/>
              </a:rPr>
              <a:t>&lt;15%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8472" y="3779686"/>
            <a:ext cx="1612638" cy="7039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 i="0">
                <a:solidFill>
                  <a:srgbClr val="006F95"/>
                </a:solidFill>
                <a:latin typeface="Calibri"/>
              </a:rPr>
              <a:t>hooked into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dopamine loops by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500" b="0" i="0">
                <a:solidFill>
                  <a:srgbClr val="006F95"/>
                </a:solidFill>
                <a:latin typeface="Calibri"/>
              </a:rPr>
              <a:t>short videos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1606" y="5351815"/>
            <a:ext cx="8811330" cy="572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 i="0">
                <a:solidFill>
                  <a:srgbClr val="006F95"/>
                </a:solidFill>
                <a:latin typeface="Calibri"/>
              </a:rPr>
              <a:t>Negative outcomes: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mental distraction, degraded social interaction, sleep disruption, and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increased risk of anxiety and depression.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73676" y="6399773"/>
            <a:ext cx="133035" cy="207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006F9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63" y="600363"/>
            <a:ext cx="5384798" cy="2813395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63" y="3413761"/>
            <a:ext cx="5384798" cy="281339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975360" y="914401"/>
            <a:ext cx="914398" cy="914398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642" y="1128684"/>
            <a:ext cx="489527" cy="489527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835" y="615141"/>
            <a:ext cx="5386647" cy="2815243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835" y="3430385"/>
            <a:ext cx="5386647" cy="2813396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583678" y="914401"/>
            <a:ext cx="914398" cy="914398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7962" y="1128684"/>
            <a:ext cx="487678" cy="489527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17744" y="92363"/>
            <a:ext cx="618836" cy="6188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35356" y="1106321"/>
            <a:ext cx="2008871" cy="515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3450" b="1" i="0">
                <a:solidFill>
                  <a:srgbClr val="006F95"/>
                </a:solidFill>
                <a:latin typeface="Cambria"/>
              </a:rPr>
              <a:t>Rationale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9575" y="2130638"/>
            <a:ext cx="4397058" cy="2997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122350" indent="-122350">
              <a:buFont typeface="Arial"/>
              <a:buChar char="•"/>
            </a:pPr>
            <a:r>
              <a:rPr sz="195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950" b="0" i="0">
                <a:solidFill>
                  <a:srgbClr val="006F95"/>
                </a:solidFill>
                <a:latin typeface="Calibri"/>
              </a:rPr>
              <a:t>Digital interfaces exploit variable reward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3672" y="2426109"/>
            <a:ext cx="3900852" cy="2997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50" b="0" i="0">
                <a:solidFill>
                  <a:srgbClr val="006F95"/>
                </a:solidFill>
                <a:latin typeface="Calibri"/>
              </a:rPr>
              <a:t>schedules and infinite scroll to hijack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3672" y="2719900"/>
            <a:ext cx="4084821" cy="2997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50" b="0" i="0">
                <a:solidFill>
                  <a:srgbClr val="006F95"/>
                </a:solidFill>
                <a:latin typeface="Calibri"/>
              </a:rPr>
              <a:t>dopaminergic pathways, the result is a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3672" y="3015490"/>
            <a:ext cx="4171698" cy="2997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50" b="0" i="0">
                <a:solidFill>
                  <a:srgbClr val="006F95"/>
                </a:solidFill>
                <a:latin typeface="Calibri"/>
              </a:rPr>
              <a:t>passive, hypnotic state with diminished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3672" y="3309162"/>
            <a:ext cx="2862448" cy="2997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50" b="0" i="0">
                <a:solidFill>
                  <a:srgbClr val="006F95"/>
                </a:solidFill>
                <a:latin typeface="Calibri"/>
              </a:rPr>
              <a:t>prefrontal cortex oversight.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4958" y="3740993"/>
            <a:ext cx="3921214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117751" indent="-117751">
              <a:buFont typeface="Arial"/>
              <a:buChar char="•"/>
            </a:pPr>
            <a:r>
              <a:rPr sz="19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The constant media multitasking and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3658" y="4025473"/>
            <a:ext cx="4225649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 b="0" i="0">
                <a:solidFill>
                  <a:srgbClr val="006F95"/>
                </a:solidFill>
                <a:latin typeface="Calibri"/>
              </a:rPr>
              <a:t>immediate gratification of entertainment-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3658" y="4309953"/>
            <a:ext cx="3925641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 b="0" i="0">
                <a:solidFill>
                  <a:srgbClr val="006F95"/>
                </a:solidFill>
                <a:latin typeface="Calibri"/>
              </a:rPr>
              <a:t>seeking may influence user’s cognitive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3658" y="4594433"/>
            <a:ext cx="2055749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 b="0" i="0">
                <a:solidFill>
                  <a:srgbClr val="006F95"/>
                </a:solidFill>
                <a:latin typeface="Calibri"/>
              </a:rPr>
              <a:t>control of attention.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3698" y="1106321"/>
            <a:ext cx="3544387" cy="515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3450" b="1" i="0">
                <a:solidFill>
                  <a:srgbClr val="006F95"/>
                </a:solidFill>
                <a:latin typeface="Cambria"/>
              </a:rPr>
              <a:t>Market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3280" y="2132019"/>
            <a:ext cx="4366316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117752" indent="-117752">
              <a:buFont typeface="Arial"/>
              <a:buChar char="•"/>
            </a:pPr>
            <a:r>
              <a:rPr sz="19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The global digital mental health market is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978" y="2416499"/>
            <a:ext cx="4471312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 b="0" i="0">
                <a:solidFill>
                  <a:srgbClr val="006F95"/>
                </a:solidFill>
                <a:latin typeface="Calibri"/>
              </a:rPr>
              <a:t>projected to reach </a:t>
            </a:r>
            <a:r>
              <a:rPr sz="1900" b="1" i="0">
                <a:solidFill>
                  <a:srgbClr val="006F95"/>
                </a:solidFill>
                <a:latin typeface="Calibri"/>
              </a:rPr>
              <a:t>$45 billion USD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by 2030,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3280" y="2835830"/>
            <a:ext cx="3874494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117752" indent="-117752">
              <a:buFont typeface="Arial"/>
              <a:buChar char="•"/>
            </a:pPr>
            <a:r>
              <a:rPr sz="19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This demand is further supported by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978" y="3120310"/>
            <a:ext cx="4404672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 b="0" i="0">
                <a:solidFill>
                  <a:srgbClr val="006F95"/>
                </a:solidFill>
                <a:latin typeface="Calibri"/>
              </a:rPr>
              <a:t>behavioral data showing that </a:t>
            </a:r>
            <a:r>
              <a:rPr sz="1900" b="1" i="0">
                <a:solidFill>
                  <a:srgbClr val="006F95"/>
                </a:solidFill>
                <a:latin typeface="Calibri"/>
              </a:rPr>
              <a:t>83% of Gen Z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978" y="3404790"/>
            <a:ext cx="4078111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 b="0" i="0">
                <a:solidFill>
                  <a:srgbClr val="006F95"/>
                </a:solidFill>
                <a:latin typeface="Calibri"/>
              </a:rPr>
              <a:t>users acknowledge having an unhealthy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21978" y="3689270"/>
            <a:ext cx="4412546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 b="0" i="0">
                <a:solidFill>
                  <a:srgbClr val="006F95"/>
                </a:solidFill>
                <a:latin typeface="Calibri"/>
              </a:rPr>
              <a:t>relationship with their smartphones due to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978" y="3973750"/>
            <a:ext cx="4566483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 b="0" i="0">
                <a:solidFill>
                  <a:srgbClr val="006F95"/>
                </a:solidFill>
                <a:latin typeface="Calibri"/>
              </a:rPr>
              <a:t>compulsive short-form content consumption.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73676" y="6399773"/>
            <a:ext cx="133035" cy="207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006F95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209" y="5703284"/>
            <a:ext cx="4673156" cy="410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1">
                <a:solidFill>
                  <a:srgbClr val="7F7F7F"/>
                </a:solidFill>
                <a:latin typeface="Calibri"/>
              </a:rPr>
              <a:t>Sources: Neural correlates of short-video application addiction and </a:t>
            </a:r>
            <a:r>
              <a:rPr sz="1350" b="0" i="1">
                <a:solidFill>
                  <a:srgbClr val="7F7F7F"/>
                </a:solidFill>
                <a:latin typeface="Calibri"/>
              </a:rPr>
              <a:t> </a:t>
            </a:r>
            <a:r>
              <a:rPr sz="1350" b="0" i="1">
                <a:solidFill>
                  <a:srgbClr val="7F7F7F"/>
                </a:solidFill>
                <a:latin typeface="Calibri"/>
              </a:rPr>
              <a:t>adolescents’ executive functions (2024).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5545" y="5695920"/>
            <a:ext cx="4453447" cy="410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1">
                <a:solidFill>
                  <a:srgbClr val="7F7F7F"/>
                </a:solidFill>
                <a:latin typeface="Calibri"/>
              </a:rPr>
              <a:t>Sources: Generation Z’s Smartphone and Social Media Usage: A </a:t>
            </a:r>
            <a:r>
              <a:rPr sz="1350" b="0" i="1">
                <a:solidFill>
                  <a:srgbClr val="7F7F7F"/>
                </a:solidFill>
                <a:latin typeface="Calibri"/>
              </a:rPr>
              <a:t> </a:t>
            </a:r>
            <a:r>
              <a:rPr sz="1350" b="0" i="1">
                <a:solidFill>
                  <a:srgbClr val="7F7F7F"/>
                </a:solidFill>
                <a:latin typeface="Calibri"/>
              </a:rPr>
              <a:t>Survey. (2019)..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63" y="1270923"/>
            <a:ext cx="10993118" cy="1359592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914398" y="1524000"/>
            <a:ext cx="853438" cy="853440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905" y="1723506"/>
            <a:ext cx="458123" cy="458122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0209" y="92363"/>
            <a:ext cx="866370" cy="8663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1547" y="527637"/>
            <a:ext cx="2636265" cy="6343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250" b="1" i="0">
                <a:solidFill>
                  <a:srgbClr val="006F95"/>
                </a:solidFill>
                <a:latin typeface="Cambria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5389" y="1446505"/>
            <a:ext cx="2084779" cy="3312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100" b="1" i="0">
                <a:solidFill>
                  <a:srgbClr val="006F95"/>
                </a:solidFill>
                <a:latin typeface="Calibri"/>
              </a:rPr>
              <a:t>General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5490" y="1837995"/>
            <a:ext cx="8554421" cy="552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 i="0">
                <a:solidFill>
                  <a:srgbClr val="006F95"/>
                </a:solidFill>
                <a:latin typeface="Calibri"/>
              </a:rPr>
              <a:t>Develop a closed-loop neuroadaptive VR platform that helps training users to self-regulate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impulse dysregulation, attentional fatigue and rapid dopamine-seeking behaviors.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73676" y="6399773"/>
            <a:ext cx="133035" cy="207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006F95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47" y="3303190"/>
            <a:ext cx="10518783" cy="572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80536" indent="-380536">
              <a:buFont typeface="Arial"/>
              <a:buChar char="•"/>
            </a:pPr>
            <a:r>
              <a:rPr sz="1900" b="0" i="0">
                <a:solidFill>
                  <a:srgbClr val="006F95"/>
                </a:solidFill>
                <a:latin typeface="Calibri"/>
              </a:rPr>
              <a:t>Build a </a:t>
            </a:r>
            <a:r>
              <a:rPr sz="1900" b="1" i="0">
                <a:solidFill>
                  <a:srgbClr val="006F95"/>
                </a:solidFill>
                <a:latin typeface="Calibri"/>
              </a:rPr>
              <a:t>closed-loop architecture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for real-time streaming of 8-channel EEG data acquired from the AURA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device.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47" y="3973750"/>
            <a:ext cx="10525198" cy="572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80536" indent="-380536">
              <a:buFont typeface="Arial"/>
              <a:buChar char="•"/>
            </a:pPr>
            <a:r>
              <a:rPr sz="1900" b="0" i="0">
                <a:solidFill>
                  <a:srgbClr val="006F95"/>
                </a:solidFill>
                <a:latin typeface="Calibri"/>
              </a:rPr>
              <a:t>Design an </a:t>
            </a:r>
            <a:r>
              <a:rPr sz="1900" b="1" i="0">
                <a:solidFill>
                  <a:srgbClr val="006F95"/>
                </a:solidFill>
                <a:latin typeface="Calibri"/>
              </a:rPr>
              <a:t>adaptive, automated Virtual Reality environment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in Unity that dynamically responds to user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cognitive states.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47" y="4644310"/>
            <a:ext cx="10023242" cy="57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80536" indent="-380536">
              <a:buFont typeface="Arial"/>
              <a:buChar char="•"/>
            </a:pPr>
            <a:r>
              <a:rPr sz="1900" b="0" i="0">
                <a:solidFill>
                  <a:srgbClr val="006F95"/>
                </a:solidFill>
                <a:latin typeface="Calibri"/>
              </a:rPr>
              <a:t>Develop a </a:t>
            </a:r>
            <a:r>
              <a:rPr sz="1900" b="1" i="0">
                <a:solidFill>
                  <a:srgbClr val="006F95"/>
                </a:solidFill>
                <a:latin typeface="Calibri"/>
              </a:rPr>
              <a:t>real-time signal processing pipeline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for artifact filtering, spectral analysis, and cognitive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biomarker extraction.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247" y="5314870"/>
            <a:ext cx="10463259" cy="572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80536" indent="-380536">
              <a:buFont typeface="Arial"/>
              <a:buChar char="•"/>
            </a:pPr>
            <a:r>
              <a:rPr sz="1900" b="0" i="0">
                <a:solidFill>
                  <a:srgbClr val="006F95"/>
                </a:solidFill>
                <a:latin typeface="Calibri"/>
              </a:rPr>
              <a:t>Implement a </a:t>
            </a:r>
            <a:r>
              <a:rPr sz="1900" b="1" i="0">
                <a:solidFill>
                  <a:srgbClr val="006F95"/>
                </a:solidFill>
                <a:latin typeface="Calibri"/>
              </a:rPr>
              <a:t>data management framework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to record, store, and export multimodal telemetry for post-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experimental analysis.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47" y="5985459"/>
            <a:ext cx="10202278" cy="57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80536" indent="-380536">
              <a:buFont typeface="Arial"/>
              <a:buChar char="•"/>
            </a:pPr>
            <a:r>
              <a:rPr sz="1900" b="0" i="0">
                <a:solidFill>
                  <a:srgbClr val="006F95"/>
                </a:solidFill>
                <a:latin typeface="Calibri"/>
              </a:rPr>
              <a:t>Produce comprehensive </a:t>
            </a:r>
            <a:r>
              <a:rPr sz="1900" b="1" i="0">
                <a:solidFill>
                  <a:srgbClr val="006F95"/>
                </a:solidFill>
                <a:latin typeface="Calibri"/>
              </a:rPr>
              <a:t>technical documentation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detailing the system architecture, data standards,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900" b="0" i="0">
                <a:solidFill>
                  <a:srgbClr val="006F95"/>
                </a:solidFill>
                <a:latin typeface="Calibri"/>
              </a:rPr>
              <a:t>and pipeline workflows.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08" y="2759958"/>
            <a:ext cx="2168430" cy="3312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100" b="1" i="0">
                <a:solidFill>
                  <a:srgbClr val="006F95"/>
                </a:solidFill>
                <a:latin typeface="Calibri"/>
              </a:rPr>
              <a:t>Specific 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9598" y="548640"/>
            <a:ext cx="792480" cy="792478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78" y="731520"/>
            <a:ext cx="426718" cy="428566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63" y="1572030"/>
            <a:ext cx="6483926" cy="1365133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63" y="3099723"/>
            <a:ext cx="6483926" cy="13595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9598" y="4632960"/>
            <a:ext cx="6461760" cy="1463040"/>
          </a:xfrm>
          <a:prstGeom prst="roundRect">
            <a:avLst>
              <a:gd name="adj" fmla="val 10101"/>
            </a:avLst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598" y="4632960"/>
            <a:ext cx="6461760" cy="1463040"/>
          </a:xfrm>
          <a:prstGeom prst="roundRect">
            <a:avLst>
              <a:gd name="adj" fmla="val 10101"/>
            </a:avLst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6036" y="600363"/>
            <a:ext cx="4167446" cy="550672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7802880" y="914400"/>
            <a:ext cx="792478" cy="792480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5760" y="1099128"/>
            <a:ext cx="428567" cy="423024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4253" y="2514138"/>
            <a:ext cx="1597889" cy="1405774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6720" y="1017848"/>
            <a:ext cx="1819563" cy="766618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7009" y="443346"/>
            <a:ext cx="1426094" cy="71489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7744" y="92363"/>
            <a:ext cx="618836" cy="61883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86905" y="700069"/>
            <a:ext cx="3846261" cy="476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3200" b="1" i="0">
                <a:solidFill>
                  <a:srgbClr val="006F95"/>
                </a:solidFill>
                <a:latin typeface="Cambria"/>
              </a:rPr>
              <a:t>Competitor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287" y="1729313"/>
            <a:ext cx="5361190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 b="1" i="0">
                <a:solidFill>
                  <a:srgbClr val="006F95"/>
                </a:solidFill>
                <a:latin typeface="Calibri"/>
              </a:rPr>
              <a:t>Inmersive VR Therapy </a:t>
            </a:r>
            <a:r>
              <a:rPr sz="1450" b="0" i="0">
                <a:solidFill>
                  <a:srgbClr val="006F95"/>
                </a:solidFill>
                <a:latin typeface="Calibri"/>
              </a:rPr>
              <a:t>(PsyTech VR, Psious/Amelia Virtual Care)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237" y="2141881"/>
            <a:ext cx="5456014" cy="514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>
                <a:solidFill>
                  <a:srgbClr val="006F95"/>
                </a:solidFill>
                <a:latin typeface="Calibri"/>
              </a:rPr>
              <a:t>Strength</a:t>
            </a:r>
            <a:r>
              <a:rPr sz="1700" b="0" i="0">
                <a:solidFill>
                  <a:srgbClr val="006F95"/>
                </a:solidFill>
                <a:latin typeface="Calibri"/>
              </a:rPr>
              <a:t>: virtual enviroments. </a:t>
            </a:r>
            <a:r>
              <a:rPr sz="1700" b="1" i="0">
                <a:solidFill>
                  <a:srgbClr val="006F95"/>
                </a:solidFill>
                <a:latin typeface="Calibri"/>
              </a:rPr>
              <a:t>Weakness</a:t>
            </a:r>
            <a:r>
              <a:rPr sz="1700" b="0" i="0">
                <a:solidFill>
                  <a:srgbClr val="006F95"/>
                </a:solidFill>
                <a:latin typeface="Calibri"/>
              </a:rPr>
              <a:t>: aimed to substance </a:t>
            </a:r>
            <a:r>
              <a:rPr sz="17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700" b="0" i="0">
                <a:solidFill>
                  <a:srgbClr val="006F95"/>
                </a:solidFill>
                <a:latin typeface="Calibri"/>
              </a:rPr>
              <a:t>addiction; are guided by a therapist.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287" y="3253313"/>
            <a:ext cx="2622626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 b="1" i="0">
                <a:solidFill>
                  <a:srgbClr val="006F95"/>
                </a:solidFill>
                <a:latin typeface="Calibri"/>
              </a:rPr>
              <a:t>App Blockers</a:t>
            </a:r>
            <a:r>
              <a:rPr sz="1450" b="0" i="0">
                <a:solidFill>
                  <a:srgbClr val="006F95"/>
                </a:solidFill>
                <a:latin typeface="Calibri"/>
              </a:rPr>
              <a:t> (Freedom, Opal)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237" y="3665957"/>
            <a:ext cx="5752566" cy="514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>
                <a:solidFill>
                  <a:srgbClr val="006F95"/>
                </a:solidFill>
                <a:latin typeface="Calibri"/>
              </a:rPr>
              <a:t>Strength</a:t>
            </a:r>
            <a:r>
              <a:rPr sz="1700" b="0" i="0">
                <a:solidFill>
                  <a:srgbClr val="006F95"/>
                </a:solidFill>
                <a:latin typeface="Calibri"/>
              </a:rPr>
              <a:t>: strong hard-blocking. </a:t>
            </a:r>
            <a:r>
              <a:rPr sz="1700" b="1" i="0">
                <a:solidFill>
                  <a:srgbClr val="006F95"/>
                </a:solidFill>
                <a:latin typeface="Calibri"/>
              </a:rPr>
              <a:t>Weakness</a:t>
            </a:r>
            <a:r>
              <a:rPr sz="1700" b="0" i="0">
                <a:solidFill>
                  <a:srgbClr val="006F95"/>
                </a:solidFill>
                <a:latin typeface="Calibri"/>
              </a:rPr>
              <a:t>: punitive design drives </a:t>
            </a:r>
            <a:r>
              <a:rPr sz="17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700" b="0" i="0">
                <a:solidFill>
                  <a:srgbClr val="006F95"/>
                </a:solidFill>
                <a:latin typeface="Calibri"/>
              </a:rPr>
              <a:t>churn and ignores underlying dopamine-seeking triggers.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5287" y="4777313"/>
            <a:ext cx="2981939" cy="288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libri"/>
              </a:rPr>
              <a:t>Proposed Solution Advantage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237" y="5165890"/>
            <a:ext cx="5847012" cy="7671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FFFFFF"/>
                </a:solidFill>
                <a:latin typeface="Calibri"/>
              </a:rPr>
              <a:t>Combines immersive VR presence with closed-loop neuroadaptive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triggers, aimed to self-regulate impulse dysregulation and help to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restore inhibitory control.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4806" y="1888018"/>
            <a:ext cx="2610856" cy="4373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900" b="1" i="0">
                <a:solidFill>
                  <a:srgbClr val="006F95"/>
                </a:solidFill>
                <a:latin typeface="Cambria"/>
              </a:rPr>
              <a:t>State of the 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0486" y="2557518"/>
            <a:ext cx="3496709" cy="259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105791" indent="-105791">
              <a:buFont typeface="Arial"/>
              <a:buChar char="•"/>
            </a:pPr>
            <a:r>
              <a:rPr sz="17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700" b="0" i="0">
                <a:solidFill>
                  <a:srgbClr val="006F95"/>
                </a:solidFill>
                <a:latin typeface="Calibri"/>
              </a:rPr>
              <a:t>Scoping reviews show passive media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1128" y="2812482"/>
            <a:ext cx="3005796" cy="259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700" b="0" i="0">
                <a:solidFill>
                  <a:srgbClr val="006F95"/>
                </a:solidFill>
                <a:latin typeface="Calibri"/>
              </a:rPr>
              <a:t>consumption degrades cognitive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1128" y="3065579"/>
            <a:ext cx="3056610" cy="259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700" b="0" i="0">
                <a:solidFill>
                  <a:srgbClr val="006F95"/>
                </a:solidFill>
                <a:latin typeface="Calibri"/>
              </a:rPr>
              <a:t>flexibility and worsens emotional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1128" y="3320438"/>
            <a:ext cx="1082798" cy="259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700" b="0" i="0">
                <a:solidFill>
                  <a:srgbClr val="006F95"/>
                </a:solidFill>
                <a:latin typeface="Calibri"/>
              </a:rPr>
              <a:t>exhaustion.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10486" y="3710249"/>
            <a:ext cx="3543106" cy="259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105791" indent="-105791">
              <a:buFont typeface="Arial"/>
              <a:buChar char="•"/>
            </a:pPr>
            <a:r>
              <a:rPr sz="17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700" b="0" i="0">
                <a:solidFill>
                  <a:srgbClr val="006F95"/>
                </a:solidFill>
                <a:latin typeface="Calibri"/>
              </a:rPr>
              <a:t>Closed-loop physiological monitoring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1128" y="3963345"/>
            <a:ext cx="3281962" cy="259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700" b="0" i="0">
                <a:solidFill>
                  <a:srgbClr val="006F95"/>
                </a:solidFill>
                <a:latin typeface="Calibri"/>
              </a:rPr>
              <a:t>and standalone VR headsets enable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1128" y="4218204"/>
            <a:ext cx="3346033" cy="259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700" b="0" i="0">
                <a:solidFill>
                  <a:srgbClr val="006F95"/>
                </a:solidFill>
                <a:latin typeface="Calibri"/>
              </a:rPr>
              <a:t>high-fidelity detection of attentional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1128" y="4471301"/>
            <a:ext cx="722677" cy="259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700" b="0" i="0">
                <a:solidFill>
                  <a:srgbClr val="006F95"/>
                </a:solidFill>
                <a:latin typeface="Calibri"/>
              </a:rPr>
              <a:t>fatigue.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0486" y="4861111"/>
            <a:ext cx="3399496" cy="259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105791" indent="-105791">
              <a:buFont typeface="Arial"/>
              <a:buChar char="•"/>
            </a:pPr>
            <a:r>
              <a:rPr sz="17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700" b="0" i="0">
                <a:solidFill>
                  <a:srgbClr val="006F95"/>
                </a:solidFill>
                <a:latin typeface="Calibri"/>
              </a:rPr>
              <a:t>Real-time sensory redirection shifts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1128" y="5114220"/>
            <a:ext cx="3277544" cy="259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700" b="0" i="0">
                <a:solidFill>
                  <a:srgbClr val="006F95"/>
                </a:solidFill>
                <a:latin typeface="Calibri"/>
              </a:rPr>
              <a:t>the field from static app blocking to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1128" y="5369067"/>
            <a:ext cx="3409221" cy="259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700" b="0" i="0">
                <a:solidFill>
                  <a:srgbClr val="006F95"/>
                </a:solidFill>
                <a:latin typeface="Calibri"/>
              </a:rPr>
              <a:t>active neurobehavioral rehabilitation.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73676" y="6399773"/>
            <a:ext cx="133035" cy="207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006F9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464" y="626225"/>
            <a:ext cx="458123" cy="458123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63" y="1572029"/>
            <a:ext cx="3435927" cy="36834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914398" y="1828800"/>
            <a:ext cx="1036320" cy="1036320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087" y="2070792"/>
            <a:ext cx="548638" cy="554181"/>
          </a:xfrm>
          <a:prstGeom prst="rect">
            <a:avLst/>
          </a:prstGeom>
        </p:spPr>
      </p:pic>
      <p:sp>
        <p:nvSpPr>
          <p:cNvPr id="7" name="Freeform 6"/>
          <p:cNvSpPr/>
          <p:nvPr/>
        </p:nvSpPr>
        <p:spPr>
          <a:xfrm>
            <a:off x="4060305" y="3230881"/>
            <a:ext cx="293716" cy="365760"/>
          </a:xfrm>
          <a:custGeom>
            <a:avLst/>
            <a:gdLst/>
            <a:ahLst/>
            <a:cxnLst/>
            <a:rect l="l" t="t" r="r" b="b"/>
            <a:pathLst>
              <a:path w="242316" h="301752">
                <a:moveTo>
                  <a:pt x="0" y="76200"/>
                </a:moveTo>
                <a:lnTo>
                  <a:pt x="120396" y="76200"/>
                </a:lnTo>
                <a:lnTo>
                  <a:pt x="120396" y="0"/>
                </a:lnTo>
                <a:lnTo>
                  <a:pt x="242316" y="150876"/>
                </a:lnTo>
                <a:lnTo>
                  <a:pt x="120396" y="301752"/>
                </a:lnTo>
                <a:lnTo>
                  <a:pt x="120396" y="227076"/>
                </a:lnTo>
                <a:lnTo>
                  <a:pt x="0" y="227076"/>
                </a:lnTo>
                <a:lnTo>
                  <a:pt x="0" y="76200"/>
                </a:lnTo>
              </a:path>
            </a:pathLst>
          </a:cu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8036" y="1572029"/>
            <a:ext cx="3435927" cy="368346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693918" y="1828800"/>
            <a:ext cx="1036320" cy="1036320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070792"/>
            <a:ext cx="548640" cy="554181"/>
          </a:xfrm>
          <a:prstGeom prst="rect">
            <a:avLst/>
          </a:prstGeom>
        </p:spPr>
      </p:pic>
      <p:sp>
        <p:nvSpPr>
          <p:cNvPr id="11" name="Freeform 10"/>
          <p:cNvSpPr/>
          <p:nvPr/>
        </p:nvSpPr>
        <p:spPr>
          <a:xfrm>
            <a:off x="7839825" y="3230881"/>
            <a:ext cx="293716" cy="365760"/>
          </a:xfrm>
          <a:custGeom>
            <a:avLst/>
            <a:gdLst/>
            <a:ahLst/>
            <a:cxnLst/>
            <a:rect l="l" t="t" r="r" b="b"/>
            <a:pathLst>
              <a:path w="242316" h="301752">
                <a:moveTo>
                  <a:pt x="0" y="76200"/>
                </a:moveTo>
                <a:lnTo>
                  <a:pt x="120396" y="76200"/>
                </a:lnTo>
                <a:lnTo>
                  <a:pt x="120396" y="0"/>
                </a:lnTo>
                <a:lnTo>
                  <a:pt x="242316" y="150876"/>
                </a:lnTo>
                <a:lnTo>
                  <a:pt x="120396" y="301752"/>
                </a:lnTo>
                <a:lnTo>
                  <a:pt x="120396" y="227076"/>
                </a:lnTo>
                <a:lnTo>
                  <a:pt x="0" y="227076"/>
                </a:lnTo>
                <a:lnTo>
                  <a:pt x="0" y="76200"/>
                </a:lnTo>
              </a:path>
            </a:pathLst>
          </a:cu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7555" y="1572029"/>
            <a:ext cx="3435927" cy="368346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8473440" y="1828800"/>
            <a:ext cx="1036320" cy="1036320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9598" y="5547360"/>
            <a:ext cx="10972800" cy="670558"/>
          </a:xfrm>
          <a:prstGeom prst="roundRect">
            <a:avLst>
              <a:gd name="adj" fmla="val 22038"/>
            </a:avLst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0209" y="92363"/>
            <a:ext cx="866370" cy="866369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0384" y="1895303"/>
            <a:ext cx="962429" cy="9014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1547" y="527637"/>
            <a:ext cx="4667115" cy="6343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250" b="1" i="0">
                <a:solidFill>
                  <a:srgbClr val="006F95"/>
                </a:solidFill>
                <a:latin typeface="Cambria"/>
              </a:rPr>
              <a:t>Proposed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6489" y="1998066"/>
            <a:ext cx="734238" cy="6754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550" b="1" i="0">
                <a:solidFill>
                  <a:srgbClr val="00A0D3"/>
                </a:solidFill>
                <a:latin typeface="Cambria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58" y="3106389"/>
            <a:ext cx="2321216" cy="6158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 i="0">
                <a:solidFill>
                  <a:srgbClr val="006F95"/>
                </a:solidFill>
                <a:latin typeface="Calibri"/>
              </a:rPr>
              <a:t>Immersive Detection </a:t>
            </a:r>
            <a:r>
              <a:rPr sz="2000" b="1" i="0">
                <a:solidFill>
                  <a:srgbClr val="006F95"/>
                </a:solidFill>
                <a:latin typeface="Calibri"/>
              </a:rPr>
              <a:t> </a:t>
            </a:r>
            <a:r>
              <a:rPr sz="2000" b="1" i="0">
                <a:solidFill>
                  <a:srgbClr val="006F95"/>
                </a:solidFill>
                <a:latin typeface="Calibri"/>
              </a:rPr>
              <a:t>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86" y="3839206"/>
            <a:ext cx="2606658" cy="97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006F95"/>
                </a:solidFill>
                <a:latin typeface="Calibri"/>
              </a:rPr>
              <a:t>Tracks behavioral markers and 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gaze patterns to identify the 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transition into the dopamine-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scrolling trance.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5973" y="1998066"/>
            <a:ext cx="734240" cy="6754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550" b="1" i="0">
                <a:solidFill>
                  <a:srgbClr val="00A0D3"/>
                </a:solidFill>
                <a:latin typeface="Cambria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5810" y="3106389"/>
            <a:ext cx="2648209" cy="6158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 i="0">
                <a:solidFill>
                  <a:srgbClr val="006F95"/>
                </a:solidFill>
                <a:latin typeface="Calibri"/>
              </a:rPr>
              <a:t>Dynamic Environmental </a:t>
            </a:r>
            <a:r>
              <a:rPr sz="2000" b="1" i="0">
                <a:solidFill>
                  <a:srgbClr val="006F95"/>
                </a:solidFill>
                <a:latin typeface="Calibri"/>
              </a:rPr>
              <a:t> </a:t>
            </a:r>
            <a:r>
              <a:rPr sz="2000" b="1" i="0">
                <a:solidFill>
                  <a:srgbClr val="006F95"/>
                </a:solidFill>
                <a:latin typeface="Calibri"/>
              </a:rPr>
              <a:t>Modulation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5730" y="3839206"/>
            <a:ext cx="2891936" cy="735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006F95"/>
                </a:solidFill>
                <a:latin typeface="Calibri"/>
              </a:rPr>
              <a:t>Alters the virtual environment’s 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visual and auditory parameters to 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restore inhibitory control.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5455" y="1998066"/>
            <a:ext cx="734238" cy="6754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550" b="1" i="0">
                <a:solidFill>
                  <a:srgbClr val="00A0D3"/>
                </a:solidFill>
                <a:latin typeface="Cambria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5332" y="3106389"/>
            <a:ext cx="1873210" cy="6158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 i="0">
                <a:solidFill>
                  <a:srgbClr val="006F95"/>
                </a:solidFill>
                <a:latin typeface="Calibri"/>
              </a:rPr>
              <a:t>Active Inhibitory </a:t>
            </a:r>
            <a:r>
              <a:rPr sz="2000" b="1" i="0">
                <a:solidFill>
                  <a:srgbClr val="006F95"/>
                </a:solidFill>
                <a:latin typeface="Calibri"/>
              </a:rPr>
              <a:t> </a:t>
            </a:r>
            <a:r>
              <a:rPr sz="2000" b="1" i="0">
                <a:solidFill>
                  <a:srgbClr val="006F95"/>
                </a:solidFill>
                <a:latin typeface="Calibri"/>
              </a:rPr>
              <a:t>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5275" y="3839206"/>
            <a:ext cx="2699013" cy="122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006F95"/>
                </a:solidFill>
                <a:latin typeface="Calibri"/>
              </a:rPr>
              <a:t>Prompts conscious user agency 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through deliberate interaction 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tasks that demand intentional 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effort, strengthening prefrontal 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600" b="0" i="0">
                <a:solidFill>
                  <a:srgbClr val="006F95"/>
                </a:solidFill>
                <a:latin typeface="Calibri"/>
              </a:rPr>
              <a:t>inhibitory control.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99328" y="5727704"/>
            <a:ext cx="7314638" cy="3110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Closed-loop architecture: Detec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ti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on  →  Modula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ti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on  →  Engagement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73676" y="6399773"/>
            <a:ext cx="133035" cy="207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006F9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828798" y="2255520"/>
            <a:ext cx="8534400" cy="0"/>
          </a:xfrm>
          <a:prstGeom prst="line">
            <a:avLst/>
          </a:prstGeom>
          <a:ln w="49876">
            <a:solidFill>
              <a:srgbClr val="66C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402080" y="1828800"/>
            <a:ext cx="853440" cy="853440"/>
          </a:xfrm>
          <a:prstGeom prst="ellipse">
            <a:avLst/>
          </a:prstGeom>
          <a:solidFill>
            <a:srgbClr val="006F95"/>
          </a:solidFill>
          <a:ln w="49876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63" y="3038763"/>
            <a:ext cx="2519680" cy="30683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232100" y="1828800"/>
            <a:ext cx="853440" cy="853440"/>
          </a:xfrm>
          <a:prstGeom prst="ellipse">
            <a:avLst/>
          </a:prstGeom>
          <a:solidFill>
            <a:srgbClr val="006F95"/>
          </a:solidFill>
          <a:ln w="49876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689" y="3038763"/>
            <a:ext cx="2523373" cy="306832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060276" y="1828800"/>
            <a:ext cx="853440" cy="853440"/>
          </a:xfrm>
          <a:prstGeom prst="ellipse">
            <a:avLst/>
          </a:prstGeom>
          <a:solidFill>
            <a:srgbClr val="006F95"/>
          </a:solidFill>
          <a:ln w="49876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558" y="3038763"/>
            <a:ext cx="2517831" cy="306832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9888449" y="1828800"/>
            <a:ext cx="853440" cy="853440"/>
          </a:xfrm>
          <a:prstGeom prst="ellipse">
            <a:avLst/>
          </a:prstGeom>
          <a:solidFill>
            <a:srgbClr val="006F95"/>
          </a:solidFill>
          <a:ln w="49876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887" y="3038763"/>
            <a:ext cx="2517831" cy="30683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0209" y="92363"/>
            <a:ext cx="866370" cy="86636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1547" y="527637"/>
            <a:ext cx="4645247" cy="6343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250" b="1" i="0">
                <a:solidFill>
                  <a:srgbClr val="006F95"/>
                </a:solidFill>
                <a:latin typeface="Cambria"/>
              </a:rPr>
              <a:t>Development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804" y="2030317"/>
            <a:ext cx="269294" cy="4373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9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4356" y="3227212"/>
            <a:ext cx="919984" cy="3312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100" b="1" i="0">
                <a:solidFill>
                  <a:srgbClr val="006F95"/>
                </a:solidFill>
                <a:latin typeface="Calibri"/>
              </a:rPr>
              <a:t>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23" y="3655728"/>
            <a:ext cx="2428453" cy="16500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80501" indent="-380501">
              <a:buFont typeface="Arial"/>
              <a:buChar char="•"/>
            </a:pPr>
            <a:r>
              <a:rPr sz="1800" b="0" i="0">
                <a:solidFill>
                  <a:srgbClr val="006F95"/>
                </a:solidFill>
                <a:latin typeface="Calibri"/>
              </a:rPr>
              <a:t>Software and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hardware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familiarization</a:t>
            </a:r>
          </a:p>
          <a:p>
            <a:pPr marL="380501" indent="-380501">
              <a:buFont typeface="Arial"/>
              <a:buChar char="•"/>
            </a:pPr>
            <a:r>
              <a:rPr sz="1800" b="0" i="0">
                <a:solidFill>
                  <a:srgbClr val="006F95"/>
                </a:solidFill>
                <a:latin typeface="Calibri"/>
              </a:rPr>
              <a:t>Conceptual ideation,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prototyping, and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asset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7945" y="2030317"/>
            <a:ext cx="269294" cy="4373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9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2536" y="3227212"/>
            <a:ext cx="919985" cy="3312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100" b="1" i="0">
                <a:solidFill>
                  <a:srgbClr val="006F95"/>
                </a:solidFill>
                <a:latin typeface="Calibri"/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6084" y="2030317"/>
            <a:ext cx="269294" cy="4373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9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0585" y="3227212"/>
            <a:ext cx="919983" cy="3312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100" b="1" i="0">
                <a:solidFill>
                  <a:srgbClr val="006F95"/>
                </a:solidFill>
                <a:latin typeface="Calibri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06229" y="2030317"/>
            <a:ext cx="269294" cy="4373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9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0589" y="3227212"/>
            <a:ext cx="919983" cy="3312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100" b="1" i="0">
                <a:solidFill>
                  <a:srgbClr val="006F95"/>
                </a:solidFill>
                <a:latin typeface="Calibri"/>
              </a:rPr>
              <a:t>Phase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73676" y="6399773"/>
            <a:ext cx="133035" cy="207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006F95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0581" y="3655728"/>
            <a:ext cx="2391436" cy="2198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80501" indent="-380501">
              <a:buFont typeface="Arial"/>
              <a:buChar char="•"/>
            </a:pPr>
            <a:r>
              <a:rPr sz="1800" b="0" i="0">
                <a:solidFill>
                  <a:srgbClr val="006F95"/>
                </a:solidFill>
                <a:latin typeface="Calibri"/>
              </a:rPr>
              <a:t>Development and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building of the core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Virtual Reality scene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and UI components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in Unity</a:t>
            </a:r>
          </a:p>
          <a:p>
            <a:pPr marL="380501" indent="-380501">
              <a:buFont typeface="Arial"/>
              <a:buChar char="•"/>
            </a:pPr>
            <a:r>
              <a:rPr sz="1800" b="0" i="0">
                <a:solidFill>
                  <a:srgbClr val="006F95"/>
                </a:solidFill>
                <a:latin typeface="Calibri"/>
              </a:rPr>
              <a:t>Initial signal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acquisition testing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and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8740" y="3655728"/>
            <a:ext cx="2206470" cy="2198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80613" indent="-380613">
              <a:buFont typeface="Arial"/>
              <a:buChar char="•"/>
            </a:pPr>
            <a:r>
              <a:rPr sz="1800" b="0" i="0">
                <a:solidFill>
                  <a:srgbClr val="006F95"/>
                </a:solidFill>
                <a:latin typeface="Calibri"/>
              </a:rPr>
              <a:t>End-to-end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integration testing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between the VR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environment,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Python processing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pipeline, and Data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Management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System.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8787" y="3655728"/>
            <a:ext cx="2386800" cy="16500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80488" indent="-380488">
              <a:buFont typeface="Arial"/>
              <a:buChar char="•"/>
            </a:pPr>
            <a:r>
              <a:rPr sz="1800" b="0" i="0">
                <a:solidFill>
                  <a:srgbClr val="006F95"/>
                </a:solidFill>
                <a:latin typeface="Calibri"/>
              </a:rPr>
              <a:t>Preparation and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execution of live,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real-time interactive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demonstrations of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the neuroadaptive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800" b="0" i="0">
                <a:solidFill>
                  <a:srgbClr val="006F95"/>
                </a:solidFill>
                <a:latin typeface="Calibri"/>
              </a:rPr>
              <a:t>platform.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63" y="1572030"/>
            <a:ext cx="5384798" cy="203569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975360" y="2098503"/>
            <a:ext cx="975360" cy="975358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420" y="2323870"/>
            <a:ext cx="519083" cy="522776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835" y="1572030"/>
            <a:ext cx="5386647" cy="203569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583678" y="2098503"/>
            <a:ext cx="975358" cy="975358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740" y="2323870"/>
            <a:ext cx="519083" cy="522776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363" y="3829397"/>
            <a:ext cx="5384798" cy="2035693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975360" y="4354023"/>
            <a:ext cx="975360" cy="975358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4420" y="4581237"/>
            <a:ext cx="519083" cy="517236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6835" y="3829397"/>
            <a:ext cx="5386647" cy="2035693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583678" y="4354023"/>
            <a:ext cx="975358" cy="975358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740" y="4581237"/>
            <a:ext cx="519083" cy="517236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70209" y="92363"/>
            <a:ext cx="866370" cy="86636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1547" y="527637"/>
            <a:ext cx="4702101" cy="6343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250" b="1" i="0">
                <a:solidFill>
                  <a:srgbClr val="006F95"/>
                </a:solidFill>
                <a:latin typeface="Cambria"/>
              </a:rPr>
              <a:t>Technologies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6356" y="1826290"/>
            <a:ext cx="3302964" cy="3110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000" b="1" i="0">
                <a:solidFill>
                  <a:srgbClr val="006F95"/>
                </a:solidFill>
                <a:latin typeface="Calibri"/>
              </a:rPr>
              <a:t>Game Engine &amp; VR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6412" y="2254955"/>
            <a:ext cx="3071452" cy="532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50" b="0" i="0">
                <a:solidFill>
                  <a:srgbClr val="006F95"/>
                </a:solidFill>
                <a:latin typeface="Calibri"/>
              </a:rPr>
              <a:t>Unity (C#) with OpenXR for cross-</a:t>
            </a:r>
            <a:r>
              <a:rPr sz="175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750" b="0" i="0">
                <a:solidFill>
                  <a:srgbClr val="006F95"/>
                </a:solidFill>
                <a:latin typeface="Calibri"/>
              </a:rPr>
              <a:t>platform.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4723" y="1826290"/>
            <a:ext cx="2211016" cy="3110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000" b="1" i="0">
                <a:solidFill>
                  <a:srgbClr val="006F95"/>
                </a:solidFill>
                <a:latin typeface="Calibri"/>
              </a:rPr>
              <a:t>Backend &amp;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4720" y="2254955"/>
            <a:ext cx="3453334" cy="532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50" b="0" i="0">
                <a:solidFill>
                  <a:srgbClr val="006F95"/>
                </a:solidFill>
                <a:latin typeface="Calibri"/>
              </a:rPr>
              <a:t>Python (Flask, Pandas) for processing </a:t>
            </a:r>
            <a:r>
              <a:rPr sz="175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750" b="0" i="0">
                <a:solidFill>
                  <a:srgbClr val="006F95"/>
                </a:solidFill>
                <a:latin typeface="Calibri"/>
              </a:rPr>
              <a:t>telemetry data and session metrics.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6356" y="4081774"/>
            <a:ext cx="2600318" cy="3110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000" b="1" i="0">
                <a:solidFill>
                  <a:srgbClr val="006F95"/>
                </a:solidFill>
                <a:latin typeface="Calibri"/>
              </a:rPr>
              <a:t>Version Control &amp; CI/CD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6412" y="4510507"/>
            <a:ext cx="3115855" cy="532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50" b="0" i="0">
                <a:solidFill>
                  <a:srgbClr val="006F95"/>
                </a:solidFill>
                <a:latin typeface="Calibri"/>
              </a:rPr>
              <a:t>Git, GitHub, and automated build </a:t>
            </a:r>
            <a:r>
              <a:rPr sz="1750" b="0" i="0">
                <a:solidFill>
                  <a:srgbClr val="006F95"/>
                </a:solidFill>
                <a:latin typeface="Calibri"/>
              </a:rPr>
              <a:t> </a:t>
            </a:r>
            <a:r>
              <a:rPr sz="1750" b="0" i="0">
                <a:solidFill>
                  <a:srgbClr val="006F95"/>
                </a:solidFill>
                <a:latin typeface="Calibri"/>
              </a:rPr>
              <a:t>pipelines.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4723" y="4081774"/>
            <a:ext cx="1806269" cy="3110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000" b="1" i="0">
                <a:solidFill>
                  <a:srgbClr val="006F95"/>
                </a:solidFill>
                <a:latin typeface="Calibri"/>
              </a:rPr>
              <a:t>Hardware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4720" y="4510507"/>
            <a:ext cx="2737535" cy="268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750" b="0" i="0">
                <a:solidFill>
                  <a:srgbClr val="006F95"/>
                </a:solidFill>
                <a:latin typeface="Calibri"/>
              </a:rPr>
              <a:t>VR Headset and AURA device.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73676" y="6399773"/>
            <a:ext cx="133035" cy="207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006F9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922"/>
          </a:xfrm>
          <a:prstGeom prst="rect">
            <a:avLst/>
          </a:prstGeom>
          <a:solidFill>
            <a:srgbClr val="00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402081"/>
            <a:ext cx="4023360" cy="4023360"/>
          </a:xfrm>
          <a:prstGeom prst="ellipse">
            <a:avLst/>
          </a:prstGeom>
          <a:solidFill>
            <a:srgbClr val="00A0D3"/>
          </a:solidFill>
          <a:ln w="16625">
            <a:solidFill>
              <a:srgbClr val="00A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19198" y="1889761"/>
            <a:ext cx="3048000" cy="3048000"/>
          </a:xfrm>
          <a:prstGeom prst="ellipse">
            <a:avLst/>
          </a:prstGeom>
          <a:solidFill>
            <a:srgbClr val="66CCE9"/>
          </a:solidFill>
          <a:ln w="16625">
            <a:solidFill>
              <a:srgbClr val="66C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178" y="2554779"/>
            <a:ext cx="1597890" cy="15978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8185" y="339333"/>
            <a:ext cx="5934547" cy="2058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50" b="1" i="0" spc="431">
                <a:solidFill>
                  <a:srgbClr val="FFFFFF"/>
                </a:solidFill>
                <a:latin typeface="Calibri"/>
              </a:rPr>
              <a:t>I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N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N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O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V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A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T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I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O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N F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A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C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T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O</a:t>
            </a:r>
            <a:r>
              <a:rPr sz="1750" b="1" i="0" spc="431">
                <a:solidFill>
                  <a:srgbClr val="FFFFFF"/>
                </a:solidFill>
                <a:latin typeface="Calibri"/>
              </a:rPr>
              <a:t>R</a:t>
            </a:r>
          </a:p>
          <a:p>
            <a:pPr>
              <a:spcBef>
                <a:spcPts val="872"/>
              </a:spcBef>
            </a:pPr>
            <a:r>
              <a:rPr sz="3750" b="1" i="0">
                <a:solidFill>
                  <a:srgbClr val="FFFFFF"/>
                </a:solidFill>
                <a:latin typeface="Cambria"/>
              </a:rPr>
              <a:t>A closed-loop therapeutic </a:t>
            </a:r>
            <a:r>
              <a:rPr sz="3750" b="1" i="0">
                <a:solidFill>
                  <a:srgbClr val="FFFFFF"/>
                </a:solidFill>
                <a:latin typeface="Cambria"/>
              </a:rPr>
              <a:t> </a:t>
            </a:r>
            <a:r>
              <a:rPr sz="3750" b="1" i="0">
                <a:solidFill>
                  <a:srgbClr val="FFFFFF"/>
                </a:solidFill>
                <a:latin typeface="Cambria"/>
              </a:rPr>
              <a:t>intervention model within </a:t>
            </a:r>
            <a:r>
              <a:rPr sz="3750" b="1" i="0">
                <a:solidFill>
                  <a:srgbClr val="FFFFFF"/>
                </a:solidFill>
                <a:latin typeface="Cambria"/>
              </a:rPr>
              <a:t> </a:t>
            </a:r>
            <a:r>
              <a:rPr sz="3750" b="1" i="0">
                <a:solidFill>
                  <a:srgbClr val="FFFFFF"/>
                </a:solidFill>
                <a:latin typeface="Cambria"/>
              </a:rPr>
              <a:t>immersive VR.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8216" y="2775784"/>
            <a:ext cx="6165305" cy="2139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Calibri"/>
              </a:rPr>
              <a:t>The first market solution combining real-time EEG signals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with immersive VR to self-regulate dopamine scrolling,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featuring a telemetry-driven neuroadaptive ecosystem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with dynamic environmental shifts tailored for compulsive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digital behaviors rather than traditional substance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therapies or static apps which forces to stop the use of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digital devices.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73676" y="6399773"/>
            <a:ext cx="133035" cy="207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598" y="1584960"/>
            <a:ext cx="6339840" cy="4511040"/>
          </a:xfrm>
          <a:prstGeom prst="roundRect">
            <a:avLst>
              <a:gd name="adj" fmla="val 3276"/>
            </a:avLst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598" y="1584960"/>
            <a:ext cx="6339840" cy="4511040"/>
          </a:xfrm>
          <a:prstGeom prst="roundRect">
            <a:avLst>
              <a:gd name="adj" fmla="val 3276"/>
            </a:avLst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47360" y="1828800"/>
            <a:ext cx="975360" cy="975360"/>
          </a:xfrm>
          <a:prstGeom prst="ellipse">
            <a:avLst/>
          </a:prstGeom>
          <a:solidFill>
            <a:srgbClr val="66CCE9"/>
          </a:solidFill>
          <a:ln w="16625">
            <a:solidFill>
              <a:srgbClr val="66C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573" y="2056014"/>
            <a:ext cx="519083" cy="519083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003" y="1572030"/>
            <a:ext cx="4348478" cy="453505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620000" y="2621280"/>
            <a:ext cx="975358" cy="975358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909" y="2846648"/>
            <a:ext cx="517235" cy="52462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8778238" y="2621280"/>
            <a:ext cx="975358" cy="975358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147" y="2846648"/>
            <a:ext cx="519082" cy="524624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0209" y="92363"/>
            <a:ext cx="866370" cy="86636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1547" y="527637"/>
            <a:ext cx="3602216" cy="6343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250" b="1" i="0">
                <a:solidFill>
                  <a:srgbClr val="006F95"/>
                </a:solidFill>
                <a:latin typeface="Cambria"/>
              </a:rPr>
              <a:t>Target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126" y="1949383"/>
            <a:ext cx="2466894" cy="2479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600" b="1" i="0" spc="400">
                <a:solidFill>
                  <a:srgbClr val="FFFFFF"/>
                </a:solidFill>
                <a:latin typeface="Calibri"/>
              </a:rPr>
              <a:t>PRIMARY 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324" y="2555481"/>
            <a:ext cx="2993316" cy="1190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000" b="1" i="0">
                <a:solidFill>
                  <a:srgbClr val="FFFFFF"/>
                </a:solidFill>
                <a:latin typeface="Cambria"/>
              </a:rPr>
              <a:t>18–35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192" y="3714883"/>
            <a:ext cx="1045870" cy="3312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100" b="0" i="0">
                <a:solidFill>
                  <a:srgbClr val="FFFFFF"/>
                </a:solidFill>
                <a:latin typeface="Calibri"/>
              </a:rPr>
              <a:t>years 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118" y="4447604"/>
            <a:ext cx="5549935" cy="615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Calibri"/>
              </a:rPr>
              <a:t>Generation Z and Millennials experiencing high daily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screen dependency and attentional fatigue.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1869" y="1949383"/>
            <a:ext cx="2819895" cy="2479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600" b="1" i="0" spc="400">
                <a:solidFill>
                  <a:srgbClr val="006F95"/>
                </a:solidFill>
                <a:latin typeface="Calibri"/>
              </a:rPr>
              <a:t>SECONDARY SEGMENT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1838" y="3959912"/>
            <a:ext cx="3768230" cy="1225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 i="0">
                <a:solidFill>
                  <a:srgbClr val="006F95"/>
                </a:solidFill>
                <a:latin typeface="Calibri"/>
              </a:rPr>
              <a:t>Educational institutions and clinical </a:t>
            </a:r>
            <a:r>
              <a:rPr sz="20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2000" b="0" i="0">
                <a:solidFill>
                  <a:srgbClr val="006F95"/>
                </a:solidFill>
                <a:latin typeface="Calibri"/>
              </a:rPr>
              <a:t>psychology practices specializing in </a:t>
            </a:r>
            <a:r>
              <a:rPr sz="20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2000" b="0" i="0">
                <a:solidFill>
                  <a:srgbClr val="006F95"/>
                </a:solidFill>
                <a:latin typeface="Calibri"/>
              </a:rPr>
              <a:t>behavioral addiction and executive </a:t>
            </a:r>
            <a:r>
              <a:rPr sz="2000" b="0" i="0">
                <a:solidFill>
                  <a:srgbClr val="006F95"/>
                </a:solidFill>
                <a:latin typeface="Calibri"/>
              </a:rPr>
              <a:t> </a:t>
            </a:r>
            <a:r>
              <a:rPr sz="2000" b="0" i="0">
                <a:solidFill>
                  <a:srgbClr val="006F95"/>
                </a:solidFill>
                <a:latin typeface="Calibri"/>
              </a:rPr>
              <a:t>function training.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86854" y="6399773"/>
            <a:ext cx="220575" cy="207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006F9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598" y="1402081"/>
            <a:ext cx="10972800" cy="391621"/>
          </a:xfrm>
          <a:prstGeom prst="roundRect">
            <a:avLst>
              <a:gd name="adj" fmla="val 25000"/>
            </a:avLst>
          </a:prstGeom>
          <a:solidFill>
            <a:srgbClr val="00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05" y="1884219"/>
            <a:ext cx="10982036" cy="988289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05" y="3834939"/>
            <a:ext cx="10982036" cy="986443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4392814" y="1889761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8956"/>
                </a:lnTo>
                <a:lnTo>
                  <a:pt x="0" y="28956"/>
                </a:lnTo>
                <a:lnTo>
                  <a:pt x="0" y="0"/>
                </a:lnTo>
                <a:lnTo>
                  <a:pt x="6096" y="0"/>
                </a:lnTo>
                <a:moveTo>
                  <a:pt x="6096" y="50292"/>
                </a:moveTo>
                <a:lnTo>
                  <a:pt x="6096" y="77724"/>
                </a:lnTo>
                <a:lnTo>
                  <a:pt x="0" y="77724"/>
                </a:lnTo>
                <a:lnTo>
                  <a:pt x="0" y="50292"/>
                </a:lnTo>
                <a:lnTo>
                  <a:pt x="6096" y="50292"/>
                </a:lnTo>
                <a:moveTo>
                  <a:pt x="6096" y="99060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6096" y="99060"/>
                </a:lnTo>
                <a:moveTo>
                  <a:pt x="6096" y="147828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6096" y="147828"/>
                </a:lnTo>
                <a:moveTo>
                  <a:pt x="6096" y="196596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6096" y="196596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4392814" y="2364510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7724"/>
                </a:lnTo>
                <a:lnTo>
                  <a:pt x="0" y="77724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4392814" y="2839259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6200"/>
                </a:lnTo>
                <a:lnTo>
                  <a:pt x="0" y="76200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3840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6096" y="243840"/>
                </a:lnTo>
                <a:moveTo>
                  <a:pt x="6096" y="292608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6096" y="292608"/>
                </a:lnTo>
                <a:moveTo>
                  <a:pt x="6096" y="341376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6096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392814" y="3312161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8956"/>
                </a:lnTo>
                <a:lnTo>
                  <a:pt x="0" y="28956"/>
                </a:lnTo>
                <a:lnTo>
                  <a:pt x="0" y="0"/>
                </a:lnTo>
                <a:lnTo>
                  <a:pt x="6096" y="0"/>
                </a:lnTo>
                <a:moveTo>
                  <a:pt x="6096" y="50292"/>
                </a:moveTo>
                <a:lnTo>
                  <a:pt x="6096" y="77724"/>
                </a:lnTo>
                <a:lnTo>
                  <a:pt x="0" y="77724"/>
                </a:lnTo>
                <a:lnTo>
                  <a:pt x="0" y="50292"/>
                </a:lnTo>
                <a:lnTo>
                  <a:pt x="6096" y="50292"/>
                </a:lnTo>
                <a:moveTo>
                  <a:pt x="6096" y="99060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6096" y="99060"/>
                </a:lnTo>
                <a:moveTo>
                  <a:pt x="6096" y="147828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6096" y="147828"/>
                </a:lnTo>
                <a:moveTo>
                  <a:pt x="6096" y="196596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6096" y="196596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4392814" y="3786910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7724"/>
                </a:lnTo>
                <a:lnTo>
                  <a:pt x="0" y="77724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392814" y="4261659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6200"/>
                </a:lnTo>
                <a:lnTo>
                  <a:pt x="0" y="76200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3840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6096" y="243840"/>
                </a:lnTo>
                <a:moveTo>
                  <a:pt x="6096" y="292608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6096" y="292608"/>
                </a:lnTo>
                <a:moveTo>
                  <a:pt x="6096" y="341376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6096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392814" y="4734561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8956"/>
                </a:lnTo>
                <a:lnTo>
                  <a:pt x="0" y="28956"/>
                </a:lnTo>
                <a:lnTo>
                  <a:pt x="0" y="0"/>
                </a:lnTo>
                <a:lnTo>
                  <a:pt x="6096" y="0"/>
                </a:lnTo>
                <a:moveTo>
                  <a:pt x="6096" y="50292"/>
                </a:moveTo>
                <a:lnTo>
                  <a:pt x="6096" y="77724"/>
                </a:lnTo>
                <a:lnTo>
                  <a:pt x="0" y="77724"/>
                </a:lnTo>
                <a:lnTo>
                  <a:pt x="0" y="50292"/>
                </a:lnTo>
                <a:lnTo>
                  <a:pt x="6096" y="50292"/>
                </a:lnTo>
                <a:moveTo>
                  <a:pt x="6096" y="99060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6096" y="99060"/>
                </a:lnTo>
                <a:moveTo>
                  <a:pt x="6096" y="147828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6096" y="147828"/>
                </a:lnTo>
                <a:moveTo>
                  <a:pt x="6096" y="196596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6096" y="196596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392814" y="5209310"/>
            <a:ext cx="7389" cy="567112"/>
          </a:xfrm>
          <a:custGeom>
            <a:avLst/>
            <a:gdLst/>
            <a:ahLst/>
            <a:cxnLst/>
            <a:rect l="l" t="t" r="r" b="b"/>
            <a:pathLst>
              <a:path w="6096" h="467868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7724"/>
                </a:lnTo>
                <a:lnTo>
                  <a:pt x="0" y="77724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  <a:moveTo>
                  <a:pt x="6096" y="391668"/>
                </a:moveTo>
                <a:lnTo>
                  <a:pt x="6096" y="419100"/>
                </a:lnTo>
                <a:lnTo>
                  <a:pt x="0" y="419100"/>
                </a:lnTo>
                <a:lnTo>
                  <a:pt x="0" y="391668"/>
                </a:lnTo>
                <a:lnTo>
                  <a:pt x="6096" y="391668"/>
                </a:lnTo>
                <a:moveTo>
                  <a:pt x="6096" y="440436"/>
                </a:moveTo>
                <a:lnTo>
                  <a:pt x="6096" y="467868"/>
                </a:lnTo>
                <a:lnTo>
                  <a:pt x="0" y="467868"/>
                </a:lnTo>
                <a:lnTo>
                  <a:pt x="0" y="440436"/>
                </a:lnTo>
                <a:lnTo>
                  <a:pt x="6096" y="44043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044901" y="18897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5044901" y="2364510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5044901" y="2839259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6200"/>
                </a:lnTo>
                <a:lnTo>
                  <a:pt x="0" y="76200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3840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7620" y="243840"/>
                </a:lnTo>
                <a:moveTo>
                  <a:pt x="7620" y="292608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7620" y="292608"/>
                </a:lnTo>
                <a:moveTo>
                  <a:pt x="7620" y="341376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7620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5044901" y="33121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5044901" y="3786910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044901" y="4261659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6200"/>
                </a:lnTo>
                <a:lnTo>
                  <a:pt x="0" y="76200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3840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7620" y="243840"/>
                </a:lnTo>
                <a:moveTo>
                  <a:pt x="7620" y="292608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7620" y="292608"/>
                </a:lnTo>
                <a:moveTo>
                  <a:pt x="7620" y="341376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7620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5044901" y="47345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5044901" y="5209310"/>
            <a:ext cx="9236" cy="567112"/>
          </a:xfrm>
          <a:custGeom>
            <a:avLst/>
            <a:gdLst/>
            <a:ahLst/>
            <a:cxnLst/>
            <a:rect l="l" t="t" r="r" b="b"/>
            <a:pathLst>
              <a:path w="7620" h="467868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  <a:moveTo>
                  <a:pt x="7620" y="391668"/>
                </a:moveTo>
                <a:lnTo>
                  <a:pt x="7620" y="419100"/>
                </a:lnTo>
                <a:lnTo>
                  <a:pt x="0" y="419100"/>
                </a:lnTo>
                <a:lnTo>
                  <a:pt x="0" y="391668"/>
                </a:lnTo>
                <a:lnTo>
                  <a:pt x="7620" y="391668"/>
                </a:lnTo>
                <a:moveTo>
                  <a:pt x="7620" y="440436"/>
                </a:moveTo>
                <a:lnTo>
                  <a:pt x="7620" y="467868"/>
                </a:lnTo>
                <a:lnTo>
                  <a:pt x="0" y="467868"/>
                </a:lnTo>
                <a:lnTo>
                  <a:pt x="0" y="440436"/>
                </a:lnTo>
                <a:lnTo>
                  <a:pt x="7620" y="44043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5698836" y="18897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5698836" y="2364510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5698836" y="2839259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6200"/>
                </a:lnTo>
                <a:lnTo>
                  <a:pt x="0" y="76200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3840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7620" y="243840"/>
                </a:lnTo>
                <a:moveTo>
                  <a:pt x="7620" y="292608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7620" y="292608"/>
                </a:lnTo>
                <a:moveTo>
                  <a:pt x="7620" y="341376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7620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5698836" y="33121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5698836" y="3786910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5698836" y="4261659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6200"/>
                </a:lnTo>
                <a:lnTo>
                  <a:pt x="0" y="76200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3840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7620" y="243840"/>
                </a:lnTo>
                <a:moveTo>
                  <a:pt x="7620" y="292608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7620" y="292608"/>
                </a:lnTo>
                <a:moveTo>
                  <a:pt x="7620" y="341376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7620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698836" y="47345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5698836" y="5209310"/>
            <a:ext cx="9236" cy="567112"/>
          </a:xfrm>
          <a:custGeom>
            <a:avLst/>
            <a:gdLst/>
            <a:ahLst/>
            <a:cxnLst/>
            <a:rect l="l" t="t" r="r" b="b"/>
            <a:pathLst>
              <a:path w="7620" h="467868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  <a:moveTo>
                  <a:pt x="7620" y="391668"/>
                </a:moveTo>
                <a:lnTo>
                  <a:pt x="7620" y="419100"/>
                </a:lnTo>
                <a:lnTo>
                  <a:pt x="0" y="419100"/>
                </a:lnTo>
                <a:lnTo>
                  <a:pt x="0" y="391668"/>
                </a:lnTo>
                <a:lnTo>
                  <a:pt x="7620" y="391668"/>
                </a:lnTo>
                <a:moveTo>
                  <a:pt x="7620" y="440436"/>
                </a:moveTo>
                <a:lnTo>
                  <a:pt x="7620" y="467868"/>
                </a:lnTo>
                <a:lnTo>
                  <a:pt x="0" y="467868"/>
                </a:lnTo>
                <a:lnTo>
                  <a:pt x="0" y="440436"/>
                </a:lnTo>
                <a:lnTo>
                  <a:pt x="7620" y="44043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6352770" y="1889761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8956"/>
                </a:lnTo>
                <a:lnTo>
                  <a:pt x="0" y="28956"/>
                </a:lnTo>
                <a:lnTo>
                  <a:pt x="0" y="0"/>
                </a:lnTo>
                <a:lnTo>
                  <a:pt x="6096" y="0"/>
                </a:lnTo>
                <a:moveTo>
                  <a:pt x="6096" y="50292"/>
                </a:moveTo>
                <a:lnTo>
                  <a:pt x="6096" y="77724"/>
                </a:lnTo>
                <a:lnTo>
                  <a:pt x="0" y="77724"/>
                </a:lnTo>
                <a:lnTo>
                  <a:pt x="0" y="50292"/>
                </a:lnTo>
                <a:lnTo>
                  <a:pt x="6096" y="50292"/>
                </a:lnTo>
                <a:moveTo>
                  <a:pt x="6096" y="99060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6096" y="99060"/>
                </a:lnTo>
                <a:moveTo>
                  <a:pt x="6096" y="147828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6096" y="147828"/>
                </a:lnTo>
                <a:moveTo>
                  <a:pt x="6096" y="196596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6096" y="196596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6352770" y="2364510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7724"/>
                </a:lnTo>
                <a:lnTo>
                  <a:pt x="0" y="77724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6352770" y="2839259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6200"/>
                </a:lnTo>
                <a:lnTo>
                  <a:pt x="0" y="76200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3840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6096" y="243840"/>
                </a:lnTo>
                <a:moveTo>
                  <a:pt x="6096" y="292608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6096" y="292608"/>
                </a:lnTo>
                <a:moveTo>
                  <a:pt x="6096" y="341376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6096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6352770" y="3312161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8956"/>
                </a:lnTo>
                <a:lnTo>
                  <a:pt x="0" y="28956"/>
                </a:lnTo>
                <a:lnTo>
                  <a:pt x="0" y="0"/>
                </a:lnTo>
                <a:lnTo>
                  <a:pt x="6096" y="0"/>
                </a:lnTo>
                <a:moveTo>
                  <a:pt x="6096" y="50292"/>
                </a:moveTo>
                <a:lnTo>
                  <a:pt x="6096" y="77724"/>
                </a:lnTo>
                <a:lnTo>
                  <a:pt x="0" y="77724"/>
                </a:lnTo>
                <a:lnTo>
                  <a:pt x="0" y="50292"/>
                </a:lnTo>
                <a:lnTo>
                  <a:pt x="6096" y="50292"/>
                </a:lnTo>
                <a:moveTo>
                  <a:pt x="6096" y="99060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6096" y="99060"/>
                </a:lnTo>
                <a:moveTo>
                  <a:pt x="6096" y="147828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6096" y="147828"/>
                </a:lnTo>
                <a:moveTo>
                  <a:pt x="6096" y="196596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6096" y="196596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6352770" y="3786910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7724"/>
                </a:lnTo>
                <a:lnTo>
                  <a:pt x="0" y="77724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352770" y="4261659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6200"/>
                </a:lnTo>
                <a:lnTo>
                  <a:pt x="0" y="76200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3840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6096" y="243840"/>
                </a:lnTo>
                <a:moveTo>
                  <a:pt x="6096" y="292608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6096" y="292608"/>
                </a:lnTo>
                <a:moveTo>
                  <a:pt x="6096" y="341376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6096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352770" y="4734561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8956"/>
                </a:lnTo>
                <a:lnTo>
                  <a:pt x="0" y="28956"/>
                </a:lnTo>
                <a:lnTo>
                  <a:pt x="0" y="0"/>
                </a:lnTo>
                <a:lnTo>
                  <a:pt x="6096" y="0"/>
                </a:lnTo>
                <a:moveTo>
                  <a:pt x="6096" y="50292"/>
                </a:moveTo>
                <a:lnTo>
                  <a:pt x="6096" y="77724"/>
                </a:lnTo>
                <a:lnTo>
                  <a:pt x="0" y="77724"/>
                </a:lnTo>
                <a:lnTo>
                  <a:pt x="0" y="50292"/>
                </a:lnTo>
                <a:lnTo>
                  <a:pt x="6096" y="50292"/>
                </a:lnTo>
                <a:moveTo>
                  <a:pt x="6096" y="99060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6096" y="99060"/>
                </a:lnTo>
                <a:moveTo>
                  <a:pt x="6096" y="147828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6096" y="147828"/>
                </a:lnTo>
                <a:moveTo>
                  <a:pt x="6096" y="196596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6096" y="196596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352770" y="5209310"/>
            <a:ext cx="7389" cy="567112"/>
          </a:xfrm>
          <a:custGeom>
            <a:avLst/>
            <a:gdLst/>
            <a:ahLst/>
            <a:cxnLst/>
            <a:rect l="l" t="t" r="r" b="b"/>
            <a:pathLst>
              <a:path w="6096" h="467868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7724"/>
                </a:lnTo>
                <a:lnTo>
                  <a:pt x="0" y="77724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  <a:moveTo>
                  <a:pt x="6096" y="391668"/>
                </a:moveTo>
                <a:lnTo>
                  <a:pt x="6096" y="419100"/>
                </a:lnTo>
                <a:lnTo>
                  <a:pt x="0" y="419100"/>
                </a:lnTo>
                <a:lnTo>
                  <a:pt x="0" y="391668"/>
                </a:lnTo>
                <a:lnTo>
                  <a:pt x="6096" y="391668"/>
                </a:lnTo>
                <a:moveTo>
                  <a:pt x="6096" y="440436"/>
                </a:moveTo>
                <a:lnTo>
                  <a:pt x="6096" y="467868"/>
                </a:lnTo>
                <a:lnTo>
                  <a:pt x="0" y="467868"/>
                </a:lnTo>
                <a:lnTo>
                  <a:pt x="0" y="440436"/>
                </a:lnTo>
                <a:lnTo>
                  <a:pt x="6096" y="44043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7004858" y="18897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7004858" y="2364510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04858" y="2839259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6200"/>
                </a:lnTo>
                <a:lnTo>
                  <a:pt x="0" y="76200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3840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7620" y="243840"/>
                </a:lnTo>
                <a:moveTo>
                  <a:pt x="7620" y="292608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7620" y="292608"/>
                </a:lnTo>
                <a:moveTo>
                  <a:pt x="7620" y="341376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7620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04858" y="33121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004858" y="3786910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004858" y="4261659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6200"/>
                </a:lnTo>
                <a:lnTo>
                  <a:pt x="0" y="76200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3840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7620" y="243840"/>
                </a:lnTo>
                <a:moveTo>
                  <a:pt x="7620" y="292608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7620" y="292608"/>
                </a:lnTo>
                <a:moveTo>
                  <a:pt x="7620" y="341376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7620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004858" y="47345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004858" y="5209310"/>
            <a:ext cx="9236" cy="567112"/>
          </a:xfrm>
          <a:custGeom>
            <a:avLst/>
            <a:gdLst/>
            <a:ahLst/>
            <a:cxnLst/>
            <a:rect l="l" t="t" r="r" b="b"/>
            <a:pathLst>
              <a:path w="7620" h="467868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  <a:moveTo>
                  <a:pt x="7620" y="391668"/>
                </a:moveTo>
                <a:lnTo>
                  <a:pt x="7620" y="419100"/>
                </a:lnTo>
                <a:lnTo>
                  <a:pt x="0" y="419100"/>
                </a:lnTo>
                <a:lnTo>
                  <a:pt x="0" y="391668"/>
                </a:lnTo>
                <a:lnTo>
                  <a:pt x="7620" y="391668"/>
                </a:lnTo>
                <a:moveTo>
                  <a:pt x="7620" y="440436"/>
                </a:moveTo>
                <a:lnTo>
                  <a:pt x="7620" y="467868"/>
                </a:lnTo>
                <a:lnTo>
                  <a:pt x="0" y="467868"/>
                </a:lnTo>
                <a:lnTo>
                  <a:pt x="0" y="440436"/>
                </a:lnTo>
                <a:lnTo>
                  <a:pt x="7620" y="44043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7658792" y="18897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7658792" y="2364510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7658792" y="2839259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6200"/>
                </a:lnTo>
                <a:lnTo>
                  <a:pt x="0" y="76200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3840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7620" y="243840"/>
                </a:lnTo>
                <a:moveTo>
                  <a:pt x="7620" y="292608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7620" y="292608"/>
                </a:lnTo>
                <a:moveTo>
                  <a:pt x="7620" y="341376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7620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7658792" y="33121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658792" y="3786910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658792" y="4261659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6200"/>
                </a:lnTo>
                <a:lnTo>
                  <a:pt x="0" y="76200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3840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7620" y="243840"/>
                </a:lnTo>
                <a:moveTo>
                  <a:pt x="7620" y="292608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7620" y="292608"/>
                </a:lnTo>
                <a:moveTo>
                  <a:pt x="7620" y="341376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7620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7658792" y="47345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7658792" y="5209310"/>
            <a:ext cx="9236" cy="567112"/>
          </a:xfrm>
          <a:custGeom>
            <a:avLst/>
            <a:gdLst/>
            <a:ahLst/>
            <a:cxnLst/>
            <a:rect l="l" t="t" r="r" b="b"/>
            <a:pathLst>
              <a:path w="7620" h="467868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  <a:moveTo>
                  <a:pt x="7620" y="391668"/>
                </a:moveTo>
                <a:lnTo>
                  <a:pt x="7620" y="419100"/>
                </a:lnTo>
                <a:lnTo>
                  <a:pt x="0" y="419100"/>
                </a:lnTo>
                <a:lnTo>
                  <a:pt x="0" y="391668"/>
                </a:lnTo>
                <a:lnTo>
                  <a:pt x="7620" y="391668"/>
                </a:lnTo>
                <a:moveTo>
                  <a:pt x="7620" y="440436"/>
                </a:moveTo>
                <a:lnTo>
                  <a:pt x="7620" y="467868"/>
                </a:lnTo>
                <a:lnTo>
                  <a:pt x="0" y="467868"/>
                </a:lnTo>
                <a:lnTo>
                  <a:pt x="0" y="440436"/>
                </a:lnTo>
                <a:lnTo>
                  <a:pt x="7620" y="44043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8312727" y="1889761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8956"/>
                </a:lnTo>
                <a:lnTo>
                  <a:pt x="0" y="28956"/>
                </a:lnTo>
                <a:lnTo>
                  <a:pt x="0" y="0"/>
                </a:lnTo>
                <a:lnTo>
                  <a:pt x="6096" y="0"/>
                </a:lnTo>
                <a:moveTo>
                  <a:pt x="6096" y="50292"/>
                </a:moveTo>
                <a:lnTo>
                  <a:pt x="6096" y="77724"/>
                </a:lnTo>
                <a:lnTo>
                  <a:pt x="0" y="77724"/>
                </a:lnTo>
                <a:lnTo>
                  <a:pt x="0" y="50292"/>
                </a:lnTo>
                <a:lnTo>
                  <a:pt x="6096" y="50292"/>
                </a:lnTo>
                <a:moveTo>
                  <a:pt x="6096" y="99060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6096" y="99060"/>
                </a:lnTo>
                <a:moveTo>
                  <a:pt x="6096" y="147828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6096" y="147828"/>
                </a:lnTo>
                <a:moveTo>
                  <a:pt x="6096" y="196596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6096" y="196596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8312727" y="2364510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7724"/>
                </a:lnTo>
                <a:lnTo>
                  <a:pt x="0" y="77724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312727" y="2839259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6200"/>
                </a:lnTo>
                <a:lnTo>
                  <a:pt x="0" y="76200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3840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6096" y="243840"/>
                </a:lnTo>
                <a:moveTo>
                  <a:pt x="6096" y="292608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6096" y="292608"/>
                </a:lnTo>
                <a:moveTo>
                  <a:pt x="6096" y="341376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6096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312727" y="3312161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8956"/>
                </a:lnTo>
                <a:lnTo>
                  <a:pt x="0" y="28956"/>
                </a:lnTo>
                <a:lnTo>
                  <a:pt x="0" y="0"/>
                </a:lnTo>
                <a:lnTo>
                  <a:pt x="6096" y="0"/>
                </a:lnTo>
                <a:moveTo>
                  <a:pt x="6096" y="50292"/>
                </a:moveTo>
                <a:lnTo>
                  <a:pt x="6096" y="77724"/>
                </a:lnTo>
                <a:lnTo>
                  <a:pt x="0" y="77724"/>
                </a:lnTo>
                <a:lnTo>
                  <a:pt x="0" y="50292"/>
                </a:lnTo>
                <a:lnTo>
                  <a:pt x="6096" y="50292"/>
                </a:lnTo>
                <a:moveTo>
                  <a:pt x="6096" y="99060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6096" y="99060"/>
                </a:lnTo>
                <a:moveTo>
                  <a:pt x="6096" y="147828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6096" y="147828"/>
                </a:lnTo>
                <a:moveTo>
                  <a:pt x="6096" y="196596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6096" y="196596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8312727" y="3786910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7724"/>
                </a:lnTo>
                <a:lnTo>
                  <a:pt x="0" y="77724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8312727" y="4261659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6200"/>
                </a:lnTo>
                <a:lnTo>
                  <a:pt x="0" y="76200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3840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6096" y="243840"/>
                </a:lnTo>
                <a:moveTo>
                  <a:pt x="6096" y="292608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6096" y="292608"/>
                </a:lnTo>
                <a:moveTo>
                  <a:pt x="6096" y="341376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6096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8312727" y="4734561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8956"/>
                </a:lnTo>
                <a:lnTo>
                  <a:pt x="0" y="28956"/>
                </a:lnTo>
                <a:lnTo>
                  <a:pt x="0" y="0"/>
                </a:lnTo>
                <a:lnTo>
                  <a:pt x="6096" y="0"/>
                </a:lnTo>
                <a:moveTo>
                  <a:pt x="6096" y="50292"/>
                </a:moveTo>
                <a:lnTo>
                  <a:pt x="6096" y="77724"/>
                </a:lnTo>
                <a:lnTo>
                  <a:pt x="0" y="77724"/>
                </a:lnTo>
                <a:lnTo>
                  <a:pt x="0" y="50292"/>
                </a:lnTo>
                <a:lnTo>
                  <a:pt x="6096" y="50292"/>
                </a:lnTo>
                <a:moveTo>
                  <a:pt x="6096" y="99060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6096" y="99060"/>
                </a:lnTo>
                <a:moveTo>
                  <a:pt x="6096" y="147828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6096" y="147828"/>
                </a:lnTo>
                <a:moveTo>
                  <a:pt x="6096" y="196596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6096" y="196596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8312727" y="5209310"/>
            <a:ext cx="7389" cy="567112"/>
          </a:xfrm>
          <a:custGeom>
            <a:avLst/>
            <a:gdLst/>
            <a:ahLst/>
            <a:cxnLst/>
            <a:rect l="l" t="t" r="r" b="b"/>
            <a:pathLst>
              <a:path w="6096" h="467868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7724"/>
                </a:lnTo>
                <a:lnTo>
                  <a:pt x="0" y="77724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  <a:moveTo>
                  <a:pt x="6096" y="391668"/>
                </a:moveTo>
                <a:lnTo>
                  <a:pt x="6096" y="419100"/>
                </a:lnTo>
                <a:lnTo>
                  <a:pt x="0" y="419100"/>
                </a:lnTo>
                <a:lnTo>
                  <a:pt x="0" y="391668"/>
                </a:lnTo>
                <a:lnTo>
                  <a:pt x="6096" y="391668"/>
                </a:lnTo>
                <a:moveTo>
                  <a:pt x="6096" y="440436"/>
                </a:moveTo>
                <a:lnTo>
                  <a:pt x="6096" y="467868"/>
                </a:lnTo>
                <a:lnTo>
                  <a:pt x="0" y="467868"/>
                </a:lnTo>
                <a:lnTo>
                  <a:pt x="0" y="440436"/>
                </a:lnTo>
                <a:lnTo>
                  <a:pt x="6096" y="44043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8964815" y="1889761"/>
            <a:ext cx="9235" cy="448887"/>
          </a:xfrm>
          <a:custGeom>
            <a:avLst/>
            <a:gdLst/>
            <a:ahLst/>
            <a:cxnLst/>
            <a:rect l="l" t="t" r="r" b="b"/>
            <a:pathLst>
              <a:path w="7619" h="370332">
                <a:moveTo>
                  <a:pt x="7619" y="0"/>
                </a:moveTo>
                <a:lnTo>
                  <a:pt x="7619" y="28956"/>
                </a:lnTo>
                <a:lnTo>
                  <a:pt x="0" y="28956"/>
                </a:lnTo>
                <a:lnTo>
                  <a:pt x="0" y="0"/>
                </a:lnTo>
                <a:lnTo>
                  <a:pt x="7619" y="0"/>
                </a:lnTo>
                <a:moveTo>
                  <a:pt x="7619" y="50292"/>
                </a:moveTo>
                <a:lnTo>
                  <a:pt x="7619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19" y="50292"/>
                </a:lnTo>
                <a:moveTo>
                  <a:pt x="7619" y="99060"/>
                </a:moveTo>
                <a:lnTo>
                  <a:pt x="7619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19" y="99060"/>
                </a:lnTo>
                <a:moveTo>
                  <a:pt x="7619" y="147828"/>
                </a:moveTo>
                <a:lnTo>
                  <a:pt x="7619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19" y="147828"/>
                </a:lnTo>
                <a:moveTo>
                  <a:pt x="7619" y="196596"/>
                </a:moveTo>
                <a:lnTo>
                  <a:pt x="7619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19" y="196596"/>
                </a:lnTo>
                <a:moveTo>
                  <a:pt x="7619" y="245364"/>
                </a:moveTo>
                <a:lnTo>
                  <a:pt x="7619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19" y="245364"/>
                </a:lnTo>
                <a:moveTo>
                  <a:pt x="7619" y="294132"/>
                </a:moveTo>
                <a:lnTo>
                  <a:pt x="7619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19" y="294132"/>
                </a:lnTo>
                <a:moveTo>
                  <a:pt x="7619" y="342900"/>
                </a:moveTo>
                <a:lnTo>
                  <a:pt x="7619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19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8964815" y="2364510"/>
            <a:ext cx="9235" cy="448887"/>
          </a:xfrm>
          <a:custGeom>
            <a:avLst/>
            <a:gdLst/>
            <a:ahLst/>
            <a:cxnLst/>
            <a:rect l="l" t="t" r="r" b="b"/>
            <a:pathLst>
              <a:path w="7619" h="370332">
                <a:moveTo>
                  <a:pt x="7619" y="0"/>
                </a:moveTo>
                <a:lnTo>
                  <a:pt x="7619" y="27432"/>
                </a:lnTo>
                <a:lnTo>
                  <a:pt x="0" y="27432"/>
                </a:lnTo>
                <a:lnTo>
                  <a:pt x="0" y="0"/>
                </a:lnTo>
                <a:lnTo>
                  <a:pt x="7619" y="0"/>
                </a:lnTo>
                <a:moveTo>
                  <a:pt x="7619" y="48768"/>
                </a:moveTo>
                <a:lnTo>
                  <a:pt x="7619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19" y="48768"/>
                </a:lnTo>
                <a:moveTo>
                  <a:pt x="7619" y="97536"/>
                </a:moveTo>
                <a:lnTo>
                  <a:pt x="7619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19" y="97536"/>
                </a:lnTo>
                <a:moveTo>
                  <a:pt x="7619" y="146304"/>
                </a:moveTo>
                <a:lnTo>
                  <a:pt x="7619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19" y="146304"/>
                </a:lnTo>
                <a:moveTo>
                  <a:pt x="7619" y="195072"/>
                </a:moveTo>
                <a:lnTo>
                  <a:pt x="7619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19" y="195072"/>
                </a:lnTo>
                <a:moveTo>
                  <a:pt x="7619" y="245364"/>
                </a:moveTo>
                <a:lnTo>
                  <a:pt x="7619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19" y="245364"/>
                </a:lnTo>
                <a:moveTo>
                  <a:pt x="7619" y="294132"/>
                </a:moveTo>
                <a:lnTo>
                  <a:pt x="7619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19" y="294132"/>
                </a:lnTo>
                <a:moveTo>
                  <a:pt x="7619" y="342900"/>
                </a:moveTo>
                <a:lnTo>
                  <a:pt x="7619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19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8964815" y="2839259"/>
            <a:ext cx="9235" cy="448887"/>
          </a:xfrm>
          <a:custGeom>
            <a:avLst/>
            <a:gdLst/>
            <a:ahLst/>
            <a:cxnLst/>
            <a:rect l="l" t="t" r="r" b="b"/>
            <a:pathLst>
              <a:path w="7619" h="370332">
                <a:moveTo>
                  <a:pt x="7619" y="0"/>
                </a:moveTo>
                <a:lnTo>
                  <a:pt x="7619" y="27432"/>
                </a:lnTo>
                <a:lnTo>
                  <a:pt x="0" y="27432"/>
                </a:lnTo>
                <a:lnTo>
                  <a:pt x="0" y="0"/>
                </a:lnTo>
                <a:lnTo>
                  <a:pt x="7619" y="0"/>
                </a:lnTo>
                <a:moveTo>
                  <a:pt x="7619" y="48768"/>
                </a:moveTo>
                <a:lnTo>
                  <a:pt x="7619" y="76200"/>
                </a:lnTo>
                <a:lnTo>
                  <a:pt x="0" y="76200"/>
                </a:lnTo>
                <a:lnTo>
                  <a:pt x="0" y="48768"/>
                </a:lnTo>
                <a:lnTo>
                  <a:pt x="7619" y="48768"/>
                </a:lnTo>
                <a:moveTo>
                  <a:pt x="7619" y="97536"/>
                </a:moveTo>
                <a:lnTo>
                  <a:pt x="7619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7619" y="97536"/>
                </a:lnTo>
                <a:moveTo>
                  <a:pt x="7619" y="146304"/>
                </a:moveTo>
                <a:lnTo>
                  <a:pt x="7619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7619" y="146304"/>
                </a:lnTo>
                <a:moveTo>
                  <a:pt x="7619" y="195072"/>
                </a:moveTo>
                <a:lnTo>
                  <a:pt x="7619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7619" y="195072"/>
                </a:lnTo>
                <a:moveTo>
                  <a:pt x="7619" y="243840"/>
                </a:moveTo>
                <a:lnTo>
                  <a:pt x="7619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7619" y="243840"/>
                </a:lnTo>
                <a:moveTo>
                  <a:pt x="7619" y="292608"/>
                </a:moveTo>
                <a:lnTo>
                  <a:pt x="7619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7619" y="292608"/>
                </a:lnTo>
                <a:moveTo>
                  <a:pt x="7619" y="341376"/>
                </a:moveTo>
                <a:lnTo>
                  <a:pt x="7619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7619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964815" y="3312161"/>
            <a:ext cx="9235" cy="448887"/>
          </a:xfrm>
          <a:custGeom>
            <a:avLst/>
            <a:gdLst/>
            <a:ahLst/>
            <a:cxnLst/>
            <a:rect l="l" t="t" r="r" b="b"/>
            <a:pathLst>
              <a:path w="7619" h="370332">
                <a:moveTo>
                  <a:pt x="7619" y="0"/>
                </a:moveTo>
                <a:lnTo>
                  <a:pt x="7619" y="28956"/>
                </a:lnTo>
                <a:lnTo>
                  <a:pt x="0" y="28956"/>
                </a:lnTo>
                <a:lnTo>
                  <a:pt x="0" y="0"/>
                </a:lnTo>
                <a:lnTo>
                  <a:pt x="7619" y="0"/>
                </a:lnTo>
                <a:moveTo>
                  <a:pt x="7619" y="50292"/>
                </a:moveTo>
                <a:lnTo>
                  <a:pt x="7619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19" y="50292"/>
                </a:lnTo>
                <a:moveTo>
                  <a:pt x="7619" y="99060"/>
                </a:moveTo>
                <a:lnTo>
                  <a:pt x="7619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19" y="99060"/>
                </a:lnTo>
                <a:moveTo>
                  <a:pt x="7619" y="147828"/>
                </a:moveTo>
                <a:lnTo>
                  <a:pt x="7619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19" y="147828"/>
                </a:lnTo>
                <a:moveTo>
                  <a:pt x="7619" y="196596"/>
                </a:moveTo>
                <a:lnTo>
                  <a:pt x="7619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19" y="196596"/>
                </a:lnTo>
                <a:moveTo>
                  <a:pt x="7619" y="245364"/>
                </a:moveTo>
                <a:lnTo>
                  <a:pt x="7619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19" y="245364"/>
                </a:lnTo>
                <a:moveTo>
                  <a:pt x="7619" y="294132"/>
                </a:moveTo>
                <a:lnTo>
                  <a:pt x="7619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19" y="294132"/>
                </a:lnTo>
                <a:moveTo>
                  <a:pt x="7619" y="342900"/>
                </a:moveTo>
                <a:lnTo>
                  <a:pt x="7619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19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8964815" y="3786910"/>
            <a:ext cx="9235" cy="448887"/>
          </a:xfrm>
          <a:custGeom>
            <a:avLst/>
            <a:gdLst/>
            <a:ahLst/>
            <a:cxnLst/>
            <a:rect l="l" t="t" r="r" b="b"/>
            <a:pathLst>
              <a:path w="7619" h="370332">
                <a:moveTo>
                  <a:pt x="7619" y="0"/>
                </a:moveTo>
                <a:lnTo>
                  <a:pt x="7619" y="27432"/>
                </a:lnTo>
                <a:lnTo>
                  <a:pt x="0" y="27432"/>
                </a:lnTo>
                <a:lnTo>
                  <a:pt x="0" y="0"/>
                </a:lnTo>
                <a:lnTo>
                  <a:pt x="7619" y="0"/>
                </a:lnTo>
                <a:moveTo>
                  <a:pt x="7619" y="48768"/>
                </a:moveTo>
                <a:lnTo>
                  <a:pt x="7619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19" y="48768"/>
                </a:lnTo>
                <a:moveTo>
                  <a:pt x="7619" y="97536"/>
                </a:moveTo>
                <a:lnTo>
                  <a:pt x="7619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19" y="97536"/>
                </a:lnTo>
                <a:moveTo>
                  <a:pt x="7619" y="146304"/>
                </a:moveTo>
                <a:lnTo>
                  <a:pt x="7619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19" y="146304"/>
                </a:lnTo>
                <a:moveTo>
                  <a:pt x="7619" y="195072"/>
                </a:moveTo>
                <a:lnTo>
                  <a:pt x="7619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19" y="195072"/>
                </a:lnTo>
                <a:moveTo>
                  <a:pt x="7619" y="245364"/>
                </a:moveTo>
                <a:lnTo>
                  <a:pt x="7619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19" y="245364"/>
                </a:lnTo>
                <a:moveTo>
                  <a:pt x="7619" y="294132"/>
                </a:moveTo>
                <a:lnTo>
                  <a:pt x="7619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19" y="294132"/>
                </a:lnTo>
                <a:moveTo>
                  <a:pt x="7619" y="342900"/>
                </a:moveTo>
                <a:lnTo>
                  <a:pt x="7619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19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964815" y="4261659"/>
            <a:ext cx="9235" cy="448887"/>
          </a:xfrm>
          <a:custGeom>
            <a:avLst/>
            <a:gdLst/>
            <a:ahLst/>
            <a:cxnLst/>
            <a:rect l="l" t="t" r="r" b="b"/>
            <a:pathLst>
              <a:path w="7619" h="370332">
                <a:moveTo>
                  <a:pt x="7619" y="0"/>
                </a:moveTo>
                <a:lnTo>
                  <a:pt x="7619" y="27432"/>
                </a:lnTo>
                <a:lnTo>
                  <a:pt x="0" y="27432"/>
                </a:lnTo>
                <a:lnTo>
                  <a:pt x="0" y="0"/>
                </a:lnTo>
                <a:lnTo>
                  <a:pt x="7619" y="0"/>
                </a:lnTo>
                <a:moveTo>
                  <a:pt x="7619" y="48768"/>
                </a:moveTo>
                <a:lnTo>
                  <a:pt x="7619" y="76200"/>
                </a:lnTo>
                <a:lnTo>
                  <a:pt x="0" y="76200"/>
                </a:lnTo>
                <a:lnTo>
                  <a:pt x="0" y="48768"/>
                </a:lnTo>
                <a:lnTo>
                  <a:pt x="7619" y="48768"/>
                </a:lnTo>
                <a:moveTo>
                  <a:pt x="7619" y="97536"/>
                </a:moveTo>
                <a:lnTo>
                  <a:pt x="7619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7619" y="97536"/>
                </a:lnTo>
                <a:moveTo>
                  <a:pt x="7619" y="146304"/>
                </a:moveTo>
                <a:lnTo>
                  <a:pt x="7619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7619" y="146304"/>
                </a:lnTo>
                <a:moveTo>
                  <a:pt x="7619" y="195072"/>
                </a:moveTo>
                <a:lnTo>
                  <a:pt x="7619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7619" y="195072"/>
                </a:lnTo>
                <a:moveTo>
                  <a:pt x="7619" y="243840"/>
                </a:moveTo>
                <a:lnTo>
                  <a:pt x="7619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7619" y="243840"/>
                </a:lnTo>
                <a:moveTo>
                  <a:pt x="7619" y="292608"/>
                </a:moveTo>
                <a:lnTo>
                  <a:pt x="7619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7619" y="292608"/>
                </a:lnTo>
                <a:moveTo>
                  <a:pt x="7619" y="341376"/>
                </a:moveTo>
                <a:lnTo>
                  <a:pt x="7619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7619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964815" y="4734561"/>
            <a:ext cx="9235" cy="448887"/>
          </a:xfrm>
          <a:custGeom>
            <a:avLst/>
            <a:gdLst/>
            <a:ahLst/>
            <a:cxnLst/>
            <a:rect l="l" t="t" r="r" b="b"/>
            <a:pathLst>
              <a:path w="7619" h="370332">
                <a:moveTo>
                  <a:pt x="7619" y="0"/>
                </a:moveTo>
                <a:lnTo>
                  <a:pt x="7619" y="28956"/>
                </a:lnTo>
                <a:lnTo>
                  <a:pt x="0" y="28956"/>
                </a:lnTo>
                <a:lnTo>
                  <a:pt x="0" y="0"/>
                </a:lnTo>
                <a:lnTo>
                  <a:pt x="7619" y="0"/>
                </a:lnTo>
                <a:moveTo>
                  <a:pt x="7619" y="50292"/>
                </a:moveTo>
                <a:lnTo>
                  <a:pt x="7619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19" y="50292"/>
                </a:lnTo>
                <a:moveTo>
                  <a:pt x="7619" y="99060"/>
                </a:moveTo>
                <a:lnTo>
                  <a:pt x="7619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19" y="99060"/>
                </a:lnTo>
                <a:moveTo>
                  <a:pt x="7619" y="147828"/>
                </a:moveTo>
                <a:lnTo>
                  <a:pt x="7619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19" y="147828"/>
                </a:lnTo>
                <a:moveTo>
                  <a:pt x="7619" y="196596"/>
                </a:moveTo>
                <a:lnTo>
                  <a:pt x="7619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19" y="196596"/>
                </a:lnTo>
                <a:moveTo>
                  <a:pt x="7619" y="245364"/>
                </a:moveTo>
                <a:lnTo>
                  <a:pt x="7619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19" y="245364"/>
                </a:lnTo>
                <a:moveTo>
                  <a:pt x="7619" y="294132"/>
                </a:moveTo>
                <a:lnTo>
                  <a:pt x="7619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19" y="294132"/>
                </a:lnTo>
                <a:moveTo>
                  <a:pt x="7619" y="342900"/>
                </a:moveTo>
                <a:lnTo>
                  <a:pt x="7619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19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8964815" y="5209310"/>
            <a:ext cx="9235" cy="567112"/>
          </a:xfrm>
          <a:custGeom>
            <a:avLst/>
            <a:gdLst/>
            <a:ahLst/>
            <a:cxnLst/>
            <a:rect l="l" t="t" r="r" b="b"/>
            <a:pathLst>
              <a:path w="7619" h="467868">
                <a:moveTo>
                  <a:pt x="7619" y="0"/>
                </a:moveTo>
                <a:lnTo>
                  <a:pt x="7619" y="27432"/>
                </a:lnTo>
                <a:lnTo>
                  <a:pt x="0" y="27432"/>
                </a:lnTo>
                <a:lnTo>
                  <a:pt x="0" y="0"/>
                </a:lnTo>
                <a:lnTo>
                  <a:pt x="7619" y="0"/>
                </a:lnTo>
                <a:moveTo>
                  <a:pt x="7619" y="48768"/>
                </a:moveTo>
                <a:lnTo>
                  <a:pt x="7619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19" y="48768"/>
                </a:lnTo>
                <a:moveTo>
                  <a:pt x="7619" y="97536"/>
                </a:moveTo>
                <a:lnTo>
                  <a:pt x="7619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19" y="97536"/>
                </a:lnTo>
                <a:moveTo>
                  <a:pt x="7619" y="146304"/>
                </a:moveTo>
                <a:lnTo>
                  <a:pt x="7619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19" y="146304"/>
                </a:lnTo>
                <a:moveTo>
                  <a:pt x="7619" y="195072"/>
                </a:moveTo>
                <a:lnTo>
                  <a:pt x="7619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19" y="195072"/>
                </a:lnTo>
                <a:moveTo>
                  <a:pt x="7619" y="245364"/>
                </a:moveTo>
                <a:lnTo>
                  <a:pt x="7619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19" y="245364"/>
                </a:lnTo>
                <a:moveTo>
                  <a:pt x="7619" y="294132"/>
                </a:moveTo>
                <a:lnTo>
                  <a:pt x="7619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19" y="294132"/>
                </a:lnTo>
                <a:moveTo>
                  <a:pt x="7619" y="342900"/>
                </a:moveTo>
                <a:lnTo>
                  <a:pt x="7619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19" y="342900"/>
                </a:lnTo>
                <a:moveTo>
                  <a:pt x="7619" y="391668"/>
                </a:moveTo>
                <a:lnTo>
                  <a:pt x="7619" y="419100"/>
                </a:lnTo>
                <a:lnTo>
                  <a:pt x="0" y="419100"/>
                </a:lnTo>
                <a:lnTo>
                  <a:pt x="0" y="391668"/>
                </a:lnTo>
                <a:lnTo>
                  <a:pt x="7619" y="391668"/>
                </a:lnTo>
                <a:moveTo>
                  <a:pt x="7619" y="440436"/>
                </a:moveTo>
                <a:lnTo>
                  <a:pt x="7619" y="467868"/>
                </a:lnTo>
                <a:lnTo>
                  <a:pt x="0" y="467868"/>
                </a:lnTo>
                <a:lnTo>
                  <a:pt x="0" y="440436"/>
                </a:lnTo>
                <a:lnTo>
                  <a:pt x="7619" y="44043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9618749" y="18897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9618749" y="2364510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9618749" y="2839259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6200"/>
                </a:lnTo>
                <a:lnTo>
                  <a:pt x="0" y="76200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3840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7620" y="243840"/>
                </a:lnTo>
                <a:moveTo>
                  <a:pt x="7620" y="292608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7620" y="292608"/>
                </a:lnTo>
                <a:moveTo>
                  <a:pt x="7620" y="341376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7620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9618749" y="33121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9618749" y="3786910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9618749" y="4261659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6200"/>
                </a:lnTo>
                <a:lnTo>
                  <a:pt x="0" y="76200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3840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7620" y="243840"/>
                </a:lnTo>
                <a:moveTo>
                  <a:pt x="7620" y="292608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7620" y="292608"/>
                </a:lnTo>
                <a:moveTo>
                  <a:pt x="7620" y="341376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7620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9618749" y="47345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9618749" y="5209310"/>
            <a:ext cx="9236" cy="567112"/>
          </a:xfrm>
          <a:custGeom>
            <a:avLst/>
            <a:gdLst/>
            <a:ahLst/>
            <a:cxnLst/>
            <a:rect l="l" t="t" r="r" b="b"/>
            <a:pathLst>
              <a:path w="7620" h="467868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  <a:moveTo>
                  <a:pt x="7620" y="391668"/>
                </a:moveTo>
                <a:lnTo>
                  <a:pt x="7620" y="419100"/>
                </a:lnTo>
                <a:lnTo>
                  <a:pt x="0" y="419100"/>
                </a:lnTo>
                <a:lnTo>
                  <a:pt x="0" y="391668"/>
                </a:lnTo>
                <a:lnTo>
                  <a:pt x="7620" y="391668"/>
                </a:lnTo>
                <a:moveTo>
                  <a:pt x="7620" y="440436"/>
                </a:moveTo>
                <a:lnTo>
                  <a:pt x="7620" y="467868"/>
                </a:lnTo>
                <a:lnTo>
                  <a:pt x="0" y="467868"/>
                </a:lnTo>
                <a:lnTo>
                  <a:pt x="0" y="440436"/>
                </a:lnTo>
                <a:lnTo>
                  <a:pt x="7620" y="44043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0272684" y="1889761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8956"/>
                </a:lnTo>
                <a:lnTo>
                  <a:pt x="0" y="28956"/>
                </a:lnTo>
                <a:lnTo>
                  <a:pt x="0" y="0"/>
                </a:lnTo>
                <a:lnTo>
                  <a:pt x="6096" y="0"/>
                </a:lnTo>
                <a:moveTo>
                  <a:pt x="6096" y="50292"/>
                </a:moveTo>
                <a:lnTo>
                  <a:pt x="6096" y="77724"/>
                </a:lnTo>
                <a:lnTo>
                  <a:pt x="0" y="77724"/>
                </a:lnTo>
                <a:lnTo>
                  <a:pt x="0" y="50292"/>
                </a:lnTo>
                <a:lnTo>
                  <a:pt x="6096" y="50292"/>
                </a:lnTo>
                <a:moveTo>
                  <a:pt x="6096" y="99060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6096" y="99060"/>
                </a:lnTo>
                <a:moveTo>
                  <a:pt x="6096" y="147828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6096" y="147828"/>
                </a:lnTo>
                <a:moveTo>
                  <a:pt x="6096" y="196596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6096" y="196596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10272684" y="2364510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7724"/>
                </a:lnTo>
                <a:lnTo>
                  <a:pt x="0" y="77724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10272684" y="2839259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6200"/>
                </a:lnTo>
                <a:lnTo>
                  <a:pt x="0" y="76200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3840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6096" y="243840"/>
                </a:lnTo>
                <a:moveTo>
                  <a:pt x="6096" y="292608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6096" y="292608"/>
                </a:lnTo>
                <a:moveTo>
                  <a:pt x="6096" y="341376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6096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0272684" y="3312161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8956"/>
                </a:lnTo>
                <a:lnTo>
                  <a:pt x="0" y="28956"/>
                </a:lnTo>
                <a:lnTo>
                  <a:pt x="0" y="0"/>
                </a:lnTo>
                <a:lnTo>
                  <a:pt x="6096" y="0"/>
                </a:lnTo>
                <a:moveTo>
                  <a:pt x="6096" y="50292"/>
                </a:moveTo>
                <a:lnTo>
                  <a:pt x="6096" y="77724"/>
                </a:lnTo>
                <a:lnTo>
                  <a:pt x="0" y="77724"/>
                </a:lnTo>
                <a:lnTo>
                  <a:pt x="0" y="50292"/>
                </a:lnTo>
                <a:lnTo>
                  <a:pt x="6096" y="50292"/>
                </a:lnTo>
                <a:moveTo>
                  <a:pt x="6096" y="99060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6096" y="99060"/>
                </a:lnTo>
                <a:moveTo>
                  <a:pt x="6096" y="147828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6096" y="147828"/>
                </a:lnTo>
                <a:moveTo>
                  <a:pt x="6096" y="196596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6096" y="196596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0272684" y="3786910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7724"/>
                </a:lnTo>
                <a:lnTo>
                  <a:pt x="0" y="77724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0272684" y="4261659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6200"/>
                </a:lnTo>
                <a:lnTo>
                  <a:pt x="0" y="76200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3840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6096" y="243840"/>
                </a:lnTo>
                <a:moveTo>
                  <a:pt x="6096" y="292608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6096" y="292608"/>
                </a:lnTo>
                <a:moveTo>
                  <a:pt x="6096" y="341376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6096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10272684" y="4734561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8956"/>
                </a:lnTo>
                <a:lnTo>
                  <a:pt x="0" y="28956"/>
                </a:lnTo>
                <a:lnTo>
                  <a:pt x="0" y="0"/>
                </a:lnTo>
                <a:lnTo>
                  <a:pt x="6096" y="0"/>
                </a:lnTo>
                <a:moveTo>
                  <a:pt x="6096" y="50292"/>
                </a:moveTo>
                <a:lnTo>
                  <a:pt x="6096" y="77724"/>
                </a:lnTo>
                <a:lnTo>
                  <a:pt x="0" y="77724"/>
                </a:lnTo>
                <a:lnTo>
                  <a:pt x="0" y="50292"/>
                </a:lnTo>
                <a:lnTo>
                  <a:pt x="6096" y="50292"/>
                </a:lnTo>
                <a:moveTo>
                  <a:pt x="6096" y="99060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6096" y="99060"/>
                </a:lnTo>
                <a:moveTo>
                  <a:pt x="6096" y="147828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6096" y="147828"/>
                </a:lnTo>
                <a:moveTo>
                  <a:pt x="6096" y="196596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6096" y="196596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0272684" y="5209310"/>
            <a:ext cx="7389" cy="567112"/>
          </a:xfrm>
          <a:custGeom>
            <a:avLst/>
            <a:gdLst/>
            <a:ahLst/>
            <a:cxnLst/>
            <a:rect l="l" t="t" r="r" b="b"/>
            <a:pathLst>
              <a:path w="6096" h="467868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7724"/>
                </a:lnTo>
                <a:lnTo>
                  <a:pt x="0" y="77724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  <a:moveTo>
                  <a:pt x="6096" y="391668"/>
                </a:moveTo>
                <a:lnTo>
                  <a:pt x="6096" y="419100"/>
                </a:lnTo>
                <a:lnTo>
                  <a:pt x="0" y="419100"/>
                </a:lnTo>
                <a:lnTo>
                  <a:pt x="0" y="391668"/>
                </a:lnTo>
                <a:lnTo>
                  <a:pt x="6096" y="391668"/>
                </a:lnTo>
                <a:moveTo>
                  <a:pt x="6096" y="440436"/>
                </a:moveTo>
                <a:lnTo>
                  <a:pt x="6096" y="467868"/>
                </a:lnTo>
                <a:lnTo>
                  <a:pt x="0" y="467868"/>
                </a:lnTo>
                <a:lnTo>
                  <a:pt x="0" y="440436"/>
                </a:lnTo>
                <a:lnTo>
                  <a:pt x="6096" y="44043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10926618" y="1889761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8956"/>
                </a:lnTo>
                <a:lnTo>
                  <a:pt x="0" y="28956"/>
                </a:lnTo>
                <a:lnTo>
                  <a:pt x="0" y="0"/>
                </a:lnTo>
                <a:lnTo>
                  <a:pt x="6096" y="0"/>
                </a:lnTo>
                <a:moveTo>
                  <a:pt x="6096" y="50292"/>
                </a:moveTo>
                <a:lnTo>
                  <a:pt x="6096" y="77724"/>
                </a:lnTo>
                <a:lnTo>
                  <a:pt x="0" y="77724"/>
                </a:lnTo>
                <a:lnTo>
                  <a:pt x="0" y="50292"/>
                </a:lnTo>
                <a:lnTo>
                  <a:pt x="6096" y="50292"/>
                </a:lnTo>
                <a:moveTo>
                  <a:pt x="6096" y="99060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6096" y="99060"/>
                </a:lnTo>
                <a:moveTo>
                  <a:pt x="6096" y="147828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6096" y="147828"/>
                </a:lnTo>
                <a:moveTo>
                  <a:pt x="6096" y="196596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6096" y="196596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10926618" y="2364510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7724"/>
                </a:lnTo>
                <a:lnTo>
                  <a:pt x="0" y="77724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10926618" y="2839259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6200"/>
                </a:lnTo>
                <a:lnTo>
                  <a:pt x="0" y="76200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3840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6096" y="243840"/>
                </a:lnTo>
                <a:moveTo>
                  <a:pt x="6096" y="292608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6096" y="292608"/>
                </a:lnTo>
                <a:moveTo>
                  <a:pt x="6096" y="341376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6096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10926618" y="3312161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8956"/>
                </a:lnTo>
                <a:lnTo>
                  <a:pt x="0" y="28956"/>
                </a:lnTo>
                <a:lnTo>
                  <a:pt x="0" y="0"/>
                </a:lnTo>
                <a:lnTo>
                  <a:pt x="6096" y="0"/>
                </a:lnTo>
                <a:moveTo>
                  <a:pt x="6096" y="50292"/>
                </a:moveTo>
                <a:lnTo>
                  <a:pt x="6096" y="77724"/>
                </a:lnTo>
                <a:lnTo>
                  <a:pt x="0" y="77724"/>
                </a:lnTo>
                <a:lnTo>
                  <a:pt x="0" y="50292"/>
                </a:lnTo>
                <a:lnTo>
                  <a:pt x="6096" y="50292"/>
                </a:lnTo>
                <a:moveTo>
                  <a:pt x="6096" y="99060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6096" y="99060"/>
                </a:lnTo>
                <a:moveTo>
                  <a:pt x="6096" y="147828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6096" y="147828"/>
                </a:lnTo>
                <a:moveTo>
                  <a:pt x="6096" y="196596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6096" y="196596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0926618" y="3786910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7724"/>
                </a:lnTo>
                <a:lnTo>
                  <a:pt x="0" y="77724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10926618" y="4261659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6200"/>
                </a:lnTo>
                <a:lnTo>
                  <a:pt x="0" y="76200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3840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6096" y="243840"/>
                </a:lnTo>
                <a:moveTo>
                  <a:pt x="6096" y="292608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6096" y="292608"/>
                </a:lnTo>
                <a:moveTo>
                  <a:pt x="6096" y="341376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6096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10926618" y="4734561"/>
            <a:ext cx="7389" cy="448887"/>
          </a:xfrm>
          <a:custGeom>
            <a:avLst/>
            <a:gdLst/>
            <a:ahLst/>
            <a:cxnLst/>
            <a:rect l="l" t="t" r="r" b="b"/>
            <a:pathLst>
              <a:path w="6096" h="370332">
                <a:moveTo>
                  <a:pt x="6096" y="0"/>
                </a:moveTo>
                <a:lnTo>
                  <a:pt x="6096" y="28956"/>
                </a:lnTo>
                <a:lnTo>
                  <a:pt x="0" y="28956"/>
                </a:lnTo>
                <a:lnTo>
                  <a:pt x="0" y="0"/>
                </a:lnTo>
                <a:lnTo>
                  <a:pt x="6096" y="0"/>
                </a:lnTo>
                <a:moveTo>
                  <a:pt x="6096" y="50292"/>
                </a:moveTo>
                <a:lnTo>
                  <a:pt x="6096" y="77724"/>
                </a:lnTo>
                <a:lnTo>
                  <a:pt x="0" y="77724"/>
                </a:lnTo>
                <a:lnTo>
                  <a:pt x="0" y="50292"/>
                </a:lnTo>
                <a:lnTo>
                  <a:pt x="6096" y="50292"/>
                </a:lnTo>
                <a:moveTo>
                  <a:pt x="6096" y="99060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6096" y="99060"/>
                </a:lnTo>
                <a:moveTo>
                  <a:pt x="6096" y="147828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6096" y="147828"/>
                </a:lnTo>
                <a:moveTo>
                  <a:pt x="6096" y="196596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6096" y="196596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10926618" y="5209310"/>
            <a:ext cx="7389" cy="567112"/>
          </a:xfrm>
          <a:custGeom>
            <a:avLst/>
            <a:gdLst/>
            <a:ahLst/>
            <a:cxnLst/>
            <a:rect l="l" t="t" r="r" b="b"/>
            <a:pathLst>
              <a:path w="6096" h="467868">
                <a:moveTo>
                  <a:pt x="6096" y="0"/>
                </a:moveTo>
                <a:lnTo>
                  <a:pt x="6096" y="27432"/>
                </a:lnTo>
                <a:lnTo>
                  <a:pt x="0" y="27432"/>
                </a:lnTo>
                <a:lnTo>
                  <a:pt x="0" y="0"/>
                </a:lnTo>
                <a:lnTo>
                  <a:pt x="6096" y="0"/>
                </a:lnTo>
                <a:moveTo>
                  <a:pt x="6096" y="48768"/>
                </a:moveTo>
                <a:lnTo>
                  <a:pt x="6096" y="77724"/>
                </a:lnTo>
                <a:lnTo>
                  <a:pt x="0" y="77724"/>
                </a:lnTo>
                <a:lnTo>
                  <a:pt x="0" y="48768"/>
                </a:lnTo>
                <a:lnTo>
                  <a:pt x="6096" y="48768"/>
                </a:lnTo>
                <a:moveTo>
                  <a:pt x="6096" y="97536"/>
                </a:moveTo>
                <a:lnTo>
                  <a:pt x="6096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6096" y="97536"/>
                </a:lnTo>
                <a:moveTo>
                  <a:pt x="6096" y="146304"/>
                </a:moveTo>
                <a:lnTo>
                  <a:pt x="6096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6096" y="146304"/>
                </a:lnTo>
                <a:moveTo>
                  <a:pt x="6096" y="195072"/>
                </a:moveTo>
                <a:lnTo>
                  <a:pt x="6096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6096" y="195072"/>
                </a:lnTo>
                <a:moveTo>
                  <a:pt x="6096" y="245364"/>
                </a:moveTo>
                <a:lnTo>
                  <a:pt x="6096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6096" y="245364"/>
                </a:lnTo>
                <a:moveTo>
                  <a:pt x="6096" y="294132"/>
                </a:moveTo>
                <a:lnTo>
                  <a:pt x="6096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6096" y="294132"/>
                </a:lnTo>
                <a:moveTo>
                  <a:pt x="6096" y="342900"/>
                </a:moveTo>
                <a:lnTo>
                  <a:pt x="6096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6096" y="342900"/>
                </a:lnTo>
                <a:moveTo>
                  <a:pt x="6096" y="391668"/>
                </a:moveTo>
                <a:lnTo>
                  <a:pt x="6096" y="419100"/>
                </a:lnTo>
                <a:lnTo>
                  <a:pt x="0" y="419100"/>
                </a:lnTo>
                <a:lnTo>
                  <a:pt x="0" y="391668"/>
                </a:lnTo>
                <a:lnTo>
                  <a:pt x="6096" y="391668"/>
                </a:lnTo>
                <a:moveTo>
                  <a:pt x="6096" y="440436"/>
                </a:moveTo>
                <a:lnTo>
                  <a:pt x="6096" y="467868"/>
                </a:lnTo>
                <a:lnTo>
                  <a:pt x="0" y="467868"/>
                </a:lnTo>
                <a:lnTo>
                  <a:pt x="0" y="440436"/>
                </a:lnTo>
                <a:lnTo>
                  <a:pt x="6096" y="44043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11578705" y="18897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11578705" y="2364510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11578705" y="2839259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6200"/>
                </a:lnTo>
                <a:lnTo>
                  <a:pt x="0" y="76200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3840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7620" y="243840"/>
                </a:lnTo>
                <a:moveTo>
                  <a:pt x="7620" y="292608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7620" y="292608"/>
                </a:lnTo>
                <a:moveTo>
                  <a:pt x="7620" y="341376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7620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1578705" y="33121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1578705" y="3786910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11578705" y="4261659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6200"/>
                </a:lnTo>
                <a:lnTo>
                  <a:pt x="0" y="76200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4968"/>
                </a:lnTo>
                <a:lnTo>
                  <a:pt x="0" y="124968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3736"/>
                </a:lnTo>
                <a:lnTo>
                  <a:pt x="0" y="173736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2504"/>
                </a:lnTo>
                <a:lnTo>
                  <a:pt x="0" y="222504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3840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3840"/>
                </a:lnTo>
                <a:lnTo>
                  <a:pt x="7620" y="243840"/>
                </a:lnTo>
                <a:moveTo>
                  <a:pt x="7620" y="292608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2608"/>
                </a:lnTo>
                <a:lnTo>
                  <a:pt x="7620" y="292608"/>
                </a:lnTo>
                <a:moveTo>
                  <a:pt x="7620" y="341376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1376"/>
                </a:lnTo>
                <a:lnTo>
                  <a:pt x="7620" y="34137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11578705" y="4734561"/>
            <a:ext cx="9236" cy="448887"/>
          </a:xfrm>
          <a:custGeom>
            <a:avLst/>
            <a:gdLst/>
            <a:ahLst/>
            <a:cxnLst/>
            <a:rect l="l" t="t" r="r" b="b"/>
            <a:pathLst>
              <a:path w="7620" h="370332">
                <a:moveTo>
                  <a:pt x="7620" y="0"/>
                </a:moveTo>
                <a:lnTo>
                  <a:pt x="7620" y="28956"/>
                </a:ln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moveTo>
                  <a:pt x="7620" y="50292"/>
                </a:moveTo>
                <a:lnTo>
                  <a:pt x="7620" y="77724"/>
                </a:lnTo>
                <a:lnTo>
                  <a:pt x="0" y="77724"/>
                </a:lnTo>
                <a:lnTo>
                  <a:pt x="0" y="50292"/>
                </a:lnTo>
                <a:lnTo>
                  <a:pt x="7620" y="50292"/>
                </a:lnTo>
                <a:moveTo>
                  <a:pt x="7620" y="99060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9060"/>
                </a:lnTo>
                <a:lnTo>
                  <a:pt x="7620" y="99060"/>
                </a:lnTo>
                <a:moveTo>
                  <a:pt x="7620" y="147828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7828"/>
                </a:lnTo>
                <a:lnTo>
                  <a:pt x="7620" y="147828"/>
                </a:lnTo>
                <a:moveTo>
                  <a:pt x="7620" y="196596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6596"/>
                </a:lnTo>
                <a:lnTo>
                  <a:pt x="7620" y="196596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11578705" y="5209310"/>
            <a:ext cx="9236" cy="567112"/>
          </a:xfrm>
          <a:custGeom>
            <a:avLst/>
            <a:gdLst/>
            <a:ahLst/>
            <a:cxnLst/>
            <a:rect l="l" t="t" r="r" b="b"/>
            <a:pathLst>
              <a:path w="7620" h="467868">
                <a:moveTo>
                  <a:pt x="7620" y="0"/>
                </a:moveTo>
                <a:lnTo>
                  <a:pt x="7620" y="27432"/>
                </a:lnTo>
                <a:lnTo>
                  <a:pt x="0" y="27432"/>
                </a:lnTo>
                <a:lnTo>
                  <a:pt x="0" y="0"/>
                </a:lnTo>
                <a:lnTo>
                  <a:pt x="7620" y="0"/>
                </a:lnTo>
                <a:moveTo>
                  <a:pt x="7620" y="48768"/>
                </a:moveTo>
                <a:lnTo>
                  <a:pt x="7620" y="77724"/>
                </a:lnTo>
                <a:lnTo>
                  <a:pt x="0" y="77724"/>
                </a:lnTo>
                <a:lnTo>
                  <a:pt x="0" y="48768"/>
                </a:lnTo>
                <a:lnTo>
                  <a:pt x="7620" y="48768"/>
                </a:lnTo>
                <a:moveTo>
                  <a:pt x="7620" y="97536"/>
                </a:moveTo>
                <a:lnTo>
                  <a:pt x="7620" y="126492"/>
                </a:lnTo>
                <a:lnTo>
                  <a:pt x="0" y="126492"/>
                </a:lnTo>
                <a:lnTo>
                  <a:pt x="0" y="97536"/>
                </a:lnTo>
                <a:lnTo>
                  <a:pt x="7620" y="97536"/>
                </a:lnTo>
                <a:moveTo>
                  <a:pt x="7620" y="146304"/>
                </a:moveTo>
                <a:lnTo>
                  <a:pt x="7620" y="175260"/>
                </a:lnTo>
                <a:lnTo>
                  <a:pt x="0" y="175260"/>
                </a:lnTo>
                <a:lnTo>
                  <a:pt x="0" y="146304"/>
                </a:lnTo>
                <a:lnTo>
                  <a:pt x="7620" y="146304"/>
                </a:lnTo>
                <a:moveTo>
                  <a:pt x="7620" y="195072"/>
                </a:moveTo>
                <a:lnTo>
                  <a:pt x="7620" y="224028"/>
                </a:lnTo>
                <a:lnTo>
                  <a:pt x="0" y="224028"/>
                </a:lnTo>
                <a:lnTo>
                  <a:pt x="0" y="195072"/>
                </a:lnTo>
                <a:lnTo>
                  <a:pt x="7620" y="195072"/>
                </a:lnTo>
                <a:moveTo>
                  <a:pt x="7620" y="245364"/>
                </a:moveTo>
                <a:lnTo>
                  <a:pt x="7620" y="272796"/>
                </a:lnTo>
                <a:lnTo>
                  <a:pt x="0" y="272796"/>
                </a:lnTo>
                <a:lnTo>
                  <a:pt x="0" y="245364"/>
                </a:lnTo>
                <a:lnTo>
                  <a:pt x="7620" y="245364"/>
                </a:lnTo>
                <a:moveTo>
                  <a:pt x="7620" y="294132"/>
                </a:moveTo>
                <a:lnTo>
                  <a:pt x="7620" y="321564"/>
                </a:lnTo>
                <a:lnTo>
                  <a:pt x="0" y="321564"/>
                </a:lnTo>
                <a:lnTo>
                  <a:pt x="0" y="294132"/>
                </a:lnTo>
                <a:lnTo>
                  <a:pt x="7620" y="294132"/>
                </a:lnTo>
                <a:moveTo>
                  <a:pt x="7620" y="342900"/>
                </a:moveTo>
                <a:lnTo>
                  <a:pt x="7620" y="370332"/>
                </a:lnTo>
                <a:lnTo>
                  <a:pt x="0" y="370332"/>
                </a:lnTo>
                <a:lnTo>
                  <a:pt x="0" y="342900"/>
                </a:lnTo>
                <a:lnTo>
                  <a:pt x="7620" y="342900"/>
                </a:lnTo>
                <a:moveTo>
                  <a:pt x="7620" y="391668"/>
                </a:moveTo>
                <a:lnTo>
                  <a:pt x="7620" y="419100"/>
                </a:lnTo>
                <a:lnTo>
                  <a:pt x="0" y="419100"/>
                </a:lnTo>
                <a:lnTo>
                  <a:pt x="0" y="391668"/>
                </a:lnTo>
                <a:lnTo>
                  <a:pt x="7620" y="391668"/>
                </a:lnTo>
                <a:moveTo>
                  <a:pt x="7620" y="440436"/>
                </a:moveTo>
                <a:lnTo>
                  <a:pt x="7620" y="467868"/>
                </a:lnTo>
                <a:lnTo>
                  <a:pt x="0" y="467868"/>
                </a:lnTo>
                <a:lnTo>
                  <a:pt x="0" y="440436"/>
                </a:lnTo>
                <a:lnTo>
                  <a:pt x="7620" y="440436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731520" y="2000597"/>
            <a:ext cx="853440" cy="267854"/>
          </a:xfrm>
          <a:custGeom>
            <a:avLst/>
            <a:gdLst/>
            <a:ahLst/>
            <a:cxnLst/>
            <a:rect l="l" t="t" r="r" b="b"/>
            <a:pathLst>
              <a:path w="704088" h="220980">
                <a:moveTo>
                  <a:pt x="0" y="109728"/>
                </a:moveTo>
                <a:lnTo>
                  <a:pt x="1469" y="91842"/>
                </a:lnTo>
                <a:lnTo>
                  <a:pt x="5718" y="74908"/>
                </a:lnTo>
                <a:lnTo>
                  <a:pt x="12509" y="59143"/>
                </a:lnTo>
                <a:lnTo>
                  <a:pt x="21604" y="44769"/>
                </a:lnTo>
                <a:lnTo>
                  <a:pt x="32766" y="32004"/>
                </a:lnTo>
                <a:lnTo>
                  <a:pt x="45757" y="21068"/>
                </a:lnTo>
                <a:lnTo>
                  <a:pt x="60338" y="12180"/>
                </a:lnTo>
                <a:lnTo>
                  <a:pt x="76273" y="5560"/>
                </a:lnTo>
                <a:lnTo>
                  <a:pt x="93324" y="1427"/>
                </a:lnTo>
                <a:lnTo>
                  <a:pt x="111252" y="0"/>
                </a:lnTo>
                <a:lnTo>
                  <a:pt x="594360" y="0"/>
                </a:lnTo>
                <a:lnTo>
                  <a:pt x="612246" y="1427"/>
                </a:lnTo>
                <a:lnTo>
                  <a:pt x="629180" y="5560"/>
                </a:lnTo>
                <a:lnTo>
                  <a:pt x="644945" y="12180"/>
                </a:lnTo>
                <a:lnTo>
                  <a:pt x="659319" y="21068"/>
                </a:lnTo>
                <a:lnTo>
                  <a:pt x="672084" y="32004"/>
                </a:lnTo>
                <a:lnTo>
                  <a:pt x="683020" y="44769"/>
                </a:lnTo>
                <a:lnTo>
                  <a:pt x="691908" y="59143"/>
                </a:lnTo>
                <a:lnTo>
                  <a:pt x="698528" y="74908"/>
                </a:lnTo>
                <a:lnTo>
                  <a:pt x="702662" y="91842"/>
                </a:lnTo>
                <a:lnTo>
                  <a:pt x="704088" y="109728"/>
                </a:lnTo>
                <a:lnTo>
                  <a:pt x="702662" y="128027"/>
                </a:lnTo>
                <a:lnTo>
                  <a:pt x="698528" y="145292"/>
                </a:lnTo>
                <a:lnTo>
                  <a:pt x="691908" y="161314"/>
                </a:lnTo>
                <a:lnTo>
                  <a:pt x="683020" y="175882"/>
                </a:lnTo>
                <a:lnTo>
                  <a:pt x="672084" y="188786"/>
                </a:lnTo>
                <a:lnTo>
                  <a:pt x="659319" y="199815"/>
                </a:lnTo>
                <a:lnTo>
                  <a:pt x="644945" y="208759"/>
                </a:lnTo>
                <a:lnTo>
                  <a:pt x="629180" y="215408"/>
                </a:lnTo>
                <a:lnTo>
                  <a:pt x="612246" y="219552"/>
                </a:lnTo>
                <a:lnTo>
                  <a:pt x="594360" y="220980"/>
                </a:lnTo>
                <a:lnTo>
                  <a:pt x="111252" y="220980"/>
                </a:lnTo>
                <a:lnTo>
                  <a:pt x="93324" y="219552"/>
                </a:lnTo>
                <a:lnTo>
                  <a:pt x="76273" y="215408"/>
                </a:lnTo>
                <a:lnTo>
                  <a:pt x="60338" y="208759"/>
                </a:lnTo>
                <a:lnTo>
                  <a:pt x="45757" y="199815"/>
                </a:lnTo>
                <a:lnTo>
                  <a:pt x="32766" y="188786"/>
                </a:lnTo>
                <a:lnTo>
                  <a:pt x="21604" y="175882"/>
                </a:lnTo>
                <a:lnTo>
                  <a:pt x="12509" y="161314"/>
                </a:lnTo>
                <a:lnTo>
                  <a:pt x="5718" y="145292"/>
                </a:lnTo>
                <a:lnTo>
                  <a:pt x="1469" y="128027"/>
                </a:lnTo>
                <a:lnTo>
                  <a:pt x="0" y="109728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4427911" y="1987666"/>
            <a:ext cx="1245061" cy="293716"/>
          </a:xfrm>
          <a:prstGeom prst="roundRect">
            <a:avLst>
              <a:gd name="adj" fmla="val 30188"/>
            </a:avLst>
          </a:prstGeom>
          <a:solidFill>
            <a:srgbClr val="66CCE9"/>
          </a:solidFill>
          <a:ln w="12930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31520" y="2488277"/>
            <a:ext cx="853440" cy="267854"/>
          </a:xfrm>
          <a:custGeom>
            <a:avLst/>
            <a:gdLst/>
            <a:ahLst/>
            <a:cxnLst/>
            <a:rect l="l" t="t" r="r" b="b"/>
            <a:pathLst>
              <a:path w="704088" h="220980">
                <a:moveTo>
                  <a:pt x="0" y="109728"/>
                </a:moveTo>
                <a:lnTo>
                  <a:pt x="1469" y="91842"/>
                </a:lnTo>
                <a:lnTo>
                  <a:pt x="5718" y="74908"/>
                </a:lnTo>
                <a:lnTo>
                  <a:pt x="12509" y="59143"/>
                </a:lnTo>
                <a:lnTo>
                  <a:pt x="21604" y="44769"/>
                </a:lnTo>
                <a:lnTo>
                  <a:pt x="32766" y="32004"/>
                </a:lnTo>
                <a:lnTo>
                  <a:pt x="45757" y="21068"/>
                </a:lnTo>
                <a:lnTo>
                  <a:pt x="60338" y="12180"/>
                </a:lnTo>
                <a:lnTo>
                  <a:pt x="76273" y="5560"/>
                </a:lnTo>
                <a:lnTo>
                  <a:pt x="93324" y="1426"/>
                </a:lnTo>
                <a:lnTo>
                  <a:pt x="111252" y="0"/>
                </a:lnTo>
                <a:lnTo>
                  <a:pt x="594360" y="0"/>
                </a:lnTo>
                <a:lnTo>
                  <a:pt x="612246" y="1426"/>
                </a:lnTo>
                <a:lnTo>
                  <a:pt x="629180" y="5560"/>
                </a:lnTo>
                <a:lnTo>
                  <a:pt x="644945" y="12180"/>
                </a:lnTo>
                <a:lnTo>
                  <a:pt x="659319" y="21068"/>
                </a:lnTo>
                <a:lnTo>
                  <a:pt x="672084" y="32004"/>
                </a:lnTo>
                <a:lnTo>
                  <a:pt x="683020" y="44769"/>
                </a:lnTo>
                <a:lnTo>
                  <a:pt x="691908" y="59143"/>
                </a:lnTo>
                <a:lnTo>
                  <a:pt x="698528" y="74908"/>
                </a:lnTo>
                <a:lnTo>
                  <a:pt x="702662" y="91842"/>
                </a:lnTo>
                <a:lnTo>
                  <a:pt x="704088" y="109728"/>
                </a:lnTo>
                <a:lnTo>
                  <a:pt x="702662" y="128027"/>
                </a:lnTo>
                <a:lnTo>
                  <a:pt x="698528" y="145292"/>
                </a:lnTo>
                <a:lnTo>
                  <a:pt x="691908" y="161314"/>
                </a:lnTo>
                <a:lnTo>
                  <a:pt x="683020" y="175882"/>
                </a:lnTo>
                <a:lnTo>
                  <a:pt x="672084" y="188786"/>
                </a:lnTo>
                <a:lnTo>
                  <a:pt x="659319" y="199815"/>
                </a:lnTo>
                <a:lnTo>
                  <a:pt x="644945" y="208759"/>
                </a:lnTo>
                <a:lnTo>
                  <a:pt x="629180" y="215408"/>
                </a:lnTo>
                <a:lnTo>
                  <a:pt x="612246" y="219552"/>
                </a:lnTo>
                <a:lnTo>
                  <a:pt x="594360" y="220980"/>
                </a:lnTo>
                <a:lnTo>
                  <a:pt x="111252" y="220980"/>
                </a:lnTo>
                <a:lnTo>
                  <a:pt x="93324" y="219552"/>
                </a:lnTo>
                <a:lnTo>
                  <a:pt x="76273" y="215408"/>
                </a:lnTo>
                <a:lnTo>
                  <a:pt x="60338" y="208759"/>
                </a:lnTo>
                <a:lnTo>
                  <a:pt x="45757" y="199815"/>
                </a:lnTo>
                <a:lnTo>
                  <a:pt x="32766" y="188786"/>
                </a:lnTo>
                <a:lnTo>
                  <a:pt x="21604" y="175882"/>
                </a:lnTo>
                <a:lnTo>
                  <a:pt x="12509" y="161314"/>
                </a:lnTo>
                <a:lnTo>
                  <a:pt x="5718" y="145292"/>
                </a:lnTo>
                <a:lnTo>
                  <a:pt x="1469" y="128027"/>
                </a:lnTo>
                <a:lnTo>
                  <a:pt x="0" y="109728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5080000" y="2475346"/>
            <a:ext cx="1246909" cy="293716"/>
          </a:xfrm>
          <a:prstGeom prst="roundRect">
            <a:avLst>
              <a:gd name="adj" fmla="val 30188"/>
            </a:avLst>
          </a:prstGeom>
          <a:solidFill>
            <a:srgbClr val="66CCE9"/>
          </a:solidFill>
          <a:ln w="12930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731520" y="2975957"/>
            <a:ext cx="853440" cy="267854"/>
          </a:xfrm>
          <a:custGeom>
            <a:avLst/>
            <a:gdLst/>
            <a:ahLst/>
            <a:cxnLst/>
            <a:rect l="l" t="t" r="r" b="b"/>
            <a:pathLst>
              <a:path w="704088" h="220980">
                <a:moveTo>
                  <a:pt x="0" y="109728"/>
                </a:moveTo>
                <a:lnTo>
                  <a:pt x="1469" y="91842"/>
                </a:lnTo>
                <a:lnTo>
                  <a:pt x="5718" y="74908"/>
                </a:lnTo>
                <a:lnTo>
                  <a:pt x="12509" y="59143"/>
                </a:lnTo>
                <a:lnTo>
                  <a:pt x="21604" y="44769"/>
                </a:lnTo>
                <a:lnTo>
                  <a:pt x="32766" y="32004"/>
                </a:lnTo>
                <a:lnTo>
                  <a:pt x="45757" y="21068"/>
                </a:lnTo>
                <a:lnTo>
                  <a:pt x="60338" y="12180"/>
                </a:lnTo>
                <a:lnTo>
                  <a:pt x="76273" y="5559"/>
                </a:lnTo>
                <a:lnTo>
                  <a:pt x="93324" y="1426"/>
                </a:lnTo>
                <a:lnTo>
                  <a:pt x="111252" y="0"/>
                </a:lnTo>
                <a:lnTo>
                  <a:pt x="594360" y="0"/>
                </a:lnTo>
                <a:lnTo>
                  <a:pt x="612246" y="1426"/>
                </a:lnTo>
                <a:lnTo>
                  <a:pt x="629180" y="5559"/>
                </a:lnTo>
                <a:lnTo>
                  <a:pt x="644945" y="12180"/>
                </a:lnTo>
                <a:lnTo>
                  <a:pt x="659319" y="21068"/>
                </a:lnTo>
                <a:lnTo>
                  <a:pt x="672084" y="32004"/>
                </a:lnTo>
                <a:lnTo>
                  <a:pt x="683020" y="44769"/>
                </a:lnTo>
                <a:lnTo>
                  <a:pt x="691908" y="59143"/>
                </a:lnTo>
                <a:lnTo>
                  <a:pt x="698528" y="74908"/>
                </a:lnTo>
                <a:lnTo>
                  <a:pt x="702662" y="91842"/>
                </a:lnTo>
                <a:lnTo>
                  <a:pt x="704088" y="109728"/>
                </a:lnTo>
                <a:lnTo>
                  <a:pt x="702662" y="128027"/>
                </a:lnTo>
                <a:lnTo>
                  <a:pt x="698528" y="145292"/>
                </a:lnTo>
                <a:lnTo>
                  <a:pt x="691908" y="161314"/>
                </a:lnTo>
                <a:lnTo>
                  <a:pt x="683020" y="175882"/>
                </a:lnTo>
                <a:lnTo>
                  <a:pt x="672084" y="188786"/>
                </a:lnTo>
                <a:lnTo>
                  <a:pt x="659319" y="199815"/>
                </a:lnTo>
                <a:lnTo>
                  <a:pt x="644945" y="208759"/>
                </a:lnTo>
                <a:lnTo>
                  <a:pt x="629180" y="215408"/>
                </a:lnTo>
                <a:lnTo>
                  <a:pt x="612246" y="219552"/>
                </a:lnTo>
                <a:lnTo>
                  <a:pt x="594360" y="220980"/>
                </a:lnTo>
                <a:lnTo>
                  <a:pt x="111252" y="220980"/>
                </a:lnTo>
                <a:lnTo>
                  <a:pt x="93324" y="219552"/>
                </a:lnTo>
                <a:lnTo>
                  <a:pt x="76273" y="215408"/>
                </a:lnTo>
                <a:lnTo>
                  <a:pt x="60338" y="208759"/>
                </a:lnTo>
                <a:lnTo>
                  <a:pt x="45757" y="199815"/>
                </a:lnTo>
                <a:lnTo>
                  <a:pt x="32766" y="188786"/>
                </a:lnTo>
                <a:lnTo>
                  <a:pt x="21604" y="175882"/>
                </a:lnTo>
                <a:lnTo>
                  <a:pt x="12509" y="161314"/>
                </a:lnTo>
                <a:lnTo>
                  <a:pt x="5718" y="145292"/>
                </a:lnTo>
                <a:lnTo>
                  <a:pt x="1469" y="128027"/>
                </a:lnTo>
                <a:lnTo>
                  <a:pt x="0" y="109728"/>
                </a:lnTo>
              </a:path>
            </a:pathLst>
          </a:custGeom>
          <a:solidFill>
            <a:srgbClr val="00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5733934" y="2963025"/>
            <a:ext cx="2552929" cy="293716"/>
          </a:xfrm>
          <a:prstGeom prst="roundRect">
            <a:avLst>
              <a:gd name="adj" fmla="val 30188"/>
            </a:avLst>
          </a:prstGeom>
          <a:solidFill>
            <a:srgbClr val="006F95"/>
          </a:solidFill>
          <a:ln w="12930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731520" y="3463637"/>
            <a:ext cx="853440" cy="267854"/>
          </a:xfrm>
          <a:custGeom>
            <a:avLst/>
            <a:gdLst/>
            <a:ahLst/>
            <a:cxnLst/>
            <a:rect l="l" t="t" r="r" b="b"/>
            <a:pathLst>
              <a:path w="704088" h="220980">
                <a:moveTo>
                  <a:pt x="0" y="109728"/>
                </a:moveTo>
                <a:lnTo>
                  <a:pt x="1469" y="91842"/>
                </a:lnTo>
                <a:lnTo>
                  <a:pt x="5718" y="74907"/>
                </a:lnTo>
                <a:lnTo>
                  <a:pt x="12509" y="59143"/>
                </a:lnTo>
                <a:lnTo>
                  <a:pt x="21604" y="44769"/>
                </a:lnTo>
                <a:lnTo>
                  <a:pt x="32766" y="32004"/>
                </a:lnTo>
                <a:lnTo>
                  <a:pt x="45757" y="21067"/>
                </a:lnTo>
                <a:lnTo>
                  <a:pt x="60338" y="12179"/>
                </a:lnTo>
                <a:lnTo>
                  <a:pt x="76273" y="5559"/>
                </a:lnTo>
                <a:lnTo>
                  <a:pt x="93324" y="1426"/>
                </a:lnTo>
                <a:lnTo>
                  <a:pt x="111252" y="0"/>
                </a:lnTo>
                <a:lnTo>
                  <a:pt x="594360" y="0"/>
                </a:lnTo>
                <a:lnTo>
                  <a:pt x="612246" y="1426"/>
                </a:lnTo>
                <a:lnTo>
                  <a:pt x="629180" y="5559"/>
                </a:lnTo>
                <a:lnTo>
                  <a:pt x="644945" y="12179"/>
                </a:lnTo>
                <a:lnTo>
                  <a:pt x="659319" y="21067"/>
                </a:lnTo>
                <a:lnTo>
                  <a:pt x="672084" y="32004"/>
                </a:lnTo>
                <a:lnTo>
                  <a:pt x="683020" y="44769"/>
                </a:lnTo>
                <a:lnTo>
                  <a:pt x="691908" y="59143"/>
                </a:lnTo>
                <a:lnTo>
                  <a:pt x="698528" y="74907"/>
                </a:lnTo>
                <a:lnTo>
                  <a:pt x="702662" y="91842"/>
                </a:lnTo>
                <a:lnTo>
                  <a:pt x="704088" y="109728"/>
                </a:lnTo>
                <a:lnTo>
                  <a:pt x="702662" y="128026"/>
                </a:lnTo>
                <a:lnTo>
                  <a:pt x="698528" y="145292"/>
                </a:lnTo>
                <a:lnTo>
                  <a:pt x="691908" y="161314"/>
                </a:lnTo>
                <a:lnTo>
                  <a:pt x="683020" y="175882"/>
                </a:lnTo>
                <a:lnTo>
                  <a:pt x="672084" y="188785"/>
                </a:lnTo>
                <a:lnTo>
                  <a:pt x="659319" y="199815"/>
                </a:lnTo>
                <a:lnTo>
                  <a:pt x="644945" y="208759"/>
                </a:lnTo>
                <a:lnTo>
                  <a:pt x="629180" y="215408"/>
                </a:lnTo>
                <a:lnTo>
                  <a:pt x="612246" y="219552"/>
                </a:lnTo>
                <a:lnTo>
                  <a:pt x="594360" y="220980"/>
                </a:lnTo>
                <a:lnTo>
                  <a:pt x="111252" y="220980"/>
                </a:lnTo>
                <a:lnTo>
                  <a:pt x="93324" y="219552"/>
                </a:lnTo>
                <a:lnTo>
                  <a:pt x="76273" y="215408"/>
                </a:lnTo>
                <a:lnTo>
                  <a:pt x="60338" y="208759"/>
                </a:lnTo>
                <a:lnTo>
                  <a:pt x="45757" y="199815"/>
                </a:lnTo>
                <a:lnTo>
                  <a:pt x="32766" y="188785"/>
                </a:lnTo>
                <a:lnTo>
                  <a:pt x="21604" y="175882"/>
                </a:lnTo>
                <a:lnTo>
                  <a:pt x="12509" y="161314"/>
                </a:lnTo>
                <a:lnTo>
                  <a:pt x="5718" y="145292"/>
                </a:lnTo>
                <a:lnTo>
                  <a:pt x="1469" y="128026"/>
                </a:lnTo>
                <a:lnTo>
                  <a:pt x="0" y="109728"/>
                </a:lnTo>
              </a:path>
            </a:pathLst>
          </a:custGeom>
          <a:solidFill>
            <a:srgbClr val="00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6387869" y="3450706"/>
            <a:ext cx="1898995" cy="293716"/>
          </a:xfrm>
          <a:prstGeom prst="roundRect">
            <a:avLst>
              <a:gd name="adj" fmla="val 30188"/>
            </a:avLst>
          </a:prstGeom>
          <a:solidFill>
            <a:srgbClr val="006F95"/>
          </a:solidFill>
          <a:ln w="12930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31520" y="3951317"/>
            <a:ext cx="853440" cy="267854"/>
          </a:xfrm>
          <a:custGeom>
            <a:avLst/>
            <a:gdLst/>
            <a:ahLst/>
            <a:cxnLst/>
            <a:rect l="l" t="t" r="r" b="b"/>
            <a:pathLst>
              <a:path w="704088" h="220980">
                <a:moveTo>
                  <a:pt x="0" y="109728"/>
                </a:moveTo>
                <a:lnTo>
                  <a:pt x="1469" y="91842"/>
                </a:lnTo>
                <a:lnTo>
                  <a:pt x="5718" y="74907"/>
                </a:lnTo>
                <a:lnTo>
                  <a:pt x="12509" y="59143"/>
                </a:lnTo>
                <a:lnTo>
                  <a:pt x="21604" y="44769"/>
                </a:lnTo>
                <a:lnTo>
                  <a:pt x="32766" y="32004"/>
                </a:lnTo>
                <a:lnTo>
                  <a:pt x="45757" y="21067"/>
                </a:lnTo>
                <a:lnTo>
                  <a:pt x="60338" y="12179"/>
                </a:lnTo>
                <a:lnTo>
                  <a:pt x="76273" y="5559"/>
                </a:lnTo>
                <a:lnTo>
                  <a:pt x="93324" y="1426"/>
                </a:lnTo>
                <a:lnTo>
                  <a:pt x="111252" y="0"/>
                </a:lnTo>
                <a:lnTo>
                  <a:pt x="594360" y="0"/>
                </a:lnTo>
                <a:lnTo>
                  <a:pt x="612246" y="1426"/>
                </a:lnTo>
                <a:lnTo>
                  <a:pt x="629180" y="5559"/>
                </a:lnTo>
                <a:lnTo>
                  <a:pt x="644945" y="12179"/>
                </a:lnTo>
                <a:lnTo>
                  <a:pt x="659319" y="21067"/>
                </a:lnTo>
                <a:lnTo>
                  <a:pt x="672084" y="32004"/>
                </a:lnTo>
                <a:lnTo>
                  <a:pt x="683020" y="44769"/>
                </a:lnTo>
                <a:lnTo>
                  <a:pt x="691908" y="59143"/>
                </a:lnTo>
                <a:lnTo>
                  <a:pt x="698528" y="74907"/>
                </a:lnTo>
                <a:lnTo>
                  <a:pt x="702662" y="91842"/>
                </a:lnTo>
                <a:lnTo>
                  <a:pt x="704088" y="109728"/>
                </a:lnTo>
                <a:lnTo>
                  <a:pt x="702662" y="128026"/>
                </a:lnTo>
                <a:lnTo>
                  <a:pt x="698528" y="145292"/>
                </a:lnTo>
                <a:lnTo>
                  <a:pt x="691908" y="161314"/>
                </a:lnTo>
                <a:lnTo>
                  <a:pt x="683020" y="175882"/>
                </a:lnTo>
                <a:lnTo>
                  <a:pt x="672084" y="188785"/>
                </a:lnTo>
                <a:lnTo>
                  <a:pt x="659319" y="199815"/>
                </a:lnTo>
                <a:lnTo>
                  <a:pt x="644945" y="208759"/>
                </a:lnTo>
                <a:lnTo>
                  <a:pt x="629180" y="215408"/>
                </a:lnTo>
                <a:lnTo>
                  <a:pt x="612246" y="219552"/>
                </a:lnTo>
                <a:lnTo>
                  <a:pt x="594360" y="220980"/>
                </a:lnTo>
                <a:lnTo>
                  <a:pt x="111252" y="220980"/>
                </a:lnTo>
                <a:lnTo>
                  <a:pt x="93324" y="219552"/>
                </a:lnTo>
                <a:lnTo>
                  <a:pt x="76273" y="215408"/>
                </a:lnTo>
                <a:lnTo>
                  <a:pt x="60338" y="208759"/>
                </a:lnTo>
                <a:lnTo>
                  <a:pt x="45757" y="199815"/>
                </a:lnTo>
                <a:lnTo>
                  <a:pt x="32766" y="188785"/>
                </a:lnTo>
                <a:lnTo>
                  <a:pt x="21604" y="175882"/>
                </a:lnTo>
                <a:lnTo>
                  <a:pt x="12509" y="161314"/>
                </a:lnTo>
                <a:lnTo>
                  <a:pt x="5718" y="145292"/>
                </a:lnTo>
                <a:lnTo>
                  <a:pt x="1469" y="128026"/>
                </a:lnTo>
                <a:lnTo>
                  <a:pt x="0" y="109728"/>
                </a:lnTo>
              </a:path>
            </a:pathLst>
          </a:custGeom>
          <a:solidFill>
            <a:srgbClr val="00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8347824" y="3938385"/>
            <a:ext cx="1245061" cy="293716"/>
          </a:xfrm>
          <a:prstGeom prst="roundRect">
            <a:avLst>
              <a:gd name="adj" fmla="val 30188"/>
            </a:avLst>
          </a:prstGeom>
          <a:solidFill>
            <a:srgbClr val="006F95"/>
          </a:solidFill>
          <a:ln w="12930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731520" y="4438997"/>
            <a:ext cx="853440" cy="267854"/>
          </a:xfrm>
          <a:custGeom>
            <a:avLst/>
            <a:gdLst/>
            <a:ahLst/>
            <a:cxnLst/>
            <a:rect l="l" t="t" r="r" b="b"/>
            <a:pathLst>
              <a:path w="704088" h="220980">
                <a:moveTo>
                  <a:pt x="0" y="109728"/>
                </a:moveTo>
                <a:lnTo>
                  <a:pt x="1469" y="91842"/>
                </a:lnTo>
                <a:lnTo>
                  <a:pt x="5718" y="74908"/>
                </a:lnTo>
                <a:lnTo>
                  <a:pt x="12509" y="59143"/>
                </a:lnTo>
                <a:lnTo>
                  <a:pt x="21604" y="44769"/>
                </a:lnTo>
                <a:lnTo>
                  <a:pt x="32766" y="32004"/>
                </a:lnTo>
                <a:lnTo>
                  <a:pt x="45757" y="21068"/>
                </a:lnTo>
                <a:lnTo>
                  <a:pt x="60338" y="12180"/>
                </a:lnTo>
                <a:lnTo>
                  <a:pt x="76273" y="5559"/>
                </a:lnTo>
                <a:lnTo>
                  <a:pt x="93324" y="1426"/>
                </a:lnTo>
                <a:lnTo>
                  <a:pt x="111252" y="0"/>
                </a:lnTo>
                <a:lnTo>
                  <a:pt x="594360" y="0"/>
                </a:lnTo>
                <a:lnTo>
                  <a:pt x="612246" y="1426"/>
                </a:lnTo>
                <a:lnTo>
                  <a:pt x="629180" y="5559"/>
                </a:lnTo>
                <a:lnTo>
                  <a:pt x="644945" y="12180"/>
                </a:lnTo>
                <a:lnTo>
                  <a:pt x="659319" y="21068"/>
                </a:lnTo>
                <a:lnTo>
                  <a:pt x="672084" y="32004"/>
                </a:lnTo>
                <a:lnTo>
                  <a:pt x="683020" y="44769"/>
                </a:lnTo>
                <a:lnTo>
                  <a:pt x="691908" y="59143"/>
                </a:lnTo>
                <a:lnTo>
                  <a:pt x="698528" y="74908"/>
                </a:lnTo>
                <a:lnTo>
                  <a:pt x="702662" y="91842"/>
                </a:lnTo>
                <a:lnTo>
                  <a:pt x="704088" y="109728"/>
                </a:lnTo>
                <a:lnTo>
                  <a:pt x="702662" y="128027"/>
                </a:lnTo>
                <a:lnTo>
                  <a:pt x="698528" y="145292"/>
                </a:lnTo>
                <a:lnTo>
                  <a:pt x="691908" y="161314"/>
                </a:lnTo>
                <a:lnTo>
                  <a:pt x="683020" y="175882"/>
                </a:lnTo>
                <a:lnTo>
                  <a:pt x="672084" y="188786"/>
                </a:lnTo>
                <a:lnTo>
                  <a:pt x="659319" y="199815"/>
                </a:lnTo>
                <a:lnTo>
                  <a:pt x="644945" y="208759"/>
                </a:lnTo>
                <a:lnTo>
                  <a:pt x="629180" y="215408"/>
                </a:lnTo>
                <a:lnTo>
                  <a:pt x="612246" y="219552"/>
                </a:lnTo>
                <a:lnTo>
                  <a:pt x="594360" y="220980"/>
                </a:lnTo>
                <a:lnTo>
                  <a:pt x="111252" y="220980"/>
                </a:lnTo>
                <a:lnTo>
                  <a:pt x="93324" y="219552"/>
                </a:lnTo>
                <a:lnTo>
                  <a:pt x="76273" y="215408"/>
                </a:lnTo>
                <a:lnTo>
                  <a:pt x="60338" y="208759"/>
                </a:lnTo>
                <a:lnTo>
                  <a:pt x="45757" y="199815"/>
                </a:lnTo>
                <a:lnTo>
                  <a:pt x="32766" y="188786"/>
                </a:lnTo>
                <a:lnTo>
                  <a:pt x="21604" y="175882"/>
                </a:lnTo>
                <a:lnTo>
                  <a:pt x="12509" y="161314"/>
                </a:lnTo>
                <a:lnTo>
                  <a:pt x="5718" y="145292"/>
                </a:lnTo>
                <a:lnTo>
                  <a:pt x="1469" y="128027"/>
                </a:lnTo>
                <a:lnTo>
                  <a:pt x="0" y="109728"/>
                </a:lnTo>
              </a:path>
            </a:pathLst>
          </a:custGeom>
          <a:solidFill>
            <a:srgbClr val="00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8999912" y="4426065"/>
            <a:ext cx="1246909" cy="293716"/>
          </a:xfrm>
          <a:prstGeom prst="roundRect">
            <a:avLst>
              <a:gd name="adj" fmla="val 30188"/>
            </a:avLst>
          </a:prstGeom>
          <a:solidFill>
            <a:srgbClr val="006F95"/>
          </a:solidFill>
          <a:ln w="12930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731520" y="4926677"/>
            <a:ext cx="853440" cy="267854"/>
          </a:xfrm>
          <a:custGeom>
            <a:avLst/>
            <a:gdLst/>
            <a:ahLst/>
            <a:cxnLst/>
            <a:rect l="l" t="t" r="r" b="b"/>
            <a:pathLst>
              <a:path w="704088" h="220980">
                <a:moveTo>
                  <a:pt x="0" y="109728"/>
                </a:moveTo>
                <a:lnTo>
                  <a:pt x="1469" y="91843"/>
                </a:lnTo>
                <a:lnTo>
                  <a:pt x="5718" y="74908"/>
                </a:lnTo>
                <a:lnTo>
                  <a:pt x="12509" y="59144"/>
                </a:lnTo>
                <a:lnTo>
                  <a:pt x="21604" y="44769"/>
                </a:lnTo>
                <a:lnTo>
                  <a:pt x="32766" y="32004"/>
                </a:lnTo>
                <a:lnTo>
                  <a:pt x="45757" y="21068"/>
                </a:lnTo>
                <a:lnTo>
                  <a:pt x="60338" y="12180"/>
                </a:lnTo>
                <a:lnTo>
                  <a:pt x="76273" y="5560"/>
                </a:lnTo>
                <a:lnTo>
                  <a:pt x="93324" y="1427"/>
                </a:lnTo>
                <a:lnTo>
                  <a:pt x="111252" y="0"/>
                </a:lnTo>
                <a:lnTo>
                  <a:pt x="594360" y="0"/>
                </a:lnTo>
                <a:lnTo>
                  <a:pt x="612246" y="1427"/>
                </a:lnTo>
                <a:lnTo>
                  <a:pt x="629180" y="5560"/>
                </a:lnTo>
                <a:lnTo>
                  <a:pt x="644945" y="12180"/>
                </a:lnTo>
                <a:lnTo>
                  <a:pt x="659319" y="21068"/>
                </a:lnTo>
                <a:lnTo>
                  <a:pt x="672084" y="32004"/>
                </a:lnTo>
                <a:lnTo>
                  <a:pt x="683020" y="44769"/>
                </a:lnTo>
                <a:lnTo>
                  <a:pt x="691908" y="59144"/>
                </a:lnTo>
                <a:lnTo>
                  <a:pt x="698528" y="74908"/>
                </a:lnTo>
                <a:lnTo>
                  <a:pt x="702662" y="91843"/>
                </a:lnTo>
                <a:lnTo>
                  <a:pt x="704088" y="109728"/>
                </a:lnTo>
                <a:lnTo>
                  <a:pt x="702662" y="128027"/>
                </a:lnTo>
                <a:lnTo>
                  <a:pt x="698528" y="145292"/>
                </a:lnTo>
                <a:lnTo>
                  <a:pt x="691908" y="161314"/>
                </a:lnTo>
                <a:lnTo>
                  <a:pt x="683020" y="175882"/>
                </a:lnTo>
                <a:lnTo>
                  <a:pt x="672084" y="188786"/>
                </a:lnTo>
                <a:lnTo>
                  <a:pt x="659319" y="199815"/>
                </a:lnTo>
                <a:lnTo>
                  <a:pt x="644945" y="208759"/>
                </a:lnTo>
                <a:lnTo>
                  <a:pt x="629180" y="215409"/>
                </a:lnTo>
                <a:lnTo>
                  <a:pt x="612246" y="219552"/>
                </a:lnTo>
                <a:lnTo>
                  <a:pt x="594360" y="220980"/>
                </a:lnTo>
                <a:lnTo>
                  <a:pt x="111252" y="220980"/>
                </a:lnTo>
                <a:lnTo>
                  <a:pt x="93324" y="219552"/>
                </a:lnTo>
                <a:lnTo>
                  <a:pt x="76273" y="215409"/>
                </a:lnTo>
                <a:lnTo>
                  <a:pt x="60338" y="208759"/>
                </a:lnTo>
                <a:lnTo>
                  <a:pt x="45757" y="199815"/>
                </a:lnTo>
                <a:lnTo>
                  <a:pt x="32766" y="188786"/>
                </a:lnTo>
                <a:lnTo>
                  <a:pt x="21604" y="175882"/>
                </a:lnTo>
                <a:lnTo>
                  <a:pt x="12509" y="161314"/>
                </a:lnTo>
                <a:lnTo>
                  <a:pt x="5718" y="145292"/>
                </a:lnTo>
                <a:lnTo>
                  <a:pt x="1469" y="128027"/>
                </a:lnTo>
                <a:lnTo>
                  <a:pt x="0" y="109728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9653846" y="4913745"/>
            <a:ext cx="1245061" cy="293716"/>
          </a:xfrm>
          <a:prstGeom prst="roundRect">
            <a:avLst>
              <a:gd name="adj" fmla="val 30188"/>
            </a:avLst>
          </a:prstGeom>
          <a:solidFill>
            <a:srgbClr val="66CCE9"/>
          </a:solidFill>
          <a:ln w="12930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731520" y="5414357"/>
            <a:ext cx="853440" cy="267854"/>
          </a:xfrm>
          <a:custGeom>
            <a:avLst/>
            <a:gdLst/>
            <a:ahLst/>
            <a:cxnLst/>
            <a:rect l="l" t="t" r="r" b="b"/>
            <a:pathLst>
              <a:path w="704088" h="220980">
                <a:moveTo>
                  <a:pt x="0" y="109728"/>
                </a:moveTo>
                <a:lnTo>
                  <a:pt x="1469" y="91843"/>
                </a:lnTo>
                <a:lnTo>
                  <a:pt x="5718" y="74908"/>
                </a:lnTo>
                <a:lnTo>
                  <a:pt x="12509" y="59144"/>
                </a:lnTo>
                <a:lnTo>
                  <a:pt x="21604" y="44769"/>
                </a:lnTo>
                <a:lnTo>
                  <a:pt x="32766" y="32004"/>
                </a:lnTo>
                <a:lnTo>
                  <a:pt x="45757" y="21068"/>
                </a:lnTo>
                <a:lnTo>
                  <a:pt x="60338" y="12180"/>
                </a:lnTo>
                <a:lnTo>
                  <a:pt x="76273" y="5560"/>
                </a:lnTo>
                <a:lnTo>
                  <a:pt x="93324" y="1426"/>
                </a:lnTo>
                <a:lnTo>
                  <a:pt x="111252" y="0"/>
                </a:lnTo>
                <a:lnTo>
                  <a:pt x="594360" y="0"/>
                </a:lnTo>
                <a:lnTo>
                  <a:pt x="612246" y="1426"/>
                </a:lnTo>
                <a:lnTo>
                  <a:pt x="629180" y="5560"/>
                </a:lnTo>
                <a:lnTo>
                  <a:pt x="644945" y="12180"/>
                </a:lnTo>
                <a:lnTo>
                  <a:pt x="659319" y="21068"/>
                </a:lnTo>
                <a:lnTo>
                  <a:pt x="672084" y="32004"/>
                </a:lnTo>
                <a:lnTo>
                  <a:pt x="683020" y="44769"/>
                </a:lnTo>
                <a:lnTo>
                  <a:pt x="691908" y="59144"/>
                </a:lnTo>
                <a:lnTo>
                  <a:pt x="698528" y="74908"/>
                </a:lnTo>
                <a:lnTo>
                  <a:pt x="702662" y="91843"/>
                </a:lnTo>
                <a:lnTo>
                  <a:pt x="704088" y="109728"/>
                </a:lnTo>
                <a:lnTo>
                  <a:pt x="702662" y="128027"/>
                </a:lnTo>
                <a:lnTo>
                  <a:pt x="698528" y="145292"/>
                </a:lnTo>
                <a:lnTo>
                  <a:pt x="691908" y="161314"/>
                </a:lnTo>
                <a:lnTo>
                  <a:pt x="683020" y="175882"/>
                </a:lnTo>
                <a:lnTo>
                  <a:pt x="672084" y="188786"/>
                </a:lnTo>
                <a:lnTo>
                  <a:pt x="659319" y="199815"/>
                </a:lnTo>
                <a:lnTo>
                  <a:pt x="644945" y="208759"/>
                </a:lnTo>
                <a:lnTo>
                  <a:pt x="629180" y="215409"/>
                </a:lnTo>
                <a:lnTo>
                  <a:pt x="612246" y="219552"/>
                </a:lnTo>
                <a:lnTo>
                  <a:pt x="594360" y="220980"/>
                </a:lnTo>
                <a:lnTo>
                  <a:pt x="111252" y="220980"/>
                </a:lnTo>
                <a:lnTo>
                  <a:pt x="93324" y="219552"/>
                </a:lnTo>
                <a:lnTo>
                  <a:pt x="76273" y="215409"/>
                </a:lnTo>
                <a:lnTo>
                  <a:pt x="60338" y="208759"/>
                </a:lnTo>
                <a:lnTo>
                  <a:pt x="45757" y="199815"/>
                </a:lnTo>
                <a:lnTo>
                  <a:pt x="32766" y="188786"/>
                </a:lnTo>
                <a:lnTo>
                  <a:pt x="21604" y="175882"/>
                </a:lnTo>
                <a:lnTo>
                  <a:pt x="12509" y="161314"/>
                </a:lnTo>
                <a:lnTo>
                  <a:pt x="5718" y="145292"/>
                </a:lnTo>
                <a:lnTo>
                  <a:pt x="1469" y="128027"/>
                </a:lnTo>
                <a:lnTo>
                  <a:pt x="0" y="109728"/>
                </a:lnTo>
              </a:path>
            </a:pathLst>
          </a:custGeom>
          <a:solidFill>
            <a:srgbClr val="66C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10959869" y="5401425"/>
            <a:ext cx="592974" cy="293716"/>
          </a:xfrm>
          <a:prstGeom prst="roundRect">
            <a:avLst>
              <a:gd name="adj" fmla="val 30188"/>
            </a:avLst>
          </a:prstGeom>
          <a:solidFill>
            <a:srgbClr val="66CCE9"/>
          </a:solidFill>
          <a:ln w="12930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31520" y="5962997"/>
            <a:ext cx="171795" cy="169949"/>
          </a:xfrm>
          <a:prstGeom prst="roundRect">
            <a:avLst>
              <a:gd name="adj" fmla="val 26086"/>
            </a:avLst>
          </a:prstGeom>
          <a:solidFill>
            <a:srgbClr val="00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4267200" y="5962997"/>
            <a:ext cx="171796" cy="169949"/>
          </a:xfrm>
          <a:prstGeom prst="roundRect">
            <a:avLst>
              <a:gd name="adj" fmla="val 26086"/>
            </a:avLst>
          </a:prstGeom>
          <a:solidFill>
            <a:srgbClr val="66CCE9"/>
          </a:solidFill>
          <a:ln w="12930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0209" y="92363"/>
            <a:ext cx="866370" cy="866369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611547" y="527637"/>
            <a:ext cx="3697882" cy="6343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250" b="1" i="0">
                <a:solidFill>
                  <a:srgbClr val="006F95"/>
                </a:solidFill>
                <a:latin typeface="Cambria"/>
              </a:rPr>
              <a:t>Gantt Diagram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33355" y="1483090"/>
            <a:ext cx="1390461" cy="2276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450" b="1" i="0">
                <a:solidFill>
                  <a:srgbClr val="FFFFFF"/>
                </a:solidFill>
                <a:latin typeface="Calibri"/>
              </a:rPr>
              <a:t>Phase  /  Process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605235" y="1493391"/>
            <a:ext cx="292921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FFFFFF"/>
                </a:solidFill>
                <a:latin typeface="Calibri"/>
              </a:rPr>
              <a:t>W1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259540" y="1493391"/>
            <a:ext cx="292921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FFFFFF"/>
                </a:solidFill>
                <a:latin typeface="Calibri"/>
              </a:rPr>
              <a:t>W2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912147" y="1493391"/>
            <a:ext cx="292921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FFFFFF"/>
                </a:solidFill>
                <a:latin typeface="Calibri"/>
              </a:rPr>
              <a:t>W3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564753" y="1493391"/>
            <a:ext cx="292921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FFFFFF"/>
                </a:solidFill>
                <a:latin typeface="Calibri"/>
              </a:rPr>
              <a:t>W4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219059" y="1493391"/>
            <a:ext cx="292920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FFFFFF"/>
                </a:solidFill>
                <a:latin typeface="Calibri"/>
              </a:rPr>
              <a:t>W5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871665" y="1493391"/>
            <a:ext cx="292921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FFFFFF"/>
                </a:solidFill>
                <a:latin typeface="Calibri"/>
              </a:rPr>
              <a:t>W6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25972" y="1493391"/>
            <a:ext cx="292920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FFFFFF"/>
                </a:solidFill>
                <a:latin typeface="Calibri"/>
              </a:rPr>
              <a:t>W7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178576" y="1493391"/>
            <a:ext cx="292920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FFFFFF"/>
                </a:solidFill>
                <a:latin typeface="Calibri"/>
              </a:rPr>
              <a:t>W8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831184" y="1493391"/>
            <a:ext cx="292920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FFFFFF"/>
                </a:solidFill>
                <a:latin typeface="Calibri"/>
              </a:rPr>
              <a:t>W9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441303" y="1493391"/>
            <a:ext cx="383060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FFFFFF"/>
                </a:solidFill>
                <a:latin typeface="Calibri"/>
              </a:rPr>
              <a:t>W10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095608" y="1493391"/>
            <a:ext cx="383061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FFFFFF"/>
                </a:solidFill>
                <a:latin typeface="Calibri"/>
              </a:rPr>
              <a:t>W11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393" y="2039301"/>
            <a:ext cx="552610" cy="187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00" b="1" i="0">
                <a:solidFill>
                  <a:srgbClr val="004D68"/>
                </a:solidFill>
                <a:latin typeface="Calibri"/>
              </a:rPr>
              <a:t>Phase 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708706" y="1929301"/>
            <a:ext cx="1659179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1" i="0">
                <a:solidFill>
                  <a:srgbClr val="006F95"/>
                </a:solidFill>
                <a:latin typeface="Calibri"/>
              </a:rPr>
              <a:t>Software &amp; hardware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708706" y="2132528"/>
            <a:ext cx="1111261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1" i="0">
                <a:solidFill>
                  <a:srgbClr val="006F95"/>
                </a:solidFill>
                <a:latin typeface="Calibri"/>
              </a:rPr>
              <a:t>familiarization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4393" y="2527042"/>
            <a:ext cx="552610" cy="187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00" b="1" i="0">
                <a:solidFill>
                  <a:srgbClr val="004D68"/>
                </a:solidFill>
                <a:latin typeface="Calibri"/>
              </a:rPr>
              <a:t>Phase 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708706" y="2416993"/>
            <a:ext cx="2231840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1" i="0">
                <a:solidFill>
                  <a:srgbClr val="006F95"/>
                </a:solidFill>
                <a:latin typeface="Calibri"/>
              </a:rPr>
              <a:t>Ideation, prototyping &amp; asset 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708706" y="2620220"/>
            <a:ext cx="686713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1" i="0">
                <a:solidFill>
                  <a:srgbClr val="006F95"/>
                </a:solidFill>
                <a:latin typeface="Calibri"/>
              </a:rPr>
              <a:t>mapping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14393" y="3014709"/>
            <a:ext cx="552610" cy="187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708706" y="3006258"/>
            <a:ext cx="2696156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1" i="0">
                <a:solidFill>
                  <a:srgbClr val="006F95"/>
                </a:solidFill>
                <a:latin typeface="Calibri"/>
              </a:rPr>
              <a:t>VR scene &amp; UI development in Unity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14393" y="3502367"/>
            <a:ext cx="552610" cy="187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708706" y="3392379"/>
            <a:ext cx="2518172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1" i="0">
                <a:solidFill>
                  <a:srgbClr val="006F95"/>
                </a:solidFill>
                <a:latin typeface="Calibri"/>
              </a:rPr>
              <a:t>Initial signal acquisition testing &amp; 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708706" y="3595604"/>
            <a:ext cx="780744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1" i="0">
                <a:solidFill>
                  <a:srgbClr val="006F95"/>
                </a:solidFill>
                <a:latin typeface="Calibri"/>
              </a:rPr>
              <a:t>validation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14393" y="3990061"/>
            <a:ext cx="552610" cy="187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708706" y="3880092"/>
            <a:ext cx="2599475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1" i="0">
                <a:solidFill>
                  <a:srgbClr val="006F95"/>
                </a:solidFill>
                <a:latin typeface="Calibri"/>
              </a:rPr>
              <a:t>VR environment – Python pipeline 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708706" y="4083296"/>
            <a:ext cx="863815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1" i="0">
                <a:solidFill>
                  <a:srgbClr val="006F95"/>
                </a:solidFill>
                <a:latin typeface="Calibri"/>
              </a:rPr>
              <a:t>integration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14393" y="4477710"/>
            <a:ext cx="552610" cy="187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708706" y="4367773"/>
            <a:ext cx="2021512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1" i="0">
                <a:solidFill>
                  <a:srgbClr val="006F95"/>
                </a:solidFill>
                <a:latin typeface="Calibri"/>
              </a:rPr>
              <a:t>Data Management System 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708706" y="4570927"/>
            <a:ext cx="2424141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1" i="0">
                <a:solidFill>
                  <a:srgbClr val="006F95"/>
                </a:solidFill>
                <a:latin typeface="Calibri"/>
              </a:rPr>
              <a:t>integration &amp; end-to-end testing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4393" y="4965358"/>
            <a:ext cx="552610" cy="187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00" b="1" i="0">
                <a:solidFill>
                  <a:srgbClr val="004D68"/>
                </a:solidFill>
                <a:latin typeface="Calibri"/>
              </a:rPr>
              <a:t>Phase 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708706" y="4957006"/>
            <a:ext cx="2376774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1" i="0">
                <a:solidFill>
                  <a:srgbClr val="006F95"/>
                </a:solidFill>
                <a:latin typeface="Calibri"/>
              </a:rPr>
              <a:t>Live demonstration preparation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14393" y="5453053"/>
            <a:ext cx="552610" cy="187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00" b="1" i="0">
                <a:solidFill>
                  <a:srgbClr val="004D68"/>
                </a:solidFill>
                <a:latin typeface="Calibri"/>
              </a:rPr>
              <a:t>Phase 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708706" y="5444739"/>
            <a:ext cx="2244213" cy="207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1" i="0">
                <a:solidFill>
                  <a:srgbClr val="006F95"/>
                </a:solidFill>
                <a:latin typeface="Calibri"/>
              </a:rPr>
              <a:t>Final report &amp; Documentation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77204" y="5953663"/>
            <a:ext cx="2196116" cy="187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00" b="0" i="0">
                <a:solidFill>
                  <a:srgbClr val="006F95"/>
                </a:solidFill>
                <a:latin typeface="Calibri"/>
              </a:rPr>
              <a:t>Core development phases (2 &amp; 3)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512826" y="5953663"/>
            <a:ext cx="2063770" cy="187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00" b="0" i="0">
                <a:solidFill>
                  <a:srgbClr val="006F95"/>
                </a:solidFill>
                <a:latin typeface="Calibri"/>
              </a:rPr>
              <a:t>Setup &amp; delivery phases (1 &amp; 4)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286854" y="6399773"/>
            <a:ext cx="220575" cy="207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006F9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278" cy="6858922"/>
          </a:xfrm>
          <a:prstGeom prst="rect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3438" y="1706880"/>
            <a:ext cx="1463038" cy="1463038"/>
          </a:xfrm>
          <a:prstGeom prst="ellipse">
            <a:avLst/>
          </a:prstGeom>
          <a:solidFill>
            <a:srgbClr val="66CCE9"/>
          </a:solidFill>
          <a:ln w="16625">
            <a:solidFill>
              <a:srgbClr val="66C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27" y="2050473"/>
            <a:ext cx="770312" cy="775853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490" y="903316"/>
            <a:ext cx="6845992" cy="1485206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059678" y="1280161"/>
            <a:ext cx="731518" cy="731518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490" y="2732117"/>
            <a:ext cx="6845992" cy="1485206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059678" y="3108960"/>
            <a:ext cx="731518" cy="731520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490" y="4560916"/>
            <a:ext cx="6845992" cy="1485206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059678" y="4937761"/>
            <a:ext cx="731518" cy="731520"/>
          </a:xfrm>
          <a:prstGeom prst="ellipse">
            <a:avLst/>
          </a:prstGeom>
          <a:solidFill>
            <a:srgbClr val="006F95"/>
          </a:solidFill>
          <a:ln w="16625">
            <a:solidFill>
              <a:srgbClr val="00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7744" y="92363"/>
            <a:ext cx="618836" cy="6188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1527" y="3655072"/>
            <a:ext cx="2810056" cy="6754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550" b="1" i="0">
                <a:solidFill>
                  <a:srgbClr val="FFFFFF"/>
                </a:solidFill>
                <a:latin typeface="Cambria"/>
              </a:rP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5593" y="1442920"/>
            <a:ext cx="254311" cy="3961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6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7756" y="1347395"/>
            <a:ext cx="4945903" cy="2997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50" b="1" i="0">
                <a:solidFill>
                  <a:srgbClr val="006F95"/>
                </a:solidFill>
                <a:latin typeface="Calibri"/>
              </a:rPr>
              <a:t>Learning and immersing myself in EEG signals,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7756" y="1642865"/>
            <a:ext cx="3709475" cy="2997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50" b="1" i="0">
                <a:solidFill>
                  <a:srgbClr val="006F95"/>
                </a:solidFill>
                <a:latin typeface="Calibri"/>
              </a:rPr>
              <a:t>Unity, and VR environment design.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5593" y="3271819"/>
            <a:ext cx="248307" cy="3961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6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5593" y="5100552"/>
            <a:ext cx="254311" cy="3961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6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7756" y="5004969"/>
            <a:ext cx="5405824" cy="2997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50" b="1" i="0">
                <a:solidFill>
                  <a:srgbClr val="006F95"/>
                </a:solidFill>
                <a:latin typeface="Calibri"/>
              </a:rPr>
              <a:t>Analyze in depth the cerebral reactions and neural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7756" y="5300440"/>
            <a:ext cx="4769850" cy="2997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50" b="1" i="0">
                <a:solidFill>
                  <a:srgbClr val="006F95"/>
                </a:solidFill>
                <a:latin typeface="Calibri"/>
              </a:rPr>
              <a:t>signal patterns driven by dopamine scrolling.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86854" y="6399773"/>
            <a:ext cx="220575" cy="207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006F95"/>
                </a:solidFill>
                <a:latin typeface="Calibri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7756" y="3030246"/>
            <a:ext cx="4571311" cy="8889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50" b="1" i="0">
                <a:solidFill>
                  <a:srgbClr val="006F95"/>
                </a:solidFill>
                <a:latin typeface="Calibri"/>
              </a:rPr>
              <a:t>Designing the architecture for the data flow </a:t>
            </a:r>
            <a:r>
              <a:rPr sz="1950" b="1" i="0">
                <a:solidFill>
                  <a:srgbClr val="006F95"/>
                </a:solidFill>
                <a:latin typeface="Calibri"/>
              </a:rPr>
              <a:t> </a:t>
            </a:r>
            <a:r>
              <a:rPr sz="1950" b="1" i="0">
                <a:solidFill>
                  <a:srgbClr val="006F95"/>
                </a:solidFill>
                <a:latin typeface="Calibri"/>
              </a:rPr>
              <a:t>between the EEG system and the data </a:t>
            </a:r>
            <a:r>
              <a:rPr sz="1950" b="1" i="0">
                <a:solidFill>
                  <a:srgbClr val="006F95"/>
                </a:solidFill>
                <a:latin typeface="Calibri"/>
              </a:rPr>
              <a:t> </a:t>
            </a:r>
            <a:r>
              <a:rPr sz="1950" b="1" i="0">
                <a:solidFill>
                  <a:srgbClr val="006F95"/>
                </a:solidFill>
                <a:latin typeface="Calibri"/>
              </a:rPr>
              <a:t>management system.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773978" y="3040612"/>
            <a:ext cx="3496887" cy="12930"/>
          </a:xfrm>
          <a:custGeom>
            <a:avLst/>
            <a:gdLst/>
            <a:ahLst/>
            <a:cxnLst/>
            <a:rect l="l" t="t" r="r" b="b"/>
            <a:pathLst>
              <a:path w="2884932" h="10668">
                <a:moveTo>
                  <a:pt x="0" y="0"/>
                </a:moveTo>
                <a:lnTo>
                  <a:pt x="1443228" y="0"/>
                </a:lnTo>
                <a:lnTo>
                  <a:pt x="2884932" y="0"/>
                </a:lnTo>
                <a:lnTo>
                  <a:pt x="2884932" y="10668"/>
                </a:lnTo>
                <a:lnTo>
                  <a:pt x="1443228" y="10668"/>
                </a:lnTo>
                <a:lnTo>
                  <a:pt x="0" y="10668"/>
                </a:lnTo>
                <a:lnTo>
                  <a:pt x="0" y="0"/>
                </a:lnTo>
              </a:path>
            </a:pathLst>
          </a:custGeom>
          <a:solidFill>
            <a:srgbClr val="056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961774" y="5235172"/>
            <a:ext cx="3807229" cy="12930"/>
          </a:xfrm>
          <a:custGeom>
            <a:avLst/>
            <a:gdLst/>
            <a:ahLst/>
            <a:cxnLst/>
            <a:rect l="l" t="t" r="r" b="b"/>
            <a:pathLst>
              <a:path w="3140964" h="10668">
                <a:moveTo>
                  <a:pt x="0" y="0"/>
                </a:moveTo>
                <a:lnTo>
                  <a:pt x="1571244" y="0"/>
                </a:lnTo>
                <a:lnTo>
                  <a:pt x="3140964" y="0"/>
                </a:lnTo>
                <a:lnTo>
                  <a:pt x="3140964" y="10668"/>
                </a:lnTo>
                <a:lnTo>
                  <a:pt x="1571244" y="10668"/>
                </a:lnTo>
                <a:lnTo>
                  <a:pt x="0" y="10668"/>
                </a:lnTo>
                <a:lnTo>
                  <a:pt x="0" y="0"/>
                </a:lnTo>
              </a:path>
            </a:pathLst>
          </a:custGeom>
          <a:solidFill>
            <a:srgbClr val="056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8129847" y="5600932"/>
            <a:ext cx="3369425" cy="12930"/>
          </a:xfrm>
          <a:custGeom>
            <a:avLst/>
            <a:gdLst/>
            <a:ahLst/>
            <a:cxnLst/>
            <a:rect l="l" t="t" r="r" b="b"/>
            <a:pathLst>
              <a:path w="2779776" h="10668">
                <a:moveTo>
                  <a:pt x="0" y="0"/>
                </a:moveTo>
                <a:lnTo>
                  <a:pt x="1389888" y="0"/>
                </a:lnTo>
                <a:lnTo>
                  <a:pt x="2779776" y="0"/>
                </a:lnTo>
                <a:lnTo>
                  <a:pt x="2779776" y="10668"/>
                </a:lnTo>
                <a:lnTo>
                  <a:pt x="1389888" y="10668"/>
                </a:lnTo>
                <a:lnTo>
                  <a:pt x="0" y="10668"/>
                </a:lnTo>
                <a:lnTo>
                  <a:pt x="0" y="0"/>
                </a:lnTo>
              </a:path>
            </a:pathLst>
          </a:custGeom>
          <a:solidFill>
            <a:srgbClr val="056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1861" y="5966692"/>
            <a:ext cx="2063403" cy="12930"/>
          </a:xfrm>
          <a:prstGeom prst="rect">
            <a:avLst/>
          </a:prstGeom>
          <a:solidFill>
            <a:srgbClr val="056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209" y="92363"/>
            <a:ext cx="866370" cy="8663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1547" y="527637"/>
            <a:ext cx="2816664" cy="6343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250" b="1" i="0">
                <a:solidFill>
                  <a:srgbClr val="006F95"/>
                </a:solidFill>
                <a:latin typeface="Cambria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552" y="1299772"/>
            <a:ext cx="10863013" cy="3174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99567" indent="-99567"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 Sharpe, A. T. R., Tyndall, I., Poulus, D. R., Obine, E. A. C., &amp; Sharpe, B. T. (2026). The influence of doomscrolling on mental health: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552" y="1729613"/>
            <a:ext cx="10413766" cy="619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600" b="0" i="0">
                <a:solidFill>
                  <a:srgbClr val="000000"/>
                </a:solidFill>
                <a:latin typeface="Calibri"/>
              </a:rPr>
              <a:t>A scoping review. Mental Health and Digital Technologies, 3(3), 290–342.</a:t>
            </a:r>
          </a:p>
          <a:p>
            <a:pPr marL="99567" indent="-99567">
              <a:spcBef>
                <a:spcPts val="423"/>
              </a:spcBef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 Xu, Z., Liu, X., Chen, J., &amp; Zhang, Y. (2024). Neural correlates of short-video application addiction and adolescents’ executive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3682" y="2461055"/>
            <a:ext cx="10440378" cy="2479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600" b="0" i="0">
                <a:solidFill>
                  <a:srgbClr val="000000"/>
                </a:solidFill>
                <a:latin typeface="Calibri"/>
              </a:rPr>
              <a:t>functions. En Proceedings of the International Conference of the Learning Sciences — ICLS 2024 (pp. 147–153). International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552" y="2826875"/>
            <a:ext cx="10612636" cy="619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600" b="0" i="0">
                <a:solidFill>
                  <a:srgbClr val="000000"/>
                </a:solidFill>
                <a:latin typeface="Calibri"/>
              </a:rPr>
              <a:t>Society of the Learning Sciences. </a:t>
            </a:r>
            <a:r>
              <a:rPr sz="1600" b="0" i="0">
                <a:solidFill>
                  <a:srgbClr val="0563C1"/>
                </a:solidFill>
                <a:latin typeface="Calibri"/>
              </a:rPr>
              <a:t>https://doi.org/10.22318/icls2024.131890</a:t>
            </a:r>
          </a:p>
          <a:p>
            <a:pPr marL="99567" indent="-99567">
              <a:spcBef>
                <a:spcPts val="423"/>
              </a:spcBef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 Ahmed, Niaz. (2019). Generation Z’s Smartphone and Social Media Usage: A Survey. Journalism and Mass Communication. 9.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552" y="3558415"/>
            <a:ext cx="10403299" cy="6191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600" b="0" i="0">
                <a:solidFill>
                  <a:srgbClr val="000000"/>
                </a:solidFill>
                <a:latin typeface="Calibri"/>
              </a:rPr>
              <a:t>10.17265/2160-6579/2019.03.001.</a:t>
            </a:r>
          </a:p>
          <a:p>
            <a:pPr marL="99567" indent="-99567">
              <a:spcBef>
                <a:spcPts val="423"/>
              </a:spcBef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 Neuroadaptive Virtual Reality: Enhancing Attention and Reducing Workload Using Focus Index EEG Feedback. (s. f.). ISMAR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552" y="4289858"/>
            <a:ext cx="10140597" cy="6191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600" b="0" i="0">
                <a:solidFill>
                  <a:srgbClr val="000000"/>
                </a:solidFill>
                <a:latin typeface="Calibri"/>
              </a:rPr>
              <a:t>Workshop on NeuroXR.</a:t>
            </a:r>
          </a:p>
          <a:p>
            <a:pPr marL="99567" indent="-99567">
              <a:spcBef>
                <a:spcPts val="423"/>
              </a:spcBef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 Sharpe, B. T., &amp; Spooner, R. A. (2025). Dopamine-scrolling: a modern public health challenge requiring urgent attention.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552" y="5021397"/>
            <a:ext cx="10754601" cy="6192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600" b="0" i="0">
                <a:solidFill>
                  <a:srgbClr val="000000"/>
                </a:solidFill>
                <a:latin typeface="Calibri"/>
              </a:rPr>
              <a:t>Perspectives in Public Health, 145(4), 190–191. </a:t>
            </a:r>
            <a:r>
              <a:rPr sz="1600" b="0" i="0">
                <a:solidFill>
                  <a:srgbClr val="0563C1"/>
                </a:solidFill>
                <a:latin typeface="Calibri"/>
              </a:rPr>
              <a:t>https://doi.org/10.1177/17579139251331914</a:t>
            </a:r>
          </a:p>
          <a:p>
            <a:pPr marL="99567" indent="-99567">
              <a:spcBef>
                <a:spcPts val="423"/>
              </a:spcBef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 ScrollGuard. (2026). Short-Form Video Addiction Statistics: 50+ Facts &amp; Data for 2026. </a:t>
            </a:r>
            <a:r>
              <a:rPr sz="1600" b="0" i="0">
                <a:solidFill>
                  <a:srgbClr val="0563C1"/>
                </a:solidFill>
                <a:latin typeface="Calibri"/>
              </a:rPr>
              <a:t>https://scrollguard.app/blog/short-form-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682" y="5752951"/>
            <a:ext cx="2129494" cy="2479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600" b="0" i="0">
                <a:solidFill>
                  <a:srgbClr val="0563C1"/>
                </a:solidFill>
                <a:latin typeface="Calibri"/>
              </a:rPr>
              <a:t>video-addiction-statistics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86854" y="6399773"/>
            <a:ext cx="220575" cy="207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50" b="0" i="0">
                <a:solidFill>
                  <a:srgbClr val="006F9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